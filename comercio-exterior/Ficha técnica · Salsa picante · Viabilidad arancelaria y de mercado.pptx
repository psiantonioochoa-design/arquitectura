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a30ccba-29ef-0759-fb14-58a9c9e2ff4c}">
          <p14:sldIdLst>
            <p14:sldId id="256"/>
          </p14:sldIdLst>
        </p14:section>
        <p14:section name="Resumen" id="{7e132160-a035-b88d-1882-6faea8540bc2}">
          <p14:sldIdLst>
            <p14:sldId id="257"/>
          </p14:sldIdLst>
        </p14:section>
        <p14:section name="Producto y cumplimiento" id="{be85cec1-0a1f-1277-449b-54996f2b19d6}">
          <p14:sldIdLst>
            <p14:sldId id="258"/>
            <p14:sldId id="259"/>
            <p14:sldId id="263"/>
          </p14:sldIdLst>
        </p14:section>
        <p14:section name="Viabilidad arancelaria" id="{38901de7-381c-7a4c-410a-09c64c7380d1}">
          <p14:sldIdLst>
            <p14:sldId id="260"/>
            <p14:sldId id="261"/>
            <p14:sldId id="262"/>
          </p14:sldIdLst>
        </p14:section>
        <p14:section name="Capacidad y oferta" id="{0723ac86-298c-b908-e2f7-e183876da6b2}">
          <p14:sldIdLst>
            <p14:sldId id="264"/>
          </p14:sldIdLst>
        </p14:section>
        <p14:section name="Mercados y competencia" id="{9ec9a66c-fbdd-1ef6-a6ce-f08780fd93bf}">
          <p14:sldIdLst>
            <p14:sldId id="265"/>
            <p14:sldId id="266"/>
            <p14:sldId id="267"/>
          </p14:sldIdLst>
        </p14:section>
        <p14:section name="Fuentes Plus" id="{26c35e1f-1879-9fe1-1a0e-295ee17e7ef2}">
          <p14:sldIdLst>
            <p14:sldId id="268"/>
          </p14:sldIdLst>
        </p14:section>
        <p14:section name="Cierre" id="{f5b487ff-fd34-334b-72a3-eebf8253b13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1E5C"/>
                </a:solidFill>
                <a:latin typeface="+mn-lt"/>
              </a:defRPr>
            </a:pPr>
            <a:r>
              <a:rPr sz="1200" b="0" i="0" u="none" strike="noStrike">
                <a:solidFill>
                  <a:srgbClr val="2B1E5C"/>
                </a:solidFill>
                <a:latin typeface="+mn-lt"/>
              </a:rPr>
              <a:t>Exportaciones de salsas (2103.90) por entidad, 2024 · US$ millones</a:t>
            </a:r>
          </a:p>
        </c:rich>
      </c:tx>
      <c:layout/>
      <c:overlay val="0"/>
    </c:title>
    <c:autoTitleDeleted val="0"/>
    <c:plotArea>
      <c:layout/>
      <c:barChart>
        <c:barDir val="bar"/>
        <c:grouping val="clustered"/>
        <c:varyColors val="0"/>
        <c:ser>
          <c:idx val="0"/>
          <c:order val="0"/>
          <c:tx>
            <c:strRef>
              <c:f>Sheet1!$B$1</c:f>
              <c:strCache>
                <c:ptCount val="1"/>
                <c:pt idx="0">
                  <c:v>Exportaciones 2024</c:v>
                </c:pt>
              </c:strCache>
            </c:strRef>
          </c:tx>
          <c:spPr>
            <a:solidFill>
              <a:srgbClr val="5B3FA0"/>
            </a:solidFill>
            <a:effectLst/>
          </c:spPr>
          <c:invertIfNegative val="0"/>
          <c:dLbls>
            <c:numFmt formatCode="#,##0" sourceLinked="0"/>
            <c:txPr>
              <a:bodyPr/>
              <a:lstStyle/>
              <a:p>
                <a:pPr>
                  <a:defRPr b="0" i="0" strike="noStrike" sz="1200" u="none">
                    <a:solidFill>
                      <a:srgbClr val="231B3D"/>
                    </a:solidFill>
                    <a:latin typeface="+mn-lt"/>
                  </a:defRPr>
                </a:pPr>
              </a:p>
            </c:txPr>
            <c:showLegendKey val="0"/>
            <c:showVal val="1"/>
            <c:showCatName val="0"/>
            <c:showSerName val="0"/>
            <c:showPercent val="0"/>
            <c:showBubbleSize val="0"/>
            <c:showLeaderLines val="0"/>
          </c:dLbls>
          <c:cat>
            <c:multiLvlStrRef>
              <c:f>Sheet1!$A$2:$A$4</c:f>
              <c:multiLvlStrCache>
                <c:ptCount val="3"/>
                <c:lvl>
                  <c:pt idx="0">
                    <c:v>Ciudad de México</c:v>
                  </c:pt>
                  <c:pt idx="1">
                    <c:v>Jalisco</c:v>
                  </c:pt>
                  <c:pt idx="2">
                    <c:v>Guanajuato</c:v>
                  </c:pt>
                </c:lvl>
              </c:multiLvlStrCache>
            </c:multiLvlStrRef>
          </c:cat>
          <c:val>
            <c:numRef>
              <c:f>Sheet1!$B$2:$B$4</c:f>
              <c:numCache>
                <c:formatCode>General</c:formatCode>
                <c:ptCount val="3"/>
                <c:pt idx="0">
                  <c:v>218</c:v>
                </c:pt>
                <c:pt idx="1">
                  <c:v>184</c:v>
                </c:pt>
                <c:pt idx="2">
                  <c:v>103</c:v>
                </c:pt>
              </c:numCache>
            </c:numRef>
          </c:val>
        </c:ser>
        <c:dLbls>
          <c:numFmt formatCode="#,##0" sourceLinked="0"/>
          <c:txPr>
            <a:bodyPr/>
            <a:lstStyle/>
            <a:p>
              <a:pPr>
                <a:defRPr b="0" i="0" strike="noStrike" sz="1200" u="none">
                  <a:solidFill>
                    <a:srgbClr val="231B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31B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E678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1E5C"/>
                </a:solidFill>
                <a:latin typeface="+mn-lt"/>
              </a:defRPr>
            </a:pPr>
            <a:r>
              <a:rPr sz="1300" b="0" i="0" u="none" strike="noStrike">
                <a:solidFill>
                  <a:srgbClr val="2B1E5C"/>
                </a:solidFill>
                <a:latin typeface="+mn-lt"/>
              </a:rPr>
              <a:t>Importaciones de salsas (SA 210390), 2024 · US$ millones</a:t>
            </a:r>
          </a:p>
        </c:rich>
      </c:tx>
      <c:layout/>
      <c:overlay val="0"/>
    </c:title>
    <c:autoTitleDeleted val="0"/>
    <c:plotArea>
      <c:layout/>
      <c:barChart>
        <c:barDir val="bar"/>
        <c:grouping val="stacked"/>
        <c:varyColors val="0"/>
        <c:ser>
          <c:idx val="0"/>
          <c:order val="0"/>
          <c:tx>
            <c:strRef>
              <c:f>Sheet1!$B$1</c:f>
              <c:strCache>
                <c:ptCount val="1"/>
                <c:pt idx="0">
                  <c:v>Estados Unidos</c:v>
                </c:pt>
              </c:strCache>
            </c:strRef>
          </c:tx>
          <c:spPr>
            <a:solidFill>
              <a:srgbClr val="FF5A00"/>
            </a:solidFill>
            <a:effectLst/>
          </c:spPr>
          <c:invertIfNegative val="0"/>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Estados Unidos</c:v>
                  </c:pt>
                  <c:pt idx="1">
                    <c:v>Reino Unido</c:v>
                  </c:pt>
                  <c:pt idx="2">
                    <c:v>Canadá</c:v>
                  </c:pt>
                  <c:pt idx="3">
                    <c:v>Alemania</c:v>
                  </c:pt>
                  <c:pt idx="4">
                    <c:v>Países Bajos</c:v>
                  </c:pt>
                </c:lvl>
              </c:multiLvlStrCache>
            </c:multiLvlStrRef>
          </c:cat>
          <c:val>
            <c:numRef>
              <c:f>Sheet1!$B$2:$B$6</c:f>
              <c:numCache>
                <c:formatCode>General</c:formatCode>
                <c:ptCount val="5"/>
                <c:pt idx="0">
                  <c:v>2070</c:v>
                </c:pt>
                <c:pt idx="1">
                  <c:v>0</c:v>
                </c:pt>
                <c:pt idx="2">
                  <c:v>0</c:v>
                </c:pt>
                <c:pt idx="3">
                  <c:v>0</c:v>
                </c:pt>
                <c:pt idx="4">
                  <c:v>0</c:v>
                </c:pt>
              </c:numCache>
            </c:numRef>
          </c:val>
        </c:ser>
        <c:ser>
          <c:idx val="1"/>
          <c:order val="1"/>
          <c:tx>
            <c:strRef>
              <c:f>Sheet1!$C$1</c:f>
              <c:strCache>
                <c:ptCount val="1"/>
                <c:pt idx="0">
                  <c:v>Otros</c:v>
                </c:pt>
              </c:strCache>
            </c:strRef>
          </c:tx>
          <c:spPr>
            <a:solidFill>
              <a:srgbClr val="5B3FA0"/>
            </a:solidFill>
            <a:effectLst/>
          </c:spPr>
          <c:invertIfNegative val="0"/>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Estados Unidos</c:v>
                  </c:pt>
                  <c:pt idx="1">
                    <c:v>Reino Unido</c:v>
                  </c:pt>
                  <c:pt idx="2">
                    <c:v>Canadá</c:v>
                  </c:pt>
                  <c:pt idx="3">
                    <c:v>Alemania</c:v>
                  </c:pt>
                  <c:pt idx="4">
                    <c:v>Países Bajos</c:v>
                  </c:pt>
                </c:lvl>
              </c:multiLvlStrCache>
            </c:multiLvlStrRef>
          </c:cat>
          <c:val>
            <c:numRef>
              <c:f>Sheet1!$C$2:$C$6</c:f>
              <c:numCache>
                <c:formatCode>General</c:formatCode>
                <c:ptCount val="5"/>
                <c:pt idx="0">
                  <c:v>0</c:v>
                </c:pt>
                <c:pt idx="1">
                  <c:v>1050</c:v>
                </c:pt>
                <c:pt idx="2">
                  <c:v>782</c:v>
                </c:pt>
                <c:pt idx="3">
                  <c:v>773</c:v>
                </c:pt>
                <c:pt idx="4">
                  <c:v>595</c:v>
                </c:pt>
              </c:numCache>
            </c:numRef>
          </c:val>
        </c:ser>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31B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E678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1E5C"/>
                </a:solidFill>
                <a:latin typeface="+mn-lt"/>
              </a:defRPr>
            </a:pPr>
            <a:r>
              <a:rPr sz="1300" b="0" i="0" u="none" strike="noStrike">
                <a:solidFill>
                  <a:srgbClr val="2B1E5C"/>
                </a:solidFill>
                <a:latin typeface="+mn-lt"/>
              </a:rPr>
              <a:t>Exportaciones mundiales de salsas (SA 210390), 2024 · US$ millones</a:t>
            </a:r>
          </a:p>
        </c:rich>
      </c:tx>
      <c:layout/>
      <c:overlay val="0"/>
    </c:title>
    <c:autoTitleDeleted val="0"/>
    <c:plotArea>
      <c:layout/>
      <c:barChart>
        <c:barDir val="col"/>
        <c:grouping val="stacked"/>
        <c:varyColors val="0"/>
        <c:ser>
          <c:idx val="0"/>
          <c:order val="0"/>
          <c:tx>
            <c:strRef>
              <c:f>Sheet1!$B$1</c:f>
              <c:strCache>
                <c:ptCount val="1"/>
                <c:pt idx="0">
                  <c:v>Competidores</c:v>
                </c:pt>
              </c:strCache>
            </c:strRef>
          </c:tx>
          <c:spPr>
            <a:solidFill>
              <a:srgbClr val="5B3FA0"/>
            </a:solidFill>
            <a:effectLst/>
          </c:spPr>
          <c:invertIfNegative val="0"/>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EE. UU.</c:v>
                  </c:pt>
                  <c:pt idx="1">
                    <c:v>Italia</c:v>
                  </c:pt>
                  <c:pt idx="2">
                    <c:v>China</c:v>
                  </c:pt>
                  <c:pt idx="3">
                    <c:v>Alemania</c:v>
                  </c:pt>
                  <c:pt idx="4">
                    <c:v>Tailandia</c:v>
                  </c:pt>
                  <c:pt idx="5">
                    <c:v>Países Bajos</c:v>
                  </c:pt>
                  <c:pt idx="6">
                    <c:v>México</c:v>
                  </c:pt>
                </c:lvl>
              </c:multiLvlStrCache>
            </c:multiLvlStrRef>
          </c:cat>
          <c:val>
            <c:numRef>
              <c:f>Sheet1!$B$2:$B$8</c:f>
              <c:numCache>
                <c:formatCode>General</c:formatCode>
                <c:ptCount val="7"/>
                <c:pt idx="0">
                  <c:v>1738</c:v>
                </c:pt>
                <c:pt idx="1">
                  <c:v>1707</c:v>
                </c:pt>
                <c:pt idx="2">
                  <c:v>1210</c:v>
                </c:pt>
                <c:pt idx="3">
                  <c:v>1034</c:v>
                </c:pt>
                <c:pt idx="4">
                  <c:v>978</c:v>
                </c:pt>
                <c:pt idx="5">
                  <c:v>953</c:v>
                </c:pt>
                <c:pt idx="6">
                  <c:v>0</c:v>
                </c:pt>
              </c:numCache>
            </c:numRef>
          </c:val>
        </c:ser>
        <c:ser>
          <c:idx val="1"/>
          <c:order val="1"/>
          <c:tx>
            <c:strRef>
              <c:f>Sheet1!$C$1</c:f>
              <c:strCache>
                <c:ptCount val="1"/>
                <c:pt idx="0">
                  <c:v>México</c:v>
                </c:pt>
              </c:strCache>
            </c:strRef>
          </c:tx>
          <c:spPr>
            <a:solidFill>
              <a:srgbClr val="FF5A00"/>
            </a:solidFill>
            <a:effectLst/>
          </c:spPr>
          <c:invertIfNegative val="0"/>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EE. UU.</c:v>
                  </c:pt>
                  <c:pt idx="1">
                    <c:v>Italia</c:v>
                  </c:pt>
                  <c:pt idx="2">
                    <c:v>China</c:v>
                  </c:pt>
                  <c:pt idx="3">
                    <c:v>Alemania</c:v>
                  </c:pt>
                  <c:pt idx="4">
                    <c:v>Tailandia</c:v>
                  </c:pt>
                  <c:pt idx="5">
                    <c:v>Países Bajos</c:v>
                  </c:pt>
                  <c:pt idx="6">
                    <c:v>México</c:v>
                  </c:pt>
                </c:lvl>
              </c:multiLvlStrCache>
            </c:multiLvlStrRef>
          </c:cat>
          <c:val>
            <c:numRef>
              <c:f>Sheet1!$C$2:$C$8</c:f>
              <c:numCache>
                <c:formatCode>General</c:formatCode>
                <c:ptCount val="7"/>
                <c:pt idx="0">
                  <c:v>0</c:v>
                </c:pt>
                <c:pt idx="1">
                  <c:v>0</c:v>
                </c:pt>
                <c:pt idx="2">
                  <c:v>0</c:v>
                </c:pt>
                <c:pt idx="3">
                  <c:v>0</c:v>
                </c:pt>
                <c:pt idx="4">
                  <c:v>0</c:v>
                </c:pt>
                <c:pt idx="5">
                  <c:v>0</c:v>
                </c:pt>
                <c:pt idx="6">
                  <c:v>730</c:v>
                </c:pt>
              </c:numCache>
            </c:numRef>
          </c:val>
        </c:ser>
        <c:dLbls>
          <c:numFmt formatCode="#,##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B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78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 ficha analiza una salsa picante mexicana embotellada, categoría que llevó la delegación de Querétaro a SIAL París 2026. Todas las fuentes se consultaron el 24 de octubre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principal: la salsa picante es viable para Estados Unidos por demanda, arancel 0% con T-MEC y cercanía. La condición es cumplir el régimen de alimentos acidificados de la FDA y documentar el origen. Las etiquetas de colores separan evidencia, interpretación y pendientes.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 del Nivel 3: describir antes de clasificar. Se describe una salsa de chile sin tomate, acidificada a pH 4.6 o menos y envasada en vidrio. La composición es la típica de la categoría y debe ajustarse a la etiqueta del expositor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Dimensión cualitativa. El producto se juega en el anaquel: cumplir la etiqueta del destino, empaque que muestre el chile y una historia de origen. La tendencia de SIAL 2026 premia la intensidad de sabor; la salsa mexicana ya tiene presencia fuerte en Europa según estimaciones privadas.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Clasificar: Sección IV, capítulo 21, partida 21.03, subpartida 2103.90 y fracción 2103.90.99 «Los demás». La trampa es el nombre comercial: si la salsa lleva tomate como base iría a 2103.20; el chile seco solo va a 09.04 y los chiles en vinagre a 20.01. El NICO queda pendiente de confirmar en SIICEX.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la salida: no se identificaron aranceles ni permisos de exportación para la fracción, pero debe confirmarse en SIICEX, en la pestaña de regulaciones y restricciones no arancelarias. La documentación clave es el pedimento, el CFDI con complemento de comercio exterior y la prueba de origen según el tratado.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Arancel en destino. En Estados Unidos el NMF es 6.4% y con T-MEC baja a 0%. Desde el 24 de julio de 2026 lo que no califique al T-MEC paga además 10% de la Sección 301. En la UE el NMF es 7.7% y hay preferencia del TLCUEM; la tasa exacta para México se debe confirmar en Access2Markets.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Cumplimiento sanitario. En EE. UU. el punto crítico es el régimen de alimentos acidificados: registro FCE, proceso SID y personal capacitado. 2026 es año de renovación del registro de planta. En la UE pesan el etiquetado, los aditivos permitidos y los contaminantes del chile seco.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Niveles 1 y 2. ComerciaMx sirve para identificar proveedores; aquí se listan empresas encontradas en directorios públicos. INEGI clasifica las salsas picantes en la clase 311423. La oferta exportadora se concentra en CDMX, Jalisco y Guanajuato. Falta validar la capacidad real del proveedor.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Demanda. Estados Unidos importó cerca de 2,070 millones de dólares en 2024, el doble que el Reino Unido. Además, ya es el destino de casi tres cuartas partes de lo que México exporta en esta partida. El dato de 2025 debe confirmarse directamente en Trade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Competencia. México exportó unos 730 millones de dólares en 2024, séptimo lugar mundial en esta subpartida. Los líderes son Estados Unidos e Italia. En el segmento picante el rival directo en EE. UU. son las marcas locales y las de grandes corporativos.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Priorización. Con la misma ponderación, Estados Unidos obtiene 20 de 25 puntos, Canadá 18 y Alemania 13. Estados Unidos gana por demanda, acceso y logística; pierde en competencia. La Unión Europea queda como segunda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Plus. El FMI prevé que Estados Unidos crezca 2.3% en 2026 y 2027, contra 1.1% de la zona euro. Deloitte describe un consumidor que busca valor. Bancomext ofrece financiamiento. No se encontró un estudio de KPMG pertinente; se deja como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Pendientes. Son los siete datos que separan esta ficha de una decisión final. Ninguno cambia la recomendación por sí solo, pero el NICO, el arancel de la UE y las pruebas de laboratorio sí cambian costos y trámites.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La exportación es defendible ante un comité: demanda medida, arancel cero con T-MEC y una ruta de cumplimiento clara. Los siguientes pasos son laboratorio, registro ante la FDA, etiqueta y origen, y las primeras muestras al canal hispano.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fuentes se consultaron el 24 de octubre de 2026. Las cifras de Trade Map se tomaron de fuentes que citan sus datos; deben confirmarse en trademap.org con el mismo código y periodo.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rtlCol="0"/>
          <a:lstStyle>
            <a:lvl1pPr indent="0" marL="0">
              <a:buNone/>
              <a:defRPr lang="en-US" sz="1400" b="1"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nvSpPr>
        <p:spPr>
          <a:xfrm>
            <a:off x="548640" y="6455664"/>
            <a:ext cx="9144000" cy="256032"/>
          </a:xfrm>
          <a:prstGeom prst="rect">
            <a:avLst/>
          </a:prstGeom>
          <a:noFill/>
          <a:ln/>
        </p:spPr>
        <p:txBody>
          <a:bodyPr wrap="square" lIns="0" tIns="0" rIns="0" bIns="0" rtlCol="0" anchor="ctr"/>
          <a:lstStyle/>
          <a:p>
            <a:pPr indent="0" marL="0">
              <a:buNone/>
            </a:pPr>
            <a:r>
              <a:rPr lang="en-US" sz="1000" dirty="0">
                <a:solidFill>
                  <a:schemeClr val="accent6"/>
                </a:solidFill>
              </a:rPr>
              <a:t>Ficha técnica · Salsa picante mexicana · Prospección comercial · Universidad Anáhuac</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rgbClr val="2B1E5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229600" cy="365760"/>
          </a:xfrm>
          <a:prstGeom prst="rect">
            <a:avLst/>
          </a:prstGeom>
          <a:noFill/>
          <a:ln/>
        </p:spPr>
        <p:txBody>
          <a:bodyPr wrap="square" rtlCol="0"/>
          <a:lstStyle>
            <a:lvl1pPr indent="0" marL="0">
              <a:buNone/>
              <a:defRPr lang="en-US" sz="1400" b="1"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548640" y="914400"/>
            <a:ext cx="76809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229600" cy="365760"/>
          </a:xfrm>
          <a:prstGeom prst="rect">
            <a:avLst/>
          </a:prstGeom>
          <a:noFill/>
          <a:ln/>
        </p:spPr>
        <p:txBody>
          <a:bodyPr wrap="square" lIns="0" tIns="0" rIns="0" bIns="0" rtlCol="0" anchor="ctr"/>
          <a:lstStyle/>
          <a:p>
            <a:pPr indent="0" marL="0">
              <a:buNone/>
            </a:pPr>
            <a:r>
              <a:rPr lang="en-US" sz="1400" b="1" dirty="0">
                <a:solidFill>
                  <a:schemeClr val="accent5"/>
                </a:solidFill>
              </a:rPr>
              <a:t>Universidad Anáhuac · Comercio exterior · Prospección comercial</a:t>
            </a:r>
            <a:endParaRPr lang="en-US" sz="1400" dirty="0"/>
          </a:p>
        </p:txBody>
      </p:sp>
      <p:sp>
        <p:nvSpPr>
          <p:cNvPr id="3" name="Text 0"/>
          <p:cNvSpPr/>
          <p:nvPr>
            <p:ph idx="101" type="title" hasCustomPrompt="1"/>
          </p:nvPr>
        </p:nvSpPr>
        <p:spPr>
          <a:xfrm>
            <a:off x="548640" y="91440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Ficha Técnica de Viabilidad Arancelaria y de Mercado</a:t>
            </a:r>
            <a:endParaRPr lang="en-US" sz="4000" dirty="0"/>
          </a:p>
        </p:txBody>
      </p:sp>
      <p:sp>
        <p:nvSpPr>
          <p:cNvPr id="4" name="Text 2"/>
          <p:cNvSpPr txBox="1"/>
          <p:nvPr/>
        </p:nvSpPr>
        <p:spPr>
          <a:xfrm>
            <a:off x="548640" y="2788920"/>
            <a:ext cx="7680960" cy="457200"/>
          </a:xfrm>
          <a:prstGeom prst="rect">
            <a:avLst/>
          </a:prstGeom>
          <a:noFill/>
          <a:ln/>
        </p:spPr>
        <p:txBody>
          <a:bodyPr wrap="square" lIns="0" tIns="0" rIns="0" bIns="0" rtlCol="0" anchor="ctr"/>
          <a:lstStyle/>
          <a:p>
            <a:pPr indent="0" marL="0">
              <a:buNone/>
            </a:pPr>
            <a:r>
              <a:rPr lang="en-US" sz="2200" b="1" dirty="0">
                <a:solidFill>
                  <a:schemeClr val="accent1"/>
                </a:solidFill>
              </a:rPr>
              <a:t>Salsa picante mexicana embotellada · fracción 2103.90.99</a:t>
            </a:r>
            <a:endParaRPr lang="en-US" sz="2200" dirty="0"/>
          </a:p>
        </p:txBody>
      </p:sp>
      <p:sp>
        <p:nvSpPr>
          <p:cNvPr id="5" name="Text 3"/>
          <p:cNvSpPr txBox="1"/>
          <p:nvPr/>
        </p:nvSpPr>
        <p:spPr>
          <a:xfrm>
            <a:off x="548640" y="3977640"/>
            <a:ext cx="7498080" cy="1463040"/>
          </a:xfrm>
          <a:prstGeom prst="rect">
            <a:avLst/>
          </a:prstGeom>
          <a:noFill/>
          <a:ln/>
        </p:spPr>
        <p:txBody>
          <a:bodyPr wrap="square" lIns="0" tIns="0" rIns="0" bIns="0" rtlCol="0" anchor="t"/>
          <a:lstStyle/>
          <a:p>
            <a:pPr indent="0" marL="0">
              <a:spcAft>
                <a:spcPts val="800"/>
              </a:spcAft>
              <a:buNone/>
            </a:pPr>
            <a:r>
              <a:rPr lang="en-US" sz="1600" b="1" dirty="0">
                <a:solidFill>
                  <a:schemeClr val="bg1"/>
                </a:solidFill>
              </a:rPr>
              <a:t>Producto observado: </a:t>
            </a:r>
            <a:pPr indent="0" marL="0">
              <a:spcAft>
                <a:spcPts val="800"/>
              </a:spcAft>
              <a:buNone/>
            </a:pPr>
            <a:r>
              <a:rPr lang="en-US" sz="1600" dirty="0">
                <a:solidFill>
                  <a:schemeClr val="bg1"/>
                </a:solidFill>
              </a:rPr>
              <a:t>categoría «salsas» de la delegación de Querétaro en SIAL París 2026 (17–21 de octubre)</a:t>
            </a:r>
            <a:endParaRPr lang="en-US" sz="1600" dirty="0"/>
          </a:p>
          <a:p>
            <a:pPr indent="0" marL="0">
              <a:spcAft>
                <a:spcPts val="800"/>
              </a:spcAft>
              <a:buNone/>
            </a:pPr>
            <a:r>
              <a:rPr lang="en-US" sz="1600" b="1" dirty="0">
                <a:solidFill>
                  <a:schemeClr val="bg1"/>
                </a:solidFill>
              </a:rPr>
              <a:t>Alumno(a): </a:t>
            </a:r>
            <a:pPr indent="0" marL="0">
              <a:spcAft>
                <a:spcPts val="800"/>
              </a:spcAft>
              <a:buNone/>
            </a:pPr>
            <a:r>
              <a:rPr lang="en-US" sz="1600" dirty="0">
                <a:solidFill>
                  <a:schemeClr val="bg1"/>
                </a:solidFill>
              </a:rPr>
              <a:t>______________________________________</a:t>
            </a:r>
            <a:endParaRPr lang="en-US" sz="1600" dirty="0"/>
          </a:p>
          <a:p>
            <a:pPr indent="0" marL="0">
              <a:spcAft>
                <a:spcPts val="800"/>
              </a:spcAft>
              <a:buNone/>
            </a:pPr>
            <a:r>
              <a:rPr lang="en-US" sz="1600" b="1" dirty="0">
                <a:solidFill>
                  <a:schemeClr val="bg1"/>
                </a:solidFill>
              </a:rPr>
              <a:t>Fecha de consulta de las fuentes: </a:t>
            </a:r>
            <a:pPr indent="0" marL="0">
              <a:spcAft>
                <a:spcPts val="800"/>
              </a:spcAft>
              <a:buNone/>
            </a:pPr>
            <a:r>
              <a:rPr lang="en-US" sz="1600" dirty="0">
                <a:solidFill>
                  <a:schemeClr val="bg1"/>
                </a:solidFill>
              </a:rPr>
              <a:t>24 de octubre de 2026</a:t>
            </a:r>
            <a:endParaRPr lang="en-US" sz="1600" dirty="0"/>
          </a:p>
        </p:txBody>
      </p:sp>
      <p:sp>
        <p:nvSpPr>
          <p:cNvPr id="6" name="Text 4"/>
          <p:cNvSpPr txBox="1"/>
          <p:nvPr/>
        </p:nvSpPr>
        <p:spPr>
          <a:xfrm>
            <a:off x="548640" y="5989320"/>
            <a:ext cx="7498080" cy="365760"/>
          </a:xfrm>
          <a:prstGeom prst="rect">
            <a:avLst/>
          </a:prstGeom>
          <a:noFill/>
          <a:ln/>
        </p:spPr>
        <p:txBody>
          <a:bodyPr wrap="square" lIns="0" tIns="0" rIns="0" bIns="0" rtlCol="0" anchor="ctr"/>
          <a:lstStyle/>
          <a:p>
            <a:pPr indent="0" marL="0">
              <a:buNone/>
            </a:pPr>
            <a:r>
              <a:rPr lang="en-US" sz="1400" i="1" dirty="0">
                <a:solidFill>
                  <a:schemeClr val="accent5"/>
                </a:solidFill>
              </a:rPr>
              <a:t>Del producto observado a una exportación defendible</a:t>
            </a:r>
            <a:endParaRPr lang="en-US" sz="1400" dirty="0"/>
          </a:p>
        </p:txBody>
      </p:sp>
      <p:sp>
        <p:nvSpPr>
          <p:cNvPr id="7" name="circulo-portada"/>
          <p:cNvSpPr/>
          <p:nvPr/>
        </p:nvSpPr>
        <p:spPr>
          <a:xfrm>
            <a:off x="8549640" y="1417320"/>
            <a:ext cx="3108960" cy="3108960"/>
          </a:xfrm>
          <a:prstGeom prst="ellipse">
            <a:avLst/>
          </a:prstGeom>
          <a:solidFill>
            <a:schemeClr val="accent1"/>
          </a:solidFill>
          <a:ln w="12700">
            <a:solidFill>
              <a:schemeClr val="accent1"/>
            </a:solidFill>
            <a:prstDash val="solid"/>
          </a:ln>
        </p:spPr>
      </p:sp>
      <p:pic>
        <p:nvPicPr>
          <p:cNvPr id="8" name="chile" descr="preencoded.png">    </p:cNvPr>
          <p:cNvPicPr>
            <a:picLocks noChangeAspect="1"/>
          </p:cNvPicPr>
          <p:nvPr/>
        </p:nvPicPr>
        <p:blipFill>
          <a:blip r:embed="rId1"/>
          <a:stretch>
            <a:fillRect/>
          </a:stretch>
        </p:blipFill>
        <p:spPr>
          <a:xfrm>
            <a:off x="9189720" y="2057400"/>
            <a:ext cx="1828800" cy="1828800"/>
          </a:xfrm>
          <a:prstGeom prst="rect">
            <a:avLst/>
          </a:prstGeom>
        </p:spPr>
      </p:pic>
      <p:sp>
        <p:nvSpPr>
          <p:cNvPr id="9" name="Text 6"/>
          <p:cNvSpPr txBox="1"/>
          <p:nvPr/>
        </p:nvSpPr>
        <p:spPr>
          <a:xfrm>
            <a:off x="8549640" y="4754880"/>
            <a:ext cx="3108960" cy="365760"/>
          </a:xfrm>
          <a:prstGeom prst="rect">
            <a:avLst/>
          </a:prstGeom>
          <a:noFill/>
          <a:ln/>
        </p:spPr>
        <p:txBody>
          <a:bodyPr wrap="square" lIns="0" tIns="0" rIns="0" bIns="0" rtlCol="0" anchor="ctr"/>
          <a:lstStyle/>
          <a:p>
            <a:pPr algn="ctr" indent="0" marL="0">
              <a:buNone/>
            </a:pPr>
            <a:r>
              <a:rPr lang="en-US" sz="1600" b="1" dirty="0">
                <a:solidFill>
                  <a:schemeClr val="bg1"/>
                </a:solidFill>
              </a:rPr>
              <a:t>SIAL París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Resumen ejecutivo</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Exportación viable: EE. UU. primero, vía T-MEC</a:t>
            </a:r>
            <a:endParaRPr lang="en-US" sz="3200" dirty="0"/>
          </a:p>
        </p:txBody>
      </p:sp>
      <p:sp>
        <p:nvSpPr>
          <p:cNvPr id="4" name="icono-fondo"/>
          <p:cNvSpPr/>
          <p:nvPr/>
        </p:nvSpPr>
        <p:spPr>
          <a:xfrm>
            <a:off x="548640" y="1645920"/>
            <a:ext cx="640080" cy="640080"/>
          </a:xfrm>
          <a:prstGeom prst="ellipse">
            <a:avLst/>
          </a:prstGeom>
          <a:solidFill>
            <a:schemeClr val="accent1"/>
          </a:solidFill>
          <a:ln w="12700">
            <a:solidFill>
              <a:schemeClr val="accent1"/>
            </a:solidFill>
            <a:prstDash val="solid"/>
          </a:ln>
        </p:spPr>
      </p:sp>
      <p:pic>
        <p:nvPicPr>
          <p:cNvPr id="5" name="icono" descr="preencoded.png">    </p:cNvPr>
          <p:cNvPicPr>
            <a:picLocks noChangeAspect="1"/>
          </p:cNvPicPr>
          <p:nvPr/>
        </p:nvPicPr>
        <p:blipFill>
          <a:blip r:embed="rId1"/>
          <a:stretch>
            <a:fillRect/>
          </a:stretch>
        </p:blipFill>
        <p:spPr>
          <a:xfrm>
            <a:off x="708660" y="1805940"/>
            <a:ext cx="320040" cy="320040"/>
          </a:xfrm>
          <a:prstGeom prst="rect">
            <a:avLst/>
          </a:prstGeom>
        </p:spPr>
      </p:pic>
      <p:sp>
        <p:nvSpPr>
          <p:cNvPr id="6" name="Text 3"/>
          <p:cNvSpPr txBox="1"/>
          <p:nvPr/>
        </p:nvSpPr>
        <p:spPr>
          <a:xfrm>
            <a:off x="1417320" y="1600200"/>
            <a:ext cx="5852160" cy="914400"/>
          </a:xfrm>
          <a:prstGeom prst="rect">
            <a:avLst/>
          </a:prstGeom>
          <a:noFill/>
          <a:ln/>
        </p:spPr>
        <p:txBody>
          <a:bodyPr wrap="square" lIns="0" tIns="0" rIns="0" bIns="0" rtlCol="0" anchor="t"/>
          <a:lstStyle/>
          <a:p>
            <a:pPr indent="0" marL="0">
              <a:buNone/>
            </a:pPr>
            <a:r>
              <a:rPr lang="en-US" sz="1700" b="1" dirty="0">
                <a:solidFill>
                  <a:schemeClr val="tx2"/>
                </a:solidFill>
              </a:rPr>
              <a:t>Producto y cumplimiento</a:t>
            </a:r>
            <a:endParaRPr lang="en-US" sz="1700" dirty="0"/>
          </a:p>
          <a:p>
            <a:pPr indent="0" marL="0">
              <a:buNone/>
            </a:pPr>
            <a:r>
              <a:rPr lang="en-US" sz="1400" dirty="0">
                <a:solidFill>
                  <a:schemeClr val="tx1"/>
                </a:solidFill>
              </a:rPr>
              <a:t>Salsa acidificada (pH ≤ 4.6): en EE. UU. requiere registro de planta, FCE y proceso SID ante la FDA.</a:t>
            </a:r>
            <a:endParaRPr lang="en-US" sz="1700" dirty="0"/>
          </a:p>
        </p:txBody>
      </p:sp>
      <p:sp>
        <p:nvSpPr>
          <p:cNvPr id="7" name="icono-fondo"/>
          <p:cNvSpPr/>
          <p:nvPr/>
        </p:nvSpPr>
        <p:spPr>
          <a:xfrm>
            <a:off x="548640" y="2697480"/>
            <a:ext cx="640080" cy="640080"/>
          </a:xfrm>
          <a:prstGeom prst="ellipse">
            <a:avLst/>
          </a:prstGeom>
          <a:solidFill>
            <a:schemeClr val="accent1"/>
          </a:solidFill>
          <a:ln w="12700">
            <a:solidFill>
              <a:schemeClr val="accent1"/>
            </a:solidFill>
            <a:prstDash val="solid"/>
          </a:ln>
        </p:spPr>
      </p:sp>
      <p:pic>
        <p:nvPicPr>
          <p:cNvPr id="8" name="icono" descr="preencoded.png">    </p:cNvPr>
          <p:cNvPicPr>
            <a:picLocks noChangeAspect="1"/>
          </p:cNvPicPr>
          <p:nvPr/>
        </p:nvPicPr>
        <p:blipFill>
          <a:blip r:embed="rId2"/>
          <a:stretch>
            <a:fillRect/>
          </a:stretch>
        </p:blipFill>
        <p:spPr>
          <a:xfrm>
            <a:off x="708660" y="2857500"/>
            <a:ext cx="320040" cy="320040"/>
          </a:xfrm>
          <a:prstGeom prst="rect">
            <a:avLst/>
          </a:prstGeom>
        </p:spPr>
      </p:pic>
      <p:sp>
        <p:nvSpPr>
          <p:cNvPr id="9" name="Text 5"/>
          <p:cNvSpPr txBox="1"/>
          <p:nvPr/>
        </p:nvSpPr>
        <p:spPr>
          <a:xfrm>
            <a:off x="1417320" y="2651760"/>
            <a:ext cx="5852160" cy="914400"/>
          </a:xfrm>
          <a:prstGeom prst="rect">
            <a:avLst/>
          </a:prstGeom>
          <a:noFill/>
          <a:ln/>
        </p:spPr>
        <p:txBody>
          <a:bodyPr wrap="square" lIns="0" tIns="0" rIns="0" bIns="0" rtlCol="0" anchor="t"/>
          <a:lstStyle/>
          <a:p>
            <a:pPr indent="0" marL="0">
              <a:buNone/>
            </a:pPr>
            <a:r>
              <a:rPr lang="en-US" sz="1700" b="1" dirty="0">
                <a:solidFill>
                  <a:schemeClr val="tx2"/>
                </a:solidFill>
              </a:rPr>
              <a:t>Capacidad y oferta</a:t>
            </a:r>
            <a:endParaRPr lang="en-US" sz="1700" dirty="0"/>
          </a:p>
          <a:p>
            <a:pPr indent="0" marL="0">
              <a:buNone/>
            </a:pPr>
            <a:r>
              <a:rPr lang="en-US" sz="1400" dirty="0">
                <a:solidFill>
                  <a:schemeClr val="tx1"/>
                </a:solidFill>
              </a:rPr>
              <a:t>México exportó US$767 M de la partida 2103 en 2024; CDMX, Jalisco y Guanajuato concentran la oferta.</a:t>
            </a:r>
            <a:endParaRPr lang="en-US" sz="1700" dirty="0"/>
          </a:p>
        </p:txBody>
      </p:sp>
      <p:sp>
        <p:nvSpPr>
          <p:cNvPr id="10" name="icono-fondo"/>
          <p:cNvSpPr/>
          <p:nvPr/>
        </p:nvSpPr>
        <p:spPr>
          <a:xfrm>
            <a:off x="548640" y="3749040"/>
            <a:ext cx="640080" cy="640080"/>
          </a:xfrm>
          <a:prstGeom prst="ellipse">
            <a:avLst/>
          </a:prstGeom>
          <a:solidFill>
            <a:schemeClr val="accent1"/>
          </a:solidFill>
          <a:ln w="12700">
            <a:solidFill>
              <a:schemeClr val="accent1"/>
            </a:solidFill>
            <a:prstDash val="solid"/>
          </a:ln>
        </p:spPr>
      </p:sp>
      <p:pic>
        <p:nvPicPr>
          <p:cNvPr id="11" name="icono" descr="preencoded.png">    </p:cNvPr>
          <p:cNvPicPr>
            <a:picLocks noChangeAspect="1"/>
          </p:cNvPicPr>
          <p:nvPr/>
        </p:nvPicPr>
        <p:blipFill>
          <a:blip r:embed="rId3"/>
          <a:stretch>
            <a:fillRect/>
          </a:stretch>
        </p:blipFill>
        <p:spPr>
          <a:xfrm>
            <a:off x="708660" y="3909060"/>
            <a:ext cx="320040" cy="320040"/>
          </a:xfrm>
          <a:prstGeom prst="rect">
            <a:avLst/>
          </a:prstGeom>
        </p:spPr>
      </p:pic>
      <p:sp>
        <p:nvSpPr>
          <p:cNvPr id="12" name="Text 7"/>
          <p:cNvSpPr txBox="1"/>
          <p:nvPr/>
        </p:nvSpPr>
        <p:spPr>
          <a:xfrm>
            <a:off x="1417320" y="3703320"/>
            <a:ext cx="5852160" cy="914400"/>
          </a:xfrm>
          <a:prstGeom prst="rect">
            <a:avLst/>
          </a:prstGeom>
          <a:noFill/>
          <a:ln/>
        </p:spPr>
        <p:txBody>
          <a:bodyPr wrap="square" lIns="0" tIns="0" rIns="0" bIns="0" rtlCol="0" anchor="t"/>
          <a:lstStyle/>
          <a:p>
            <a:pPr indent="0" marL="0">
              <a:buNone/>
            </a:pPr>
            <a:r>
              <a:rPr lang="en-US" sz="1700" b="1" dirty="0">
                <a:solidFill>
                  <a:schemeClr val="tx2"/>
                </a:solidFill>
              </a:rPr>
              <a:t>Viabilidad arancelaria</a:t>
            </a:r>
            <a:endParaRPr lang="en-US" sz="1700" dirty="0"/>
          </a:p>
          <a:p>
            <a:pPr indent="0" marL="0">
              <a:buNone/>
            </a:pPr>
            <a:r>
              <a:rPr lang="en-US" sz="1400" dirty="0">
                <a:solidFill>
                  <a:schemeClr val="tx1"/>
                </a:solidFill>
              </a:rPr>
              <a:t>Fracción 2103.90.99. En EE. UU.: 0% con T-MEC frente a 6.4% NMF; sin T-MEC se suma 10% (Sección 301).</a:t>
            </a:r>
            <a:endParaRPr lang="en-US" sz="1700" dirty="0"/>
          </a:p>
        </p:txBody>
      </p:sp>
      <p:sp>
        <p:nvSpPr>
          <p:cNvPr id="13" name="icono-fondo"/>
          <p:cNvSpPr/>
          <p:nvPr/>
        </p:nvSpPr>
        <p:spPr>
          <a:xfrm>
            <a:off x="548640" y="4800600"/>
            <a:ext cx="640080" cy="640080"/>
          </a:xfrm>
          <a:prstGeom prst="ellipse">
            <a:avLst/>
          </a:prstGeom>
          <a:solidFill>
            <a:schemeClr val="accent1"/>
          </a:solidFill>
          <a:ln w="12700">
            <a:solidFill>
              <a:schemeClr val="accent1"/>
            </a:solidFill>
            <a:prstDash val="solid"/>
          </a:ln>
        </p:spPr>
      </p:sp>
      <p:pic>
        <p:nvPicPr>
          <p:cNvPr id="14" name="icono" descr="preencoded.png">    </p:cNvPr>
          <p:cNvPicPr>
            <a:picLocks noChangeAspect="1"/>
          </p:cNvPicPr>
          <p:nvPr/>
        </p:nvPicPr>
        <p:blipFill>
          <a:blip r:embed="rId4"/>
          <a:stretch>
            <a:fillRect/>
          </a:stretch>
        </p:blipFill>
        <p:spPr>
          <a:xfrm>
            <a:off x="708660" y="4960620"/>
            <a:ext cx="320040" cy="320040"/>
          </a:xfrm>
          <a:prstGeom prst="rect">
            <a:avLst/>
          </a:prstGeom>
        </p:spPr>
      </p:pic>
      <p:sp>
        <p:nvSpPr>
          <p:cNvPr id="15" name="Text 9"/>
          <p:cNvSpPr txBox="1"/>
          <p:nvPr/>
        </p:nvSpPr>
        <p:spPr>
          <a:xfrm>
            <a:off x="1417320" y="4754880"/>
            <a:ext cx="5852160" cy="914400"/>
          </a:xfrm>
          <a:prstGeom prst="rect">
            <a:avLst/>
          </a:prstGeom>
          <a:noFill/>
          <a:ln/>
        </p:spPr>
        <p:txBody>
          <a:bodyPr wrap="square" lIns="0" tIns="0" rIns="0" bIns="0" rtlCol="0" anchor="t"/>
          <a:lstStyle/>
          <a:p>
            <a:pPr indent="0" marL="0">
              <a:buNone/>
            </a:pPr>
            <a:r>
              <a:rPr lang="en-US" sz="1700" b="1" dirty="0">
                <a:solidFill>
                  <a:schemeClr val="tx2"/>
                </a:solidFill>
              </a:rPr>
              <a:t>Mercados y competencia</a:t>
            </a:r>
            <a:endParaRPr lang="en-US" sz="1700" dirty="0"/>
          </a:p>
          <a:p>
            <a:pPr indent="0" marL="0">
              <a:buNone/>
            </a:pPr>
            <a:r>
              <a:rPr lang="en-US" sz="1400" dirty="0">
                <a:solidFill>
                  <a:schemeClr val="tx1"/>
                </a:solidFill>
              </a:rPr>
              <a:t>EE. UU. importó US$2,070 M en 2024, el doble que el Reino Unido. Compiten EE. UU., Italia y China.</a:t>
            </a:r>
            <a:endParaRPr lang="en-US" sz="1700" dirty="0"/>
          </a:p>
        </p:txBody>
      </p:sp>
      <p:sp>
        <p:nvSpPr>
          <p:cNvPr id="16" name="leyenda"/>
          <p:cNvSpPr/>
          <p:nvPr/>
        </p:nvSpPr>
        <p:spPr>
          <a:xfrm>
            <a:off x="7726680" y="1600200"/>
            <a:ext cx="3913632" cy="3977640"/>
          </a:xfrm>
          <a:prstGeom prst="rect">
            <a:avLst/>
          </a:prstGeom>
          <a:solidFill>
            <a:schemeClr val="bg2"/>
          </a:solidFill>
          <a:ln w="12700">
            <a:solidFill>
              <a:schemeClr val="bg2"/>
            </a:solidFill>
            <a:prstDash val="solid"/>
          </a:ln>
        </p:spPr>
      </p:sp>
      <p:sp>
        <p:nvSpPr>
          <p:cNvPr id="17" name="Text 11"/>
          <p:cNvSpPr txBox="1"/>
          <p:nvPr/>
        </p:nvSpPr>
        <p:spPr>
          <a:xfrm>
            <a:off x="8001000" y="1783080"/>
            <a:ext cx="3383280" cy="365760"/>
          </a:xfrm>
          <a:prstGeom prst="rect">
            <a:avLst/>
          </a:prstGeom>
          <a:noFill/>
          <a:ln/>
        </p:spPr>
        <p:txBody>
          <a:bodyPr wrap="square" lIns="0" tIns="0" rIns="0" bIns="0" rtlCol="0" anchor="ctr"/>
          <a:lstStyle/>
          <a:p>
            <a:pPr indent="0" marL="0">
              <a:buNone/>
            </a:pPr>
            <a:r>
              <a:rPr lang="en-US" sz="1800" b="1" dirty="0">
                <a:solidFill>
                  <a:schemeClr val="tx2"/>
                </a:solidFill>
              </a:rPr>
              <a:t>Cómo leer esta ficha</a:t>
            </a:r>
            <a:endParaRPr lang="en-US" sz="1800" dirty="0"/>
          </a:p>
        </p:txBody>
      </p:sp>
      <p:sp>
        <p:nvSpPr>
          <p:cNvPr id="18" name="tag-evidencia"/>
          <p:cNvSpPr txBox="1"/>
          <p:nvPr/>
        </p:nvSpPr>
        <p:spPr>
          <a:xfrm>
            <a:off x="8001000" y="237744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9" name="Text 13"/>
          <p:cNvSpPr txBox="1"/>
          <p:nvPr/>
        </p:nvSpPr>
        <p:spPr>
          <a:xfrm>
            <a:off x="8001000" y="2706624"/>
            <a:ext cx="3429000" cy="566928"/>
          </a:xfrm>
          <a:prstGeom prst="rect">
            <a:avLst/>
          </a:prstGeom>
          <a:noFill/>
          <a:ln/>
        </p:spPr>
        <p:txBody>
          <a:bodyPr wrap="square" lIns="0" tIns="0" rIns="0" bIns="0" rtlCol="0" anchor="t"/>
          <a:lstStyle/>
          <a:p>
            <a:pPr indent="0" marL="0">
              <a:buNone/>
            </a:pPr>
            <a:r>
              <a:rPr lang="en-US" sz="1400" dirty="0">
                <a:solidFill>
                  <a:schemeClr val="tx1"/>
                </a:solidFill>
              </a:rPr>
              <a:t>Dato tomado de una fuente citada, con fecha de consulta.</a:t>
            </a:r>
            <a:endParaRPr lang="en-US" sz="1400" dirty="0"/>
          </a:p>
        </p:txBody>
      </p:sp>
      <p:sp>
        <p:nvSpPr>
          <p:cNvPr id="20" name="tag-interpretación"/>
          <p:cNvSpPr txBox="1"/>
          <p:nvPr/>
        </p:nvSpPr>
        <p:spPr>
          <a:xfrm>
            <a:off x="8001000" y="3401568"/>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21" name="Text 15"/>
          <p:cNvSpPr txBox="1"/>
          <p:nvPr/>
        </p:nvSpPr>
        <p:spPr>
          <a:xfrm>
            <a:off x="8001000" y="3730752"/>
            <a:ext cx="3429000" cy="566928"/>
          </a:xfrm>
          <a:prstGeom prst="rect">
            <a:avLst/>
          </a:prstGeom>
          <a:noFill/>
          <a:ln/>
        </p:spPr>
        <p:txBody>
          <a:bodyPr wrap="square" lIns="0" tIns="0" rIns="0" bIns="0" rtlCol="0" anchor="t"/>
          <a:lstStyle/>
          <a:p>
            <a:pPr indent="0" marL="0">
              <a:buNone/>
            </a:pPr>
            <a:r>
              <a:rPr lang="en-US" sz="1400" dirty="0">
                <a:solidFill>
                  <a:schemeClr val="tx1"/>
                </a:solidFill>
              </a:rPr>
              <a:t>Conclusión propia construida a partir de la evidencia.</a:t>
            </a:r>
            <a:endParaRPr lang="en-US" sz="1400" dirty="0"/>
          </a:p>
        </p:txBody>
      </p:sp>
      <p:sp>
        <p:nvSpPr>
          <p:cNvPr id="22" name="tag-pendiente"/>
          <p:cNvSpPr txBox="1"/>
          <p:nvPr/>
        </p:nvSpPr>
        <p:spPr>
          <a:xfrm>
            <a:off x="8001000" y="4425696"/>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23" name="Text 17"/>
          <p:cNvSpPr txBox="1"/>
          <p:nvPr/>
        </p:nvSpPr>
        <p:spPr>
          <a:xfrm>
            <a:off x="8001000" y="4754880"/>
            <a:ext cx="3429000" cy="566928"/>
          </a:xfrm>
          <a:prstGeom prst="rect">
            <a:avLst/>
          </a:prstGeom>
          <a:noFill/>
          <a:ln/>
        </p:spPr>
        <p:txBody>
          <a:bodyPr wrap="square" lIns="0" tIns="0" rIns="0" bIns="0" rtlCol="0" anchor="t"/>
          <a:lstStyle/>
          <a:p>
            <a:pPr indent="0" marL="0">
              <a:buNone/>
            </a:pPr>
            <a:r>
              <a:rPr lang="en-US" sz="1400" dirty="0">
                <a:solidFill>
                  <a:schemeClr val="tx1"/>
                </a:solidFill>
              </a:rPr>
              <a:t>Dato por confirmar en la fuente oficial antes de decidir.</a:t>
            </a:r>
            <a:endParaRPr lang="en-US" sz="1400" dirty="0"/>
          </a:p>
        </p:txBody>
      </p:sp>
      <p:sp>
        <p:nvSpPr>
          <p:cNvPr id="24"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DataMéxico (SE), 2024; Tridge con datos de ITC Trade Map, 2024; USITC HTS 2026; USTR (Sección 301, vigente desde el 24-jul-2026); FDA, 21 CFR 108 y 114.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Producto y cumplimiento · Describir</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Salsa picante de chile, acidificada y embotellada</a:t>
            </a:r>
            <a:endParaRPr lang="en-US" sz="3200" dirty="0"/>
          </a:p>
        </p:txBody>
      </p:sp>
      <p:graphicFrame>
        <p:nvGraphicFramePr>
          <p:cNvPr id="4" name="ficha-producto"/>
          <p:cNvGraphicFramePr>
            <a:graphicFrameLocks noGrp="1"/>
          </p:cNvGraphicFramePr>
          <p:nvPr>
            <p:extLst>
              <p:ext uri="{D42A27DB-BD31-4B8C-83A1-F6EECF244321}">
                <p14:modId xmlns:p14="http://schemas.microsoft.com/office/powerpoint/2010/main" val="1579011935"/>
              </p:ext>
            </p:extLst>
          </p:nvPr>
        </p:nvGraphicFramePr>
        <p:xfrm>
          <a:off x="548640" y="1600200"/>
          <a:ext cx="7040880" cy="914400"/>
        </p:xfrm>
        <a:graphic>
          <a:graphicData uri="http://schemas.openxmlformats.org/drawingml/2006/table">
            <a:tbl>
              <a:tblPr/>
              <a:tblGrid>
                <a:gridCol w="1691640"/>
                <a:gridCol w="5349240"/>
              </a:tblGrid>
              <a:tr h="566928">
                <a:tc>
                  <a:txBody>
                    <a:bodyPr/>
                    <a:lstStyle/>
                    <a:p>
                      <a:pPr indent="0" marL="0">
                        <a:buNone/>
                      </a:pPr>
                      <a:r>
                        <a:rPr lang="en-US" sz="1400" b="1" dirty="0">
                          <a:solidFill>
                            <a:schemeClr val="tx2"/>
                          </a:solidFill>
                        </a:rPr>
                        <a:t>Producto</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Salsa picante mexicana de mesa a base de chile (de árbol y guajillo), sin tomate</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400" b="1" dirty="0">
                          <a:solidFill>
                            <a:schemeClr val="tx2"/>
                          </a:solidFill>
                        </a:rPr>
                        <a:t>Ingredientes</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Agua, chile seco, vinagre, sal, ajo y especias; benzoato de sodio (conservador) y goma xantana</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400" b="1" dirty="0">
                          <a:solidFill>
                            <a:schemeClr val="tx2"/>
                          </a:solidFill>
                        </a:rPr>
                        <a:t>Elaboración</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Hidratación y molienda del chile → cocción → ajuste de acidez (pH ≤ 4.6) → llenado en caliente → enfriado</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400" b="1" dirty="0">
                          <a:solidFill>
                            <a:schemeClr val="tx2"/>
                          </a:solidFill>
                        </a:rPr>
                        <a:t>Presentación</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Botella de vidrio de 150 ml con tapa dosificadora; caja de 24 piezas</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400" b="1" dirty="0">
                          <a:solidFill>
                            <a:schemeClr val="tx2"/>
                          </a:solidFill>
                        </a:rPr>
                        <a:t>Vida de anaquel</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12 a 18 meses a temperatura ambiente (validar con estudio de estabilidad)</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566928">
                <a:tc>
                  <a:txBody>
                    <a:bodyPr/>
                    <a:lstStyle/>
                    <a:p>
                      <a:pPr indent="0" marL="0">
                        <a:buNone/>
                      </a:pPr>
                      <a:r>
                        <a:rPr lang="en-US" sz="1400" b="1" dirty="0">
                          <a:solidFill>
                            <a:schemeClr val="tx2"/>
                          </a:solidFill>
                        </a:rPr>
                        <a:t>Dato decisivo</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La base es chile, no tomate: eso define la subpartida (ver Nivel 3)</a:t>
                      </a:r>
                      <a:endParaRPr lang="en-US" sz="1400" dirty="0"/>
                    </a:p>
                  </a:txBody>
                  <a:tcPr marL="109728" marR="109728"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5" name="tag-interpretación"/>
          <p:cNvSpPr txBox="1"/>
          <p:nvPr/>
        </p:nvSpPr>
        <p:spPr>
          <a:xfrm>
            <a:off x="548640" y="544068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6" name="Text 3"/>
          <p:cNvSpPr txBox="1"/>
          <p:nvPr/>
        </p:nvSpPr>
        <p:spPr>
          <a:xfrm>
            <a:off x="2011680" y="5413248"/>
            <a:ext cx="5577840" cy="301752"/>
          </a:xfrm>
          <a:prstGeom prst="rect">
            <a:avLst/>
          </a:prstGeom>
          <a:noFill/>
          <a:ln/>
        </p:spPr>
        <p:txBody>
          <a:bodyPr wrap="square" lIns="0" tIns="0" rIns="0" bIns="0" rtlCol="0" anchor="ctr"/>
          <a:lstStyle/>
          <a:p>
            <a:pPr indent="0" marL="0">
              <a:buNone/>
            </a:pPr>
            <a:r>
              <a:rPr lang="en-US" sz="1200" i="1" dirty="0">
                <a:solidFill>
                  <a:schemeClr val="accent6"/>
                </a:solidFill>
              </a:rPr>
              <a:t>Composición tipo de la categoría; ajustarla a la etiqueta del producto observado.</a:t>
            </a:r>
            <a:endParaRPr lang="en-US" sz="1200" dirty="0"/>
          </a:p>
        </p:txBody>
      </p:sp>
      <p:sp>
        <p:nvSpPr>
          <p:cNvPr id="7" name="origen"/>
          <p:cNvSpPr/>
          <p:nvPr/>
        </p:nvSpPr>
        <p:spPr>
          <a:xfrm>
            <a:off x="8001000" y="1600200"/>
            <a:ext cx="3639312" cy="2514600"/>
          </a:xfrm>
          <a:prstGeom prst="rect">
            <a:avLst/>
          </a:prstGeom>
          <a:solidFill>
            <a:schemeClr val="accent5"/>
          </a:solidFill>
          <a:ln w="12700">
            <a:solidFill>
              <a:schemeClr val="accent5"/>
            </a:solidFill>
            <a:prstDash val="solid"/>
          </a:ln>
        </p:spPr>
      </p:sp>
      <p:sp>
        <p:nvSpPr>
          <p:cNvPr id="8" name="icono-fondo"/>
          <p:cNvSpPr/>
          <p:nvPr/>
        </p:nvSpPr>
        <p:spPr>
          <a:xfrm>
            <a:off x="8183880" y="1783080"/>
            <a:ext cx="548640" cy="548640"/>
          </a:xfrm>
          <a:prstGeom prst="ellipse">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8321040" y="1920240"/>
            <a:ext cx="274320" cy="274320"/>
          </a:xfrm>
          <a:prstGeom prst="rect">
            <a:avLst/>
          </a:prstGeom>
        </p:spPr>
      </p:pic>
      <p:sp>
        <p:nvSpPr>
          <p:cNvPr id="10" name="Text 6"/>
          <p:cNvSpPr txBox="1"/>
          <p:nvPr/>
        </p:nvSpPr>
        <p:spPr>
          <a:xfrm>
            <a:off x="8869680" y="1874520"/>
            <a:ext cx="2651760" cy="365760"/>
          </a:xfrm>
          <a:prstGeom prst="rect">
            <a:avLst/>
          </a:prstGeom>
          <a:noFill/>
          <a:ln/>
        </p:spPr>
        <p:txBody>
          <a:bodyPr wrap="square" lIns="0" tIns="0" rIns="0" bIns="0" rtlCol="0" anchor="ctr"/>
          <a:lstStyle/>
          <a:p>
            <a:pPr indent="0" marL="0">
              <a:buNone/>
            </a:pPr>
            <a:r>
              <a:rPr lang="en-US" sz="1700" b="1" dirty="0">
                <a:solidFill>
                  <a:schemeClr val="tx2"/>
                </a:solidFill>
              </a:rPr>
              <a:t>Dónde se observó</a:t>
            </a:r>
            <a:endParaRPr lang="en-US" sz="1700" dirty="0"/>
          </a:p>
        </p:txBody>
      </p:sp>
      <p:sp>
        <p:nvSpPr>
          <p:cNvPr id="11" name="Text 7"/>
          <p:cNvSpPr txBox="1"/>
          <p:nvPr/>
        </p:nvSpPr>
        <p:spPr>
          <a:xfrm>
            <a:off x="8183880" y="2423160"/>
            <a:ext cx="3291840" cy="1280160"/>
          </a:xfrm>
          <a:prstGeom prst="rect">
            <a:avLst/>
          </a:prstGeom>
          <a:noFill/>
          <a:ln/>
        </p:spPr>
        <p:txBody>
          <a:bodyPr wrap="square" lIns="0" tIns="0" rIns="0" bIns="0" rtlCol="0" anchor="t"/>
          <a:lstStyle/>
          <a:p>
            <a:pPr indent="0" marL="0">
              <a:buNone/>
            </a:pPr>
            <a:r>
              <a:rPr lang="en-US" sz="1400" dirty="0">
                <a:solidFill>
                  <a:schemeClr val="tx1"/>
                </a:solidFill>
              </a:rPr>
              <a:t>SIAL París 2026 (17–21 oct., Paris Nord Villepinte). La delegación de 10 empresas de Querétaro llevó mole, café, salsas, tortillas, cacao y vinos.</a:t>
            </a:r>
            <a:endParaRPr lang="en-US" sz="1400" dirty="0"/>
          </a:p>
        </p:txBody>
      </p:sp>
      <p:sp>
        <p:nvSpPr>
          <p:cNvPr id="12" name="tag-evidencia"/>
          <p:cNvSpPr txBox="1"/>
          <p:nvPr/>
        </p:nvSpPr>
        <p:spPr>
          <a:xfrm>
            <a:off x="8183880" y="374904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3" name="pendiente-marca"/>
          <p:cNvSpPr/>
          <p:nvPr/>
        </p:nvSpPr>
        <p:spPr>
          <a:xfrm>
            <a:off x="8001000" y="4297680"/>
            <a:ext cx="3639312" cy="1417320"/>
          </a:xfrm>
          <a:prstGeom prst="rect">
            <a:avLst/>
          </a:prstGeom>
          <a:solidFill>
            <a:schemeClr val="bg2"/>
          </a:solidFill>
          <a:ln w="12700">
            <a:solidFill>
              <a:schemeClr val="bg2"/>
            </a:solidFill>
            <a:prstDash val="solid"/>
          </a:ln>
        </p:spPr>
      </p:sp>
      <p:sp>
        <p:nvSpPr>
          <p:cNvPr id="14" name="Text 10"/>
          <p:cNvSpPr txBox="1"/>
          <p:nvPr/>
        </p:nvSpPr>
        <p:spPr>
          <a:xfrm>
            <a:off x="8183880" y="4434840"/>
            <a:ext cx="3291840" cy="822960"/>
          </a:xfrm>
          <a:prstGeom prst="rect">
            <a:avLst/>
          </a:prstGeom>
          <a:noFill/>
          <a:ln/>
        </p:spPr>
        <p:txBody>
          <a:bodyPr wrap="square" lIns="0" tIns="0" rIns="0" bIns="0" rtlCol="0" anchor="t"/>
          <a:lstStyle/>
          <a:p>
            <a:pPr indent="0" marL="0">
              <a:buNone/>
            </a:pPr>
            <a:r>
              <a:rPr lang="en-US" sz="1400" dirty="0">
                <a:solidFill>
                  <a:schemeClr val="tx1"/>
                </a:solidFill>
              </a:rPr>
              <a:t>Completar la marca, el expositor y la composición exacta con la etiqueta del producto del video.</a:t>
            </a:r>
            <a:endParaRPr lang="en-US" sz="1400" dirty="0"/>
          </a:p>
        </p:txBody>
      </p:sp>
      <p:sp>
        <p:nvSpPr>
          <p:cNvPr id="15" name="tag-pendiente"/>
          <p:cNvSpPr txBox="1"/>
          <p:nvPr/>
        </p:nvSpPr>
        <p:spPr>
          <a:xfrm>
            <a:off x="8183880" y="5330952"/>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6"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Yahoo Noticias y La Región, «Empresas de Querétaro expondrán en la feria agroalimentaria de París», 7-oct-2026; SIAL Paris (fechas y sede).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Dimensión cualitativa · Observar y comparar</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En el anaquel gana la intensidad con origen</a:t>
            </a:r>
            <a:endParaRPr lang="en-US" sz="3200" dirty="0"/>
          </a:p>
        </p:txBody>
      </p:sp>
      <p:sp>
        <p:nvSpPr>
          <p:cNvPr id="4" name="tarjeta"/>
          <p:cNvSpPr/>
          <p:nvPr/>
        </p:nvSpPr>
        <p:spPr>
          <a:xfrm>
            <a:off x="548640" y="1600200"/>
            <a:ext cx="3520440" cy="2697480"/>
          </a:xfrm>
          <a:prstGeom prst="rect">
            <a:avLst/>
          </a:prstGeom>
          <a:solidFill>
            <a:schemeClr val="bg2"/>
          </a:solidFill>
          <a:ln w="12700">
            <a:solidFill>
              <a:schemeClr val="bg2"/>
            </a:solidFill>
            <a:prstDash val="solid"/>
          </a:ln>
        </p:spPr>
      </p:sp>
      <p:sp>
        <p:nvSpPr>
          <p:cNvPr id="5" name="icono-fondo"/>
          <p:cNvSpPr/>
          <p:nvPr/>
        </p:nvSpPr>
        <p:spPr>
          <a:xfrm>
            <a:off x="777240" y="1783080"/>
            <a:ext cx="548640" cy="548640"/>
          </a:xfrm>
          <a:prstGeom prst="ellipse">
            <a:avLst/>
          </a:prstGeom>
          <a:solidFill>
            <a:schemeClr val="accent4"/>
          </a:solidFill>
          <a:ln w="12700">
            <a:solidFill>
              <a:schemeClr val="accent4"/>
            </a:solidFill>
            <a:prstDash val="solid"/>
          </a:ln>
        </p:spPr>
      </p:sp>
      <p:pic>
        <p:nvPicPr>
          <p:cNvPr id="6" name="icono" descr="preencoded.png">    </p:cNvPr>
          <p:cNvPicPr>
            <a:picLocks noChangeAspect="1"/>
          </p:cNvPicPr>
          <p:nvPr/>
        </p:nvPicPr>
        <p:blipFill>
          <a:blip r:embed="rId1"/>
          <a:stretch>
            <a:fillRect/>
          </a:stretch>
        </p:blipFill>
        <p:spPr>
          <a:xfrm>
            <a:off x="914400" y="1920240"/>
            <a:ext cx="274320" cy="274320"/>
          </a:xfrm>
          <a:prstGeom prst="rect">
            <a:avLst/>
          </a:prstGeom>
        </p:spPr>
      </p:pic>
      <p:sp>
        <p:nvSpPr>
          <p:cNvPr id="7" name="Text 4"/>
          <p:cNvSpPr txBox="1"/>
          <p:nvPr/>
        </p:nvSpPr>
        <p:spPr>
          <a:xfrm>
            <a:off x="146304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Cumplimiento</a:t>
            </a:r>
            <a:endParaRPr lang="en-US" sz="1700" dirty="0"/>
          </a:p>
        </p:txBody>
      </p:sp>
      <p:sp>
        <p:nvSpPr>
          <p:cNvPr id="8" name="Text 5"/>
          <p:cNvSpPr txBox="1"/>
          <p:nvPr/>
        </p:nvSpPr>
        <p:spPr>
          <a:xfrm>
            <a:off x="777240" y="2468880"/>
            <a:ext cx="3108960" cy="1371600"/>
          </a:xfrm>
          <a:prstGeom prst="rect">
            <a:avLst/>
          </a:prstGeom>
          <a:noFill/>
          <a:ln/>
        </p:spPr>
        <p:txBody>
          <a:bodyPr wrap="square" lIns="0" tIns="0" rIns="0" bIns="0" rtlCol="0" anchor="t"/>
          <a:lstStyle/>
          <a:p>
            <a:pPr indent="0" marL="0">
              <a:buNone/>
            </a:pPr>
            <a:r>
              <a:rPr lang="en-US" sz="1400" dirty="0">
                <a:solidFill>
                  <a:schemeClr val="tx1"/>
                </a:solidFill>
              </a:rPr>
              <a:t>La etiqueta se diseña para el país destino: la NOM-051 solo rige lo que se vende en México. Inglés para EE. UU.; idioma local en la UE.</a:t>
            </a:r>
            <a:endParaRPr lang="en-US" sz="1400" dirty="0"/>
          </a:p>
        </p:txBody>
      </p:sp>
      <p:sp>
        <p:nvSpPr>
          <p:cNvPr id="9" name="tag-interpretación"/>
          <p:cNvSpPr txBox="1"/>
          <p:nvPr/>
        </p:nvSpPr>
        <p:spPr>
          <a:xfrm>
            <a:off x="777240" y="3904488"/>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10" name="tarjeta"/>
          <p:cNvSpPr/>
          <p:nvPr/>
        </p:nvSpPr>
        <p:spPr>
          <a:xfrm>
            <a:off x="4343400" y="1600200"/>
            <a:ext cx="3520440" cy="2697480"/>
          </a:xfrm>
          <a:prstGeom prst="rect">
            <a:avLst/>
          </a:prstGeom>
          <a:solidFill>
            <a:schemeClr val="bg2"/>
          </a:solidFill>
          <a:ln w="12700">
            <a:solidFill>
              <a:schemeClr val="bg2"/>
            </a:solidFill>
            <a:prstDash val="solid"/>
          </a:ln>
        </p:spPr>
      </p:sp>
      <p:sp>
        <p:nvSpPr>
          <p:cNvPr id="11" name="icono-fondo"/>
          <p:cNvSpPr/>
          <p:nvPr/>
        </p:nvSpPr>
        <p:spPr>
          <a:xfrm>
            <a:off x="4572000" y="1783080"/>
            <a:ext cx="548640" cy="548640"/>
          </a:xfrm>
          <a:prstGeom prst="ellipse">
            <a:avLst/>
          </a:prstGeom>
          <a:solidFill>
            <a:schemeClr val="accent4"/>
          </a:solidFill>
          <a:ln w="12700">
            <a:solidFill>
              <a:schemeClr val="accent4"/>
            </a:solidFill>
            <a:prstDash val="solid"/>
          </a:ln>
        </p:spPr>
      </p:sp>
      <p:pic>
        <p:nvPicPr>
          <p:cNvPr id="12" name="icono" descr="preencoded.png">    </p:cNvPr>
          <p:cNvPicPr>
            <a:picLocks noChangeAspect="1"/>
          </p:cNvPicPr>
          <p:nvPr/>
        </p:nvPicPr>
        <p:blipFill>
          <a:blip r:embed="rId2"/>
          <a:stretch>
            <a:fillRect/>
          </a:stretch>
        </p:blipFill>
        <p:spPr>
          <a:xfrm>
            <a:off x="4709160" y="1920240"/>
            <a:ext cx="274320" cy="274320"/>
          </a:xfrm>
          <a:prstGeom prst="rect">
            <a:avLst/>
          </a:prstGeom>
        </p:spPr>
      </p:pic>
      <p:sp>
        <p:nvSpPr>
          <p:cNvPr id="13" name="Text 9"/>
          <p:cNvSpPr txBox="1"/>
          <p:nvPr/>
        </p:nvSpPr>
        <p:spPr>
          <a:xfrm>
            <a:off x="525780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Diseño, empaque y etiqueta</a:t>
            </a:r>
            <a:endParaRPr lang="en-US" sz="1700" dirty="0"/>
          </a:p>
        </p:txBody>
      </p:sp>
      <p:sp>
        <p:nvSpPr>
          <p:cNvPr id="14" name="Text 10"/>
          <p:cNvSpPr txBox="1"/>
          <p:nvPr/>
        </p:nvSpPr>
        <p:spPr>
          <a:xfrm>
            <a:off x="4572000" y="2468880"/>
            <a:ext cx="3108960" cy="1371600"/>
          </a:xfrm>
          <a:prstGeom prst="rect">
            <a:avLst/>
          </a:prstGeom>
          <a:noFill/>
          <a:ln/>
        </p:spPr>
        <p:txBody>
          <a:bodyPr wrap="square" lIns="0" tIns="0" rIns="0" bIns="0" rtlCol="0" anchor="t"/>
          <a:lstStyle/>
          <a:p>
            <a:pPr indent="0" marL="0">
              <a:buNone/>
            </a:pPr>
            <a:r>
              <a:rPr lang="en-US" sz="1400" dirty="0">
                <a:solidFill>
                  <a:schemeClr val="tx1"/>
                </a:solidFill>
              </a:rPr>
              <a:t>Vidrio transparente que muestre el color del chile, escala de picor visible, historia de origen y código de barras GS1.</a:t>
            </a:r>
            <a:endParaRPr lang="en-US" sz="1400" dirty="0"/>
          </a:p>
        </p:txBody>
      </p:sp>
      <p:sp>
        <p:nvSpPr>
          <p:cNvPr id="15" name="tag-interpretación"/>
          <p:cNvSpPr txBox="1"/>
          <p:nvPr/>
        </p:nvSpPr>
        <p:spPr>
          <a:xfrm>
            <a:off x="4572000" y="3904488"/>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16" name="tarjeta"/>
          <p:cNvSpPr/>
          <p:nvPr/>
        </p:nvSpPr>
        <p:spPr>
          <a:xfrm>
            <a:off x="8138160" y="1600200"/>
            <a:ext cx="3520440" cy="2697480"/>
          </a:xfrm>
          <a:prstGeom prst="rect">
            <a:avLst/>
          </a:prstGeom>
          <a:solidFill>
            <a:schemeClr val="bg2"/>
          </a:solidFill>
          <a:ln w="12700">
            <a:solidFill>
              <a:schemeClr val="bg2"/>
            </a:solidFill>
            <a:prstDash val="solid"/>
          </a:ln>
        </p:spPr>
      </p:sp>
      <p:sp>
        <p:nvSpPr>
          <p:cNvPr id="17" name="icono-fondo"/>
          <p:cNvSpPr/>
          <p:nvPr/>
        </p:nvSpPr>
        <p:spPr>
          <a:xfrm>
            <a:off x="8366760" y="1783080"/>
            <a:ext cx="548640" cy="548640"/>
          </a:xfrm>
          <a:prstGeom prst="ellipse">
            <a:avLst/>
          </a:prstGeom>
          <a:solidFill>
            <a:schemeClr val="accent4"/>
          </a:solidFill>
          <a:ln w="12700">
            <a:solidFill>
              <a:schemeClr val="accent4"/>
            </a:solidFill>
            <a:prstDash val="solid"/>
          </a:ln>
        </p:spPr>
      </p:sp>
      <p:pic>
        <p:nvPicPr>
          <p:cNvPr id="18" name="icono" descr="preencoded.png">    </p:cNvPr>
          <p:cNvPicPr>
            <a:picLocks noChangeAspect="1"/>
          </p:cNvPicPr>
          <p:nvPr/>
        </p:nvPicPr>
        <p:blipFill>
          <a:blip r:embed="rId3"/>
          <a:stretch>
            <a:fillRect/>
          </a:stretch>
        </p:blipFill>
        <p:spPr>
          <a:xfrm>
            <a:off x="8503920" y="1920240"/>
            <a:ext cx="274320" cy="274320"/>
          </a:xfrm>
          <a:prstGeom prst="rect">
            <a:avLst/>
          </a:prstGeom>
        </p:spPr>
      </p:pic>
      <p:sp>
        <p:nvSpPr>
          <p:cNvPr id="19" name="Text 14"/>
          <p:cNvSpPr txBox="1"/>
          <p:nvPr/>
        </p:nvSpPr>
        <p:spPr>
          <a:xfrm>
            <a:off x="905256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Diferenciación en SIAL</a:t>
            </a:r>
            <a:endParaRPr lang="en-US" sz="1700" dirty="0"/>
          </a:p>
        </p:txBody>
      </p:sp>
      <p:sp>
        <p:nvSpPr>
          <p:cNvPr id="20" name="Text 15"/>
          <p:cNvSpPr txBox="1"/>
          <p:nvPr/>
        </p:nvSpPr>
        <p:spPr>
          <a:xfrm>
            <a:off x="8366760" y="2468880"/>
            <a:ext cx="3108960" cy="1371600"/>
          </a:xfrm>
          <a:prstGeom prst="rect">
            <a:avLst/>
          </a:prstGeom>
          <a:noFill/>
          <a:ln/>
        </p:spPr>
        <p:txBody>
          <a:bodyPr wrap="square" lIns="0" tIns="0" rIns="0" bIns="0" rtlCol="0" anchor="t"/>
          <a:lstStyle/>
          <a:p>
            <a:pPr indent="0" marL="0">
              <a:buNone/>
            </a:pPr>
            <a:r>
              <a:rPr lang="en-US" sz="1400" dirty="0">
                <a:solidFill>
                  <a:schemeClr val="tx1"/>
                </a:solidFill>
              </a:rPr>
              <a:t>SIAL Insights 2026: los sabores atrevidos y la intensidad mueven la innovación. Se eligieron 775 productos de más de 2,750 candidaturas.</a:t>
            </a:r>
            <a:endParaRPr lang="en-US" sz="1400" dirty="0"/>
          </a:p>
        </p:txBody>
      </p:sp>
      <p:sp>
        <p:nvSpPr>
          <p:cNvPr id="21" name="tag-evidencia"/>
          <p:cNvSpPr txBox="1"/>
          <p:nvPr/>
        </p:nvSpPr>
        <p:spPr>
          <a:xfrm>
            <a:off x="8366760" y="3904488"/>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22" name="Text 17"/>
          <p:cNvSpPr txBox="1"/>
          <p:nvPr/>
        </p:nvSpPr>
        <p:spPr>
          <a:xfrm>
            <a:off x="548640" y="4526280"/>
            <a:ext cx="3520440" cy="640080"/>
          </a:xfrm>
          <a:prstGeom prst="rect">
            <a:avLst/>
          </a:prstGeom>
          <a:noFill/>
          <a:ln/>
        </p:spPr>
        <p:txBody>
          <a:bodyPr wrap="square" lIns="0" tIns="0" rIns="0" bIns="0" rtlCol="0" anchor="ctr"/>
          <a:lstStyle/>
          <a:p>
            <a:pPr indent="0" marL="0">
              <a:buNone/>
            </a:pPr>
            <a:r>
              <a:rPr lang="en-US" sz="3600" b="1" dirty="0">
                <a:solidFill>
                  <a:schemeClr val="accent1"/>
                </a:solidFill>
              </a:rPr>
              <a:t>40.1%</a:t>
            </a:r>
            <a:endParaRPr lang="en-US" sz="3600" dirty="0"/>
          </a:p>
        </p:txBody>
      </p:sp>
      <p:sp>
        <p:nvSpPr>
          <p:cNvPr id="23" name="Text 18"/>
          <p:cNvSpPr txBox="1"/>
          <p:nvPr/>
        </p:nvSpPr>
        <p:spPr>
          <a:xfrm>
            <a:off x="548640" y="5166360"/>
            <a:ext cx="3520440" cy="548640"/>
          </a:xfrm>
          <a:prstGeom prst="rect">
            <a:avLst/>
          </a:prstGeom>
          <a:noFill/>
          <a:ln/>
        </p:spPr>
        <p:txBody>
          <a:bodyPr wrap="square" lIns="0" tIns="0" rIns="0" bIns="0" rtlCol="0" anchor="t"/>
          <a:lstStyle/>
          <a:p>
            <a:pPr indent="0" marL="0">
              <a:buNone/>
            </a:pPr>
            <a:r>
              <a:rPr lang="en-US" sz="1400" dirty="0">
                <a:solidFill>
                  <a:schemeClr val="tx1"/>
                </a:solidFill>
              </a:rPr>
              <a:t>de la salsa picante vendida en Europa es de estilo mexicano (estimación 2025)</a:t>
            </a:r>
            <a:endParaRPr lang="en-US" sz="1400" dirty="0"/>
          </a:p>
        </p:txBody>
      </p:sp>
      <p:sp>
        <p:nvSpPr>
          <p:cNvPr id="24" name="Text 19"/>
          <p:cNvSpPr txBox="1"/>
          <p:nvPr/>
        </p:nvSpPr>
        <p:spPr>
          <a:xfrm>
            <a:off x="4343400" y="4526280"/>
            <a:ext cx="3520440" cy="640080"/>
          </a:xfrm>
          <a:prstGeom prst="rect">
            <a:avLst/>
          </a:prstGeom>
          <a:noFill/>
          <a:ln/>
        </p:spPr>
        <p:txBody>
          <a:bodyPr wrap="square" lIns="0" tIns="0" rIns="0" bIns="0" rtlCol="0" anchor="ctr"/>
          <a:lstStyle/>
          <a:p>
            <a:pPr indent="0" marL="0">
              <a:buNone/>
            </a:pPr>
            <a:r>
              <a:rPr lang="en-US" sz="3600" b="1" dirty="0">
                <a:solidFill>
                  <a:schemeClr val="accent1"/>
                </a:solidFill>
              </a:rPr>
              <a:t>65%</a:t>
            </a:r>
            <a:endParaRPr lang="en-US" sz="3600" dirty="0"/>
          </a:p>
        </p:txBody>
      </p:sp>
      <p:sp>
        <p:nvSpPr>
          <p:cNvPr id="25" name="Text 20"/>
          <p:cNvSpPr txBox="1"/>
          <p:nvPr/>
        </p:nvSpPr>
        <p:spPr>
          <a:xfrm>
            <a:off x="4343400" y="5166360"/>
            <a:ext cx="3520440" cy="548640"/>
          </a:xfrm>
          <a:prstGeom prst="rect">
            <a:avLst/>
          </a:prstGeom>
          <a:noFill/>
          <a:ln/>
        </p:spPr>
        <p:txBody>
          <a:bodyPr wrap="square" lIns="0" tIns="0" rIns="0" bIns="0" rtlCol="0" anchor="t"/>
          <a:lstStyle/>
          <a:p>
            <a:pPr indent="0" marL="0">
              <a:buNone/>
            </a:pPr>
            <a:r>
              <a:rPr lang="en-US" sz="1400" dirty="0">
                <a:solidFill>
                  <a:schemeClr val="tx1"/>
                </a:solidFill>
              </a:rPr>
              <a:t>de los consumidores come más picante que hace un año (Kalsec, 2024, ~6,000 personas)</a:t>
            </a:r>
            <a:endParaRPr lang="en-US" sz="1400" dirty="0"/>
          </a:p>
        </p:txBody>
      </p:sp>
      <p:sp>
        <p:nvSpPr>
          <p:cNvPr id="26" name="Text 21"/>
          <p:cNvSpPr txBox="1"/>
          <p:nvPr/>
        </p:nvSpPr>
        <p:spPr>
          <a:xfrm>
            <a:off x="8138160" y="4526280"/>
            <a:ext cx="3520440" cy="640080"/>
          </a:xfrm>
          <a:prstGeom prst="rect">
            <a:avLst/>
          </a:prstGeom>
          <a:noFill/>
          <a:ln/>
        </p:spPr>
        <p:txBody>
          <a:bodyPr wrap="square" lIns="0" tIns="0" rIns="0" bIns="0" rtlCol="0" anchor="ctr"/>
          <a:lstStyle/>
          <a:p>
            <a:pPr indent="0" marL="0">
              <a:buNone/>
            </a:pPr>
            <a:r>
              <a:rPr lang="en-US" sz="3600" b="1" dirty="0">
                <a:solidFill>
                  <a:schemeClr val="accent1"/>
                </a:solidFill>
              </a:rPr>
              <a:t>«Swicy»</a:t>
            </a:r>
            <a:endParaRPr lang="en-US" sz="3600" dirty="0"/>
          </a:p>
        </p:txBody>
      </p:sp>
      <p:sp>
        <p:nvSpPr>
          <p:cNvPr id="27" name="Text 22"/>
          <p:cNvSpPr txBox="1"/>
          <p:nvPr/>
        </p:nvSpPr>
        <p:spPr>
          <a:xfrm>
            <a:off x="8138160" y="5166360"/>
            <a:ext cx="3520440" cy="548640"/>
          </a:xfrm>
          <a:prstGeom prst="rect">
            <a:avLst/>
          </a:prstGeom>
          <a:noFill/>
          <a:ln/>
        </p:spPr>
        <p:txBody>
          <a:bodyPr wrap="square" lIns="0" tIns="0" rIns="0" bIns="0" rtlCol="0" anchor="t"/>
          <a:lstStyle/>
          <a:p>
            <a:pPr indent="0" marL="0">
              <a:buNone/>
            </a:pPr>
            <a:r>
              <a:rPr lang="en-US" sz="1400" dirty="0">
                <a:solidFill>
                  <a:schemeClr val="tx1"/>
                </a:solidFill>
              </a:rPr>
              <a:t>dulce + picante: perfil destacado para 2026 (Tastepoint by IFF)</a:t>
            </a:r>
            <a:endParaRPr lang="en-US" sz="1400" dirty="0"/>
          </a:p>
        </p:txBody>
      </p:sp>
      <p:sp>
        <p:nvSpPr>
          <p:cNvPr id="28" name="tag-evidencia"/>
          <p:cNvSpPr txBox="1"/>
          <p:nvPr/>
        </p:nvSpPr>
        <p:spPr>
          <a:xfrm>
            <a:off x="10607040" y="470916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29"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Empresa Exterior, «SIAL Paris 2026: tendencias…», oct-2026; Market Data Forecast, Europe Hot Sauce Market, 2025; Kalsec, «Beyond the Burn», 2024; FoodIngredientsFirst, «Tastepoint by IFF 2026 flavor trends».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 3 · SIICEX y TIGIE · Clasificar</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Fracción 2103.90.99: se clasifica por composición</a:t>
            </a:r>
            <a:endParaRPr lang="en-US" sz="3200" dirty="0"/>
          </a:p>
        </p:txBody>
      </p:sp>
      <p:sp>
        <p:nvSpPr>
          <p:cNvPr id="4" name="nivel-0"/>
          <p:cNvSpPr txBox="1"/>
          <p:nvPr/>
        </p:nvSpPr>
        <p:spPr>
          <a:xfrm>
            <a:off x="548640" y="1600200"/>
            <a:ext cx="5760720" cy="585216"/>
          </a:xfrm>
          <a:prstGeom prst="rect">
            <a:avLst/>
          </a:prstGeom>
          <a:solidFill>
            <a:schemeClr val="bg2"/>
          </a:solidFill>
          <a:ln>
            <a:solidFill>
              <a:schemeClr val="bg2"/>
            </a:solidFill>
          </a:ln>
        </p:spPr>
        <p:txBody>
          <a:bodyPr wrap="square" lIns="127000" tIns="0" rIns="127000" bIns="0" rtlCol="0" anchor="ctr"/>
          <a:lstStyle/>
          <a:p>
            <a:pPr indent="0" marL="0">
              <a:buNone/>
            </a:pPr>
            <a:r>
              <a:rPr lang="en-US" sz="1400" b="1" dirty="0">
                <a:solidFill>
                  <a:schemeClr val="tx2"/>
                </a:solidFill>
              </a:rPr>
              <a:t>Sección IV  </a:t>
            </a:r>
            <a:pPr indent="0" marL="0">
              <a:buNone/>
            </a:pPr>
            <a:r>
              <a:rPr lang="en-US" sz="1400" dirty="0">
                <a:solidFill>
                  <a:schemeClr val="tx1"/>
                </a:solidFill>
              </a:rPr>
              <a:t>Productos de las industrias alimentarias</a:t>
            </a:r>
            <a:endParaRPr lang="en-US" sz="1400" dirty="0"/>
          </a:p>
        </p:txBody>
      </p:sp>
      <p:sp>
        <p:nvSpPr>
          <p:cNvPr id="5" name="nivel-1"/>
          <p:cNvSpPr txBox="1"/>
          <p:nvPr/>
        </p:nvSpPr>
        <p:spPr>
          <a:xfrm>
            <a:off x="804672" y="2276856"/>
            <a:ext cx="5504688" cy="585216"/>
          </a:xfrm>
          <a:prstGeom prst="rect">
            <a:avLst/>
          </a:prstGeom>
          <a:solidFill>
            <a:schemeClr val="bg2"/>
          </a:solidFill>
          <a:ln>
            <a:solidFill>
              <a:schemeClr val="bg2"/>
            </a:solidFill>
          </a:ln>
        </p:spPr>
        <p:txBody>
          <a:bodyPr wrap="square" lIns="127000" tIns="0" rIns="127000" bIns="0" rtlCol="0" anchor="ctr"/>
          <a:lstStyle/>
          <a:p>
            <a:pPr indent="0" marL="0">
              <a:buNone/>
            </a:pPr>
            <a:r>
              <a:rPr lang="en-US" sz="1400" b="1" dirty="0">
                <a:solidFill>
                  <a:schemeClr val="tx2"/>
                </a:solidFill>
              </a:rPr>
              <a:t>Capítulo 21  </a:t>
            </a:r>
            <a:pPr indent="0" marL="0">
              <a:buNone/>
            </a:pPr>
            <a:r>
              <a:rPr lang="en-US" sz="1400" dirty="0">
                <a:solidFill>
                  <a:schemeClr val="tx1"/>
                </a:solidFill>
              </a:rPr>
              <a:t>Preparaciones alimenticias diversas</a:t>
            </a:r>
            <a:endParaRPr lang="en-US" sz="1400" dirty="0"/>
          </a:p>
        </p:txBody>
      </p:sp>
      <p:sp>
        <p:nvSpPr>
          <p:cNvPr id="6" name="nivel-2"/>
          <p:cNvSpPr txBox="1"/>
          <p:nvPr/>
        </p:nvSpPr>
        <p:spPr>
          <a:xfrm>
            <a:off x="1060704" y="2953512"/>
            <a:ext cx="5248656" cy="585216"/>
          </a:xfrm>
          <a:prstGeom prst="rect">
            <a:avLst/>
          </a:prstGeom>
          <a:solidFill>
            <a:schemeClr val="bg2"/>
          </a:solidFill>
          <a:ln>
            <a:solidFill>
              <a:schemeClr val="bg2"/>
            </a:solidFill>
          </a:ln>
        </p:spPr>
        <p:txBody>
          <a:bodyPr wrap="square" lIns="127000" tIns="0" rIns="127000" bIns="0" rtlCol="0" anchor="ctr"/>
          <a:lstStyle/>
          <a:p>
            <a:pPr indent="0" marL="0">
              <a:buNone/>
            </a:pPr>
            <a:r>
              <a:rPr lang="en-US" sz="1400" b="1" dirty="0">
                <a:solidFill>
                  <a:schemeClr val="tx2"/>
                </a:solidFill>
              </a:rPr>
              <a:t>Partida 21.03  </a:t>
            </a:r>
            <a:pPr indent="0" marL="0">
              <a:buNone/>
            </a:pPr>
            <a:r>
              <a:rPr lang="en-US" sz="1400" dirty="0">
                <a:solidFill>
                  <a:schemeClr val="tx1"/>
                </a:solidFill>
              </a:rPr>
              <a:t>Preparaciones para salsas y salsas preparadas; condimentos y sazonadores, compuestos</a:t>
            </a:r>
            <a:endParaRPr lang="en-US" sz="1400" dirty="0"/>
          </a:p>
        </p:txBody>
      </p:sp>
      <p:sp>
        <p:nvSpPr>
          <p:cNvPr id="7" name="nivel-3"/>
          <p:cNvSpPr txBox="1"/>
          <p:nvPr/>
        </p:nvSpPr>
        <p:spPr>
          <a:xfrm>
            <a:off x="1316736" y="3630168"/>
            <a:ext cx="4992624" cy="585216"/>
          </a:xfrm>
          <a:prstGeom prst="rect">
            <a:avLst/>
          </a:prstGeom>
          <a:solidFill>
            <a:schemeClr val="bg2"/>
          </a:solidFill>
          <a:ln>
            <a:solidFill>
              <a:schemeClr val="bg2"/>
            </a:solidFill>
          </a:ln>
        </p:spPr>
        <p:txBody>
          <a:bodyPr wrap="square" lIns="127000" tIns="0" rIns="127000" bIns="0" rtlCol="0" anchor="ctr"/>
          <a:lstStyle/>
          <a:p>
            <a:pPr indent="0" marL="0">
              <a:buNone/>
            </a:pPr>
            <a:r>
              <a:rPr lang="en-US" sz="1400" b="1" dirty="0">
                <a:solidFill>
                  <a:schemeClr val="tx2"/>
                </a:solidFill>
              </a:rPr>
              <a:t>Subpartida 2103.90  </a:t>
            </a:r>
            <a:pPr indent="0" marL="0">
              <a:buNone/>
            </a:pPr>
            <a:r>
              <a:rPr lang="en-US" sz="1400" dirty="0">
                <a:solidFill>
                  <a:schemeClr val="tx1"/>
                </a:solidFill>
              </a:rPr>
              <a:t>Los demás</a:t>
            </a:r>
            <a:endParaRPr lang="en-US" sz="1400" dirty="0"/>
          </a:p>
        </p:txBody>
      </p:sp>
      <p:sp>
        <p:nvSpPr>
          <p:cNvPr id="8" name="nivel-4"/>
          <p:cNvSpPr txBox="1"/>
          <p:nvPr/>
        </p:nvSpPr>
        <p:spPr>
          <a:xfrm>
            <a:off x="1572768" y="4306824"/>
            <a:ext cx="4736592" cy="585216"/>
          </a:xfrm>
          <a:prstGeom prst="rect">
            <a:avLst/>
          </a:prstGeom>
          <a:solidFill>
            <a:schemeClr val="accent1"/>
          </a:solidFill>
          <a:ln>
            <a:solidFill>
              <a:schemeClr val="accent1"/>
            </a:solidFill>
          </a:ln>
        </p:spPr>
        <p:txBody>
          <a:bodyPr wrap="square" lIns="127000" tIns="0" rIns="127000" bIns="0" rtlCol="0" anchor="ctr"/>
          <a:lstStyle/>
          <a:p>
            <a:pPr indent="0" marL="0">
              <a:buNone/>
            </a:pPr>
            <a:r>
              <a:rPr lang="en-US" sz="1400" b="1" dirty="0">
                <a:solidFill>
                  <a:schemeClr val="bg1"/>
                </a:solidFill>
              </a:rPr>
              <a:t>Fracción 2103.90.99  </a:t>
            </a:r>
            <a:pPr indent="0" marL="0">
              <a:buNone/>
            </a:pPr>
            <a:r>
              <a:rPr lang="en-US" sz="1400" dirty="0">
                <a:solidFill>
                  <a:schemeClr val="bg1"/>
                </a:solidFill>
              </a:rPr>
              <a:t>Los demás</a:t>
            </a:r>
            <a:endParaRPr lang="en-US" sz="1400" dirty="0"/>
          </a:p>
        </p:txBody>
      </p:sp>
      <p:sp>
        <p:nvSpPr>
          <p:cNvPr id="9" name="tag-evidencia"/>
          <p:cNvSpPr txBox="1"/>
          <p:nvPr/>
        </p:nvSpPr>
        <p:spPr>
          <a:xfrm>
            <a:off x="5175504" y="4475988"/>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0" name="nico"/>
          <p:cNvSpPr txBox="1"/>
          <p:nvPr/>
        </p:nvSpPr>
        <p:spPr>
          <a:xfrm>
            <a:off x="1572768" y="5029200"/>
            <a:ext cx="4736592" cy="585216"/>
          </a:xfrm>
          <a:prstGeom prst="rect">
            <a:avLst/>
          </a:prstGeom>
          <a:solidFill>
            <a:srgbClr val="FFFFFF"/>
          </a:solidFill>
          <a:ln w="15875">
            <a:solidFill>
              <a:schemeClr val="accent2"/>
            </a:solidFill>
            <a:prstDash val="dash"/>
          </a:ln>
        </p:spPr>
        <p:txBody>
          <a:bodyPr wrap="square" lIns="127000" tIns="0" rIns="127000" bIns="0" rtlCol="0" anchor="ctr"/>
          <a:lstStyle/>
          <a:p>
            <a:pPr indent="0" marL="0">
              <a:buNone/>
            </a:pPr>
            <a:r>
              <a:rPr lang="en-US" sz="1400" b="1" dirty="0">
                <a:solidFill>
                  <a:schemeClr val="tx2"/>
                </a:solidFill>
              </a:rPr>
              <a:t>NICO  </a:t>
            </a:r>
            <a:pPr indent="0" marL="0">
              <a:buNone/>
            </a:pPr>
            <a:r>
              <a:rPr lang="en-US" sz="1400" dirty="0">
                <a:solidFill>
                  <a:schemeClr val="tx1"/>
                </a:solidFill>
              </a:rPr>
              <a:t>2 dígitos más, por confirmar en SIICEX</a:t>
            </a:r>
            <a:endParaRPr lang="en-US" sz="1400" dirty="0"/>
          </a:p>
        </p:txBody>
      </p:sp>
      <p:sp>
        <p:nvSpPr>
          <p:cNvPr id="11" name="tag-pendiente"/>
          <p:cNvSpPr txBox="1"/>
          <p:nvPr/>
        </p:nvSpPr>
        <p:spPr>
          <a:xfrm>
            <a:off x="5148072" y="5198364"/>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2" name="Text 10"/>
          <p:cNvSpPr txBox="1"/>
          <p:nvPr/>
        </p:nvSpPr>
        <p:spPr>
          <a:xfrm>
            <a:off x="6812280" y="1600200"/>
            <a:ext cx="4828032" cy="365760"/>
          </a:xfrm>
          <a:prstGeom prst="rect">
            <a:avLst/>
          </a:prstGeom>
          <a:noFill/>
          <a:ln/>
        </p:spPr>
        <p:txBody>
          <a:bodyPr wrap="square" lIns="0" tIns="0" rIns="0" bIns="0" rtlCol="0" anchor="ctr"/>
          <a:lstStyle/>
          <a:p>
            <a:pPr indent="0" marL="0">
              <a:buNone/>
            </a:pPr>
            <a:r>
              <a:rPr lang="en-US" sz="1800" b="1" dirty="0">
                <a:solidFill>
                  <a:schemeClr val="tx2"/>
                </a:solidFill>
              </a:rPr>
              <a:t>¿Por qué no otra fracción?</a:t>
            </a:r>
            <a:endParaRPr lang="en-US" sz="1800" dirty="0"/>
          </a:p>
        </p:txBody>
      </p:sp>
      <p:graphicFrame>
        <p:nvGraphicFramePr>
          <p:cNvPr id="6" name="alternativas"/>
          <p:cNvGraphicFramePr>
            <a:graphicFrameLocks noGrp="1"/>
          </p:cNvGraphicFramePr>
          <p:nvPr>
            <p:extLst>
              <p:ext uri="{D42A27DB-BD31-4B8C-83A1-F6EECF244321}">
                <p14:modId xmlns:p14="http://schemas.microsoft.com/office/powerpoint/2010/main" val="1579011935"/>
              </p:ext>
            </p:extLst>
          </p:nvPr>
        </p:nvGraphicFramePr>
        <p:xfrm>
          <a:off x="6812280" y="2103120"/>
          <a:ext cx="4828032" cy="914400"/>
        </p:xfrm>
        <a:graphic>
          <a:graphicData uri="http://schemas.openxmlformats.org/drawingml/2006/table">
            <a:tbl>
              <a:tblPr/>
              <a:tblGrid>
                <a:gridCol w="2331720"/>
                <a:gridCol w="2496312"/>
              </a:tblGrid>
              <a:tr h="566928">
                <a:tc>
                  <a:txBody>
                    <a:bodyPr/>
                    <a:lstStyle/>
                    <a:p>
                      <a:pPr indent="0" marL="0">
                        <a:buNone/>
                      </a:pPr>
                      <a:r>
                        <a:rPr lang="en-US" sz="1400" b="1" dirty="0">
                          <a:solidFill>
                            <a:schemeClr val="bg1"/>
                          </a:solidFill>
                        </a:rPr>
                        <a:t>Si el producto es…</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 a…</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rPr>
                        <a:t>Salsa con base de tomate</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2103.20 Ketchup y demás salsas de tomate</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r h="566928">
                <a:tc>
                  <a:txBody>
                    <a:bodyPr/>
                    <a:lstStyle/>
                    <a:p>
                      <a:pPr indent="0" marL="0">
                        <a:buNone/>
                      </a:pPr>
                      <a:r>
                        <a:rPr lang="en-US" sz="1400" dirty="0">
                          <a:solidFill>
                            <a:schemeClr val="tx1"/>
                          </a:solidFill>
                        </a:rPr>
                        <a:t>Chile seco molido, sin otros ingredientes</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09.04 Frutos del género Capsicum, secos o pulverizados</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r h="566928">
                <a:tc>
                  <a:txBody>
                    <a:bodyPr/>
                    <a:lstStyle/>
                    <a:p>
                      <a:pPr indent="0" marL="0">
                        <a:buNone/>
                      </a:pPr>
                      <a:r>
                        <a:rPr lang="en-US" sz="1400" dirty="0">
                          <a:solidFill>
                            <a:schemeClr val="tx1"/>
                          </a:solidFill>
                        </a:rPr>
                        <a:t>Chiles enteros o en trozos en vinagre</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20.01 Hortalizas preparadas en vinagre</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r h="566928">
                <a:tc>
                  <a:txBody>
                    <a:bodyPr/>
                    <a:lstStyle/>
                    <a:p>
                      <a:pPr indent="0" marL="0">
                        <a:buNone/>
                      </a:pPr>
                      <a:r>
                        <a:rPr lang="en-US" sz="1400" dirty="0">
                          <a:solidFill>
                            <a:schemeClr val="tx1"/>
                          </a:solidFill>
                        </a:rPr>
                        <a:t>Salsa de soya</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2103.10 Salsa de soya (soja)</a:t>
                      </a:r>
                      <a:endParaRPr lang="en-US" sz="1400" dirty="0"/>
                    </a:p>
                  </a:txBody>
                  <a:tcPr marL="91440" marR="91440"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bl>
          </a:graphicData>
        </a:graphic>
      </p:graphicFrame>
      <p:sp>
        <p:nvSpPr>
          <p:cNvPr id="14" name="Text 11"/>
          <p:cNvSpPr txBox="1"/>
          <p:nvPr/>
        </p:nvSpPr>
        <p:spPr>
          <a:xfrm>
            <a:off x="6812280" y="4983480"/>
            <a:ext cx="4828032" cy="777240"/>
          </a:xfrm>
          <a:prstGeom prst="rect">
            <a:avLst/>
          </a:prstGeom>
          <a:noFill/>
          <a:ln/>
        </p:spPr>
        <p:txBody>
          <a:bodyPr wrap="square" lIns="0" tIns="0" rIns="0" bIns="0" rtlCol="0" anchor="t"/>
          <a:lstStyle/>
          <a:p>
            <a:pPr indent="0" marL="0">
              <a:buNone/>
            </a:pPr>
            <a:r>
              <a:rPr lang="en-US" sz="1400" i="1" dirty="0">
                <a:solidFill>
                  <a:schemeClr val="tx2"/>
                </a:solidFill>
              </a:rPr>
              <a:t>Reglas generales 1 y 6: deciden los textos de partida y subpartida. Las notas explicativas de la 21.03 incluyen la salsa picante entre los sazonadores líquidos.</a:t>
            </a:r>
            <a:endParaRPr lang="en-US" sz="1400" dirty="0"/>
          </a:p>
        </p:txBody>
      </p:sp>
      <p:sp>
        <p:nvSpPr>
          <p:cNvPr id="15"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SIICEX-CAAAREM, tarifa de la fracción 2103.90.99; PromPerú, ficha de mercado México «Preparaciones para salsas» (fracción 21039099), 2022; Notas explicativas del SA, partida 21.03 (E-Aduana); SNICE, estructura NICO.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 3 · Verificar arancel y RRNA en México</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Salida de México: sin arancel ni permisos previos</a:t>
            </a:r>
            <a:endParaRPr lang="en-US" sz="3200" dirty="0"/>
          </a:p>
        </p:txBody>
      </p:sp>
      <p:sp>
        <p:nvSpPr>
          <p:cNvPr id="4" name="tarjeta"/>
          <p:cNvSpPr/>
          <p:nvPr/>
        </p:nvSpPr>
        <p:spPr>
          <a:xfrm>
            <a:off x="548640" y="1600200"/>
            <a:ext cx="3520440" cy="3154680"/>
          </a:xfrm>
          <a:prstGeom prst="rect">
            <a:avLst/>
          </a:prstGeom>
          <a:solidFill>
            <a:schemeClr val="bg2"/>
          </a:solidFill>
          <a:ln w="12700">
            <a:solidFill>
              <a:schemeClr val="bg2"/>
            </a:solidFill>
            <a:prstDash val="solid"/>
          </a:ln>
        </p:spPr>
      </p:sp>
      <p:sp>
        <p:nvSpPr>
          <p:cNvPr id="5" name="icono-fondo"/>
          <p:cNvSpPr/>
          <p:nvPr/>
        </p:nvSpPr>
        <p:spPr>
          <a:xfrm>
            <a:off x="777240" y="1783080"/>
            <a:ext cx="548640" cy="548640"/>
          </a:xfrm>
          <a:prstGeom prst="ellipse">
            <a:avLst/>
          </a:prstGeom>
          <a:solidFill>
            <a:schemeClr val="accent4"/>
          </a:solidFill>
          <a:ln w="12700">
            <a:solidFill>
              <a:schemeClr val="accent4"/>
            </a:solidFill>
            <a:prstDash val="solid"/>
          </a:ln>
        </p:spPr>
      </p:sp>
      <p:pic>
        <p:nvPicPr>
          <p:cNvPr id="6" name="icono" descr="preencoded.png">    </p:cNvPr>
          <p:cNvPicPr>
            <a:picLocks noChangeAspect="1"/>
          </p:cNvPicPr>
          <p:nvPr/>
        </p:nvPicPr>
        <p:blipFill>
          <a:blip r:embed="rId1"/>
          <a:stretch>
            <a:fillRect/>
          </a:stretch>
        </p:blipFill>
        <p:spPr>
          <a:xfrm>
            <a:off x="914400" y="1920240"/>
            <a:ext cx="274320" cy="274320"/>
          </a:xfrm>
          <a:prstGeom prst="rect">
            <a:avLst/>
          </a:prstGeom>
        </p:spPr>
      </p:pic>
      <p:sp>
        <p:nvSpPr>
          <p:cNvPr id="7" name="Text 4"/>
          <p:cNvSpPr txBox="1"/>
          <p:nvPr/>
        </p:nvSpPr>
        <p:spPr>
          <a:xfrm>
            <a:off x="146304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Arancel de exportación</a:t>
            </a:r>
            <a:endParaRPr lang="en-US" sz="1700" dirty="0"/>
          </a:p>
        </p:txBody>
      </p:sp>
      <p:sp>
        <p:nvSpPr>
          <p:cNvPr id="8" name="Text 5"/>
          <p:cNvSpPr txBox="1"/>
          <p:nvPr/>
        </p:nvSpPr>
        <p:spPr>
          <a:xfrm>
            <a:off x="777240" y="2468880"/>
            <a:ext cx="3108960" cy="1783080"/>
          </a:xfrm>
          <a:prstGeom prst="rect">
            <a:avLst/>
          </a:prstGeom>
          <a:noFill/>
          <a:ln/>
        </p:spPr>
        <p:txBody>
          <a:bodyPr wrap="square" lIns="0" tIns="0" rIns="0" bIns="0" rtlCol="0" anchor="t"/>
          <a:lstStyle/>
          <a:p>
            <a:pPr indent="0" marL="0">
              <a:buNone/>
            </a:pPr>
            <a:r>
              <a:rPr lang="en-US" sz="1600" dirty="0">
                <a:solidFill>
                  <a:schemeClr val="tx1"/>
                </a:solidFill>
              </a:rPr>
              <a:t>Impuesto general de exportación: Ex. (exento), como en casi toda la TIGIE para alimentos.</a:t>
            </a:r>
            <a:endParaRPr lang="en-US" sz="1600" dirty="0"/>
          </a:p>
        </p:txBody>
      </p:sp>
      <p:sp>
        <p:nvSpPr>
          <p:cNvPr id="9" name="tag-interpretación"/>
          <p:cNvSpPr txBox="1"/>
          <p:nvPr/>
        </p:nvSpPr>
        <p:spPr>
          <a:xfrm>
            <a:off x="777240" y="434340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10" name="tag-pendiente"/>
          <p:cNvSpPr txBox="1"/>
          <p:nvPr/>
        </p:nvSpPr>
        <p:spPr>
          <a:xfrm>
            <a:off x="2258568" y="434340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1" name="tarjeta"/>
          <p:cNvSpPr/>
          <p:nvPr/>
        </p:nvSpPr>
        <p:spPr>
          <a:xfrm>
            <a:off x="4343400" y="1600200"/>
            <a:ext cx="3520440" cy="3154680"/>
          </a:xfrm>
          <a:prstGeom prst="rect">
            <a:avLst/>
          </a:prstGeom>
          <a:solidFill>
            <a:schemeClr val="bg2"/>
          </a:solidFill>
          <a:ln w="12700">
            <a:solidFill>
              <a:schemeClr val="bg2"/>
            </a:solidFill>
            <a:prstDash val="solid"/>
          </a:ln>
        </p:spPr>
      </p:sp>
      <p:sp>
        <p:nvSpPr>
          <p:cNvPr id="12" name="icono-fondo"/>
          <p:cNvSpPr/>
          <p:nvPr/>
        </p:nvSpPr>
        <p:spPr>
          <a:xfrm>
            <a:off x="4572000" y="1783080"/>
            <a:ext cx="548640" cy="548640"/>
          </a:xfrm>
          <a:prstGeom prst="ellipse">
            <a:avLst/>
          </a:prstGeom>
          <a:solidFill>
            <a:schemeClr val="accent4"/>
          </a:solidFill>
          <a:ln w="12700">
            <a:solidFill>
              <a:schemeClr val="accent4"/>
            </a:solidFill>
            <a:prstDash val="solid"/>
          </a:ln>
        </p:spPr>
      </p:sp>
      <p:pic>
        <p:nvPicPr>
          <p:cNvPr id="13" name="icono" descr="preencoded.png">    </p:cNvPr>
          <p:cNvPicPr>
            <a:picLocks noChangeAspect="1"/>
          </p:cNvPicPr>
          <p:nvPr/>
        </p:nvPicPr>
        <p:blipFill>
          <a:blip r:embed="rId2"/>
          <a:stretch>
            <a:fillRect/>
          </a:stretch>
        </p:blipFill>
        <p:spPr>
          <a:xfrm>
            <a:off x="4709160" y="1920240"/>
            <a:ext cx="274320" cy="274320"/>
          </a:xfrm>
          <a:prstGeom prst="rect">
            <a:avLst/>
          </a:prstGeom>
        </p:spPr>
      </p:pic>
      <p:sp>
        <p:nvSpPr>
          <p:cNvPr id="14" name="Text 10"/>
          <p:cNvSpPr txBox="1"/>
          <p:nvPr/>
        </p:nvSpPr>
        <p:spPr>
          <a:xfrm>
            <a:off x="525780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RRNA a la exportación</a:t>
            </a:r>
            <a:endParaRPr lang="en-US" sz="1700" dirty="0"/>
          </a:p>
        </p:txBody>
      </p:sp>
      <p:sp>
        <p:nvSpPr>
          <p:cNvPr id="15" name="Text 11"/>
          <p:cNvSpPr txBox="1"/>
          <p:nvPr/>
        </p:nvSpPr>
        <p:spPr>
          <a:xfrm>
            <a:off x="4572000" y="2468880"/>
            <a:ext cx="3108960" cy="1783080"/>
          </a:xfrm>
          <a:prstGeom prst="rect">
            <a:avLst/>
          </a:prstGeom>
          <a:noFill/>
          <a:ln/>
        </p:spPr>
        <p:txBody>
          <a:bodyPr wrap="square" lIns="0" tIns="0" rIns="0" bIns="0" rtlCol="0" anchor="t"/>
          <a:lstStyle/>
          <a:p>
            <a:pPr indent="0" marL="0">
              <a:buNone/>
            </a:pPr>
            <a:r>
              <a:rPr lang="en-US" sz="1600" dirty="0">
                <a:solidFill>
                  <a:schemeClr val="tx1"/>
                </a:solidFill>
              </a:rPr>
              <a:t>Sin permiso previo, cupo ni padrón sectorial identificados para la fracción. Las NOM de etiquetado mexicanas no aplican al producto exportado.</a:t>
            </a:r>
            <a:endParaRPr lang="en-US" sz="1600" dirty="0"/>
          </a:p>
        </p:txBody>
      </p:sp>
      <p:sp>
        <p:nvSpPr>
          <p:cNvPr id="16" name="tag-interpretación"/>
          <p:cNvSpPr txBox="1"/>
          <p:nvPr/>
        </p:nvSpPr>
        <p:spPr>
          <a:xfrm>
            <a:off x="4572000" y="434340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17" name="tag-pendiente"/>
          <p:cNvSpPr txBox="1"/>
          <p:nvPr/>
        </p:nvSpPr>
        <p:spPr>
          <a:xfrm>
            <a:off x="6053328" y="434340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8" name="tarjeta"/>
          <p:cNvSpPr/>
          <p:nvPr/>
        </p:nvSpPr>
        <p:spPr>
          <a:xfrm>
            <a:off x="8138160" y="1600200"/>
            <a:ext cx="3520440" cy="3154680"/>
          </a:xfrm>
          <a:prstGeom prst="rect">
            <a:avLst/>
          </a:prstGeom>
          <a:solidFill>
            <a:schemeClr val="bg2"/>
          </a:solidFill>
          <a:ln w="12700">
            <a:solidFill>
              <a:schemeClr val="bg2"/>
            </a:solidFill>
            <a:prstDash val="solid"/>
          </a:ln>
        </p:spPr>
      </p:sp>
      <p:sp>
        <p:nvSpPr>
          <p:cNvPr id="19" name="icono-fondo"/>
          <p:cNvSpPr/>
          <p:nvPr/>
        </p:nvSpPr>
        <p:spPr>
          <a:xfrm>
            <a:off x="8366760" y="1783080"/>
            <a:ext cx="548640" cy="548640"/>
          </a:xfrm>
          <a:prstGeom prst="ellipse">
            <a:avLst/>
          </a:prstGeom>
          <a:solidFill>
            <a:schemeClr val="accent4"/>
          </a:solidFill>
          <a:ln w="12700">
            <a:solidFill>
              <a:schemeClr val="accent4"/>
            </a:solidFill>
            <a:prstDash val="solid"/>
          </a:ln>
        </p:spPr>
      </p:sp>
      <p:pic>
        <p:nvPicPr>
          <p:cNvPr id="20" name="icono" descr="preencoded.png">    </p:cNvPr>
          <p:cNvPicPr>
            <a:picLocks noChangeAspect="1"/>
          </p:cNvPicPr>
          <p:nvPr/>
        </p:nvPicPr>
        <p:blipFill>
          <a:blip r:embed="rId3"/>
          <a:stretch>
            <a:fillRect/>
          </a:stretch>
        </p:blipFill>
        <p:spPr>
          <a:xfrm>
            <a:off x="8503920" y="1920240"/>
            <a:ext cx="274320" cy="274320"/>
          </a:xfrm>
          <a:prstGeom prst="rect">
            <a:avLst/>
          </a:prstGeom>
        </p:spPr>
      </p:pic>
      <p:sp>
        <p:nvSpPr>
          <p:cNvPr id="21" name="Text 16"/>
          <p:cNvSpPr txBox="1"/>
          <p:nvPr/>
        </p:nvSpPr>
        <p:spPr>
          <a:xfrm>
            <a:off x="9052560" y="1828800"/>
            <a:ext cx="2468880" cy="457200"/>
          </a:xfrm>
          <a:prstGeom prst="rect">
            <a:avLst/>
          </a:prstGeom>
          <a:noFill/>
          <a:ln/>
        </p:spPr>
        <p:txBody>
          <a:bodyPr wrap="square" lIns="0" tIns="0" rIns="0" bIns="0" rtlCol="0" anchor="ctr"/>
          <a:lstStyle/>
          <a:p>
            <a:pPr indent="0" marL="0">
              <a:buNone/>
            </a:pPr>
            <a:r>
              <a:rPr lang="en-US" sz="1700" b="1" dirty="0">
                <a:solidFill>
                  <a:schemeClr val="tx2"/>
                </a:solidFill>
              </a:rPr>
              <a:t>Documentos del embarque</a:t>
            </a:r>
            <a:endParaRPr lang="en-US" sz="1700" dirty="0"/>
          </a:p>
        </p:txBody>
      </p:sp>
      <p:sp>
        <p:nvSpPr>
          <p:cNvPr id="22" name="Text 17"/>
          <p:cNvSpPr txBox="1"/>
          <p:nvPr/>
        </p:nvSpPr>
        <p:spPr>
          <a:xfrm>
            <a:off x="8366760" y="2468880"/>
            <a:ext cx="3108960" cy="1783080"/>
          </a:xfrm>
          <a:prstGeom prst="rect">
            <a:avLst/>
          </a:prstGeom>
          <a:noFill/>
          <a:ln/>
        </p:spPr>
        <p:txBody>
          <a:bodyPr wrap="square" lIns="0" tIns="0" rIns="0" bIns="0" rtlCol="0" anchor="t"/>
          <a:lstStyle/>
          <a:p>
            <a:pPr indent="0" marL="0">
              <a:buNone/>
            </a:pPr>
            <a:r>
              <a:rPr lang="en-US" sz="1500" dirty="0">
                <a:solidFill>
                  <a:schemeClr val="tx1"/>
                </a:solidFill>
              </a:rPr>
              <a:t>Pedimento con agente aduanal · CFDI con complemento de comercio exterior · certificación de origen T-MEC o EUR.1 (TLCUEM) · certificado de libre venta COFEPRIS si el comprador lo pide.</a:t>
            </a:r>
            <a:endParaRPr lang="en-US" sz="1600" dirty="0"/>
          </a:p>
        </p:txBody>
      </p:sp>
      <p:sp>
        <p:nvSpPr>
          <p:cNvPr id="23" name="tag-evidencia"/>
          <p:cNvSpPr txBox="1"/>
          <p:nvPr/>
        </p:nvSpPr>
        <p:spPr>
          <a:xfrm>
            <a:off x="8366760" y="434340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24" name="nota-decreto"/>
          <p:cNvSpPr/>
          <p:nvPr/>
        </p:nvSpPr>
        <p:spPr>
          <a:xfrm>
            <a:off x="548640" y="4983480"/>
            <a:ext cx="11094415" cy="685800"/>
          </a:xfrm>
          <a:prstGeom prst="rect">
            <a:avLst/>
          </a:prstGeom>
          <a:solidFill>
            <a:schemeClr val="accent5"/>
          </a:solidFill>
          <a:ln w="12700">
            <a:solidFill>
              <a:schemeClr val="accent5"/>
            </a:solidFill>
            <a:prstDash val="solid"/>
          </a:ln>
        </p:spPr>
      </p:sp>
      <p:sp>
        <p:nvSpPr>
          <p:cNvPr id="25" name="tag-interpretación"/>
          <p:cNvSpPr txBox="1"/>
          <p:nvPr/>
        </p:nvSpPr>
        <p:spPr>
          <a:xfrm>
            <a:off x="731520" y="5202936"/>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26" name="Text 21"/>
          <p:cNvSpPr txBox="1"/>
          <p:nvPr/>
        </p:nvSpPr>
        <p:spPr>
          <a:xfrm>
            <a:off x="2240280" y="4983480"/>
            <a:ext cx="9281160" cy="685800"/>
          </a:xfrm>
          <a:prstGeom prst="rect">
            <a:avLst/>
          </a:prstGeom>
          <a:noFill/>
          <a:ln/>
        </p:spPr>
        <p:txBody>
          <a:bodyPr wrap="square" lIns="0" tIns="0" rIns="0" bIns="0" rtlCol="0" anchor="ctr"/>
          <a:lstStyle/>
          <a:p>
            <a:pPr indent="0" marL="0">
              <a:buNone/>
            </a:pPr>
            <a:r>
              <a:rPr lang="en-US" sz="1400" dirty="0">
                <a:solidFill>
                  <a:schemeClr val="tx1"/>
                </a:solidFill>
              </a:rPr>
              <a:t>El decreto del DOF del 29-dic-2025 subió el IGI a países sin tratado: puede encarecer insumos importados (tapas, envases), no la exportación.</a:t>
            </a:r>
            <a:endParaRPr lang="en-US" sz="1400" dirty="0"/>
          </a:p>
        </p:txBody>
      </p:sp>
      <p:sp>
        <p:nvSpPr>
          <p:cNvPr id="27"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SIICEX-CAAAREM (TIGIE, fracción 2103.90.99); DOF, decreto que modifica la TIGIE, 29-dic-2025 (vía arancelmx.com); Comisión Europea, Access2Markets (EUR.1 y declaración de origen). Pendiente: confirmar IGE y RRNA vigentes en SIICEX.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 4 · OMC · Condiciones de acceso</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En destino, el T-MEC deja el arancel en 0%</a:t>
            </a:r>
            <a:endParaRPr lang="en-US" sz="3200" dirty="0"/>
          </a:p>
        </p:txBody>
      </p:sp>
      <p:graphicFrame>
        <p:nvGraphicFramePr>
          <p:cNvPr id="8" name="aranceles-destino"/>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240280"/>
                <a:gridCol w="1783080"/>
                <a:gridCol w="1325880"/>
                <a:gridCol w="4325112"/>
                <a:gridCol w="1417320"/>
              </a:tblGrid>
              <a:tr h="411480">
                <a:tc>
                  <a:txBody>
                    <a:bodyPr/>
                    <a:lstStyle/>
                    <a:p>
                      <a:pPr indent="0" marL="0">
                        <a:buNone/>
                      </a:pPr>
                      <a:r>
                        <a:rPr lang="en-US" sz="1400" b="1" dirty="0">
                          <a:solidFill>
                            <a:schemeClr val="bg1"/>
                          </a:solidFill>
                        </a:rPr>
                        <a:t>Mercado</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Código en destino</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Arancel NMF</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Arancel para México</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Estado</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solidFill>
                      <a:schemeClr val="tx2"/>
                    </a:solidFill>
                  </a:tcPr>
                </a:tc>
              </a:tr>
              <a:tr h="658368">
                <a:tc>
                  <a:txBody>
                    <a:bodyPr/>
                    <a:lstStyle/>
                    <a:p>
                      <a:pPr indent="0" marL="0">
                        <a:buNone/>
                      </a:pPr>
                      <a:r>
                        <a:rPr lang="en-US" sz="1400" b="1" dirty="0">
                          <a:solidFill>
                            <a:schemeClr val="tx1"/>
                          </a:solidFill>
                        </a:rPr>
                        <a:t>Estados Unidos</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HTS 2103.90.90</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6.4%</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0% con T-MEC. Sin T-MEC: 6.4% + 10% de la Sección 301 (desde el 24-jul-2026)</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200" b="1" dirty="0">
                          <a:solidFill>
                            <a:schemeClr val="accent3"/>
                          </a:solidFill>
                        </a:rPr>
                        <a:t>EVIDENCIA</a:t>
                      </a:r>
                      <a:endParaRPr lang="en-US" sz="12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r h="502920">
                <a:tc>
                  <a:txBody>
                    <a:bodyPr/>
                    <a:lstStyle/>
                    <a:p>
                      <a:pPr indent="0" marL="0">
                        <a:buNone/>
                      </a:pPr>
                      <a:r>
                        <a:rPr lang="en-US" sz="1400" b="1" dirty="0">
                          <a:solidFill>
                            <a:schemeClr val="tx1"/>
                          </a:solidFill>
                        </a:rPr>
                        <a:t>Canadá</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2103.90.90</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Por confirmar</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0% con T-MEC (CUSMA)</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200" b="1" dirty="0">
                          <a:solidFill>
                            <a:schemeClr val="accent2"/>
                          </a:solidFill>
                        </a:rPr>
                        <a:t>PENDIENTE</a:t>
                      </a:r>
                      <a:endParaRPr lang="en-US" sz="12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r h="658368">
                <a:tc>
                  <a:txBody>
                    <a:bodyPr/>
                    <a:lstStyle/>
                    <a:p>
                      <a:pPr indent="0" marL="0">
                        <a:buNone/>
                      </a:pPr>
                      <a:r>
                        <a:rPr lang="en-US" sz="1400" b="1" dirty="0">
                          <a:solidFill>
                            <a:schemeClr val="tx1"/>
                          </a:solidFill>
                        </a:rPr>
                        <a:t>Unión Europea (Alemania, España)</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NC 2103 90 90</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7.7%</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400" dirty="0">
                          <a:solidFill>
                            <a:schemeClr val="tx1"/>
                          </a:solidFill>
                        </a:rPr>
                        <a:t>Preferencia del TLCUEM con prueba de origen; tasa exacta por confirmar</a:t>
                      </a:r>
                      <a:endParaRPr lang="en-US" sz="14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c>
                  <a:txBody>
                    <a:bodyPr/>
                    <a:lstStyle/>
                    <a:p>
                      <a:pPr indent="0" marL="0">
                        <a:buNone/>
                      </a:pPr>
                      <a:r>
                        <a:rPr lang="en-US" sz="1200" b="1" dirty="0">
                          <a:solidFill>
                            <a:schemeClr val="accent2"/>
                          </a:solidFill>
                        </a:rPr>
                        <a:t>PENDIENTE</a:t>
                      </a:r>
                      <a:endParaRPr lang="en-US" sz="1200" dirty="0"/>
                    </a:p>
                  </a:txBody>
                  <a:tcPr marL="109728" marR="109728" marT="45720" marB="45720" anchor="ctr">
                    <a:lnL w="12700" cap="flat" cmpd="sng" algn="ctr">
                      <a:solidFill>
                        <a:srgbClr val="F1ECFA"/>
                      </a:solidFill>
                      <a:prstDash val="solid"/>
                      <a:round/>
                      <a:headEnd type="none" w="med" len="med"/>
                      <a:tailEnd type="none" w="med" len="med"/>
                    </a:lnL>
                    <a:lnR w="12700" cap="flat" cmpd="sng" algn="ctr">
                      <a:solidFill>
                        <a:srgbClr val="F1ECFA"/>
                      </a:solidFill>
                      <a:prstDash val="solid"/>
                      <a:round/>
                      <a:headEnd type="none" w="med" len="med"/>
                      <a:tailEnd type="none" w="med" len="med"/>
                    </a:lnR>
                    <a:lnT w="12700" cap="flat" cmpd="sng" algn="ctr">
                      <a:solidFill>
                        <a:srgbClr val="F1ECFA"/>
                      </a:solidFill>
                      <a:prstDash val="solid"/>
                      <a:round/>
                      <a:headEnd type="none" w="med" len="med"/>
                      <a:tailEnd type="none" w="med" len="med"/>
                    </a:lnT>
                    <a:lnB w="12700" cap="flat" cmpd="sng" algn="ctr">
                      <a:solidFill>
                        <a:srgbClr val="F1ECFA"/>
                      </a:solidFill>
                      <a:prstDash val="solid"/>
                      <a:round/>
                      <a:headEnd type="none" w="med" len="med"/>
                      <a:tailEnd type="none" w="med" len="med"/>
                    </a:lnB>
                  </a:tcPr>
                </a:tc>
              </a:tr>
            </a:tbl>
          </a:graphicData>
        </a:graphic>
      </p:graphicFrame>
      <p:sp>
        <p:nvSpPr>
          <p:cNvPr id="5" name="tarjeta"/>
          <p:cNvSpPr/>
          <p:nvPr/>
        </p:nvSpPr>
        <p:spPr>
          <a:xfrm>
            <a:off x="548640" y="4069080"/>
            <a:ext cx="3520440" cy="1810512"/>
          </a:xfrm>
          <a:prstGeom prst="rect">
            <a:avLst/>
          </a:prstGeom>
          <a:solidFill>
            <a:schemeClr val="bg2"/>
          </a:solidFill>
          <a:ln w="12700">
            <a:solidFill>
              <a:schemeClr val="bg2"/>
            </a:solidFill>
            <a:prstDash val="solid"/>
          </a:ln>
        </p:spPr>
      </p:sp>
      <p:sp>
        <p:nvSpPr>
          <p:cNvPr id="6" name="icono-fondo"/>
          <p:cNvSpPr/>
          <p:nvPr/>
        </p:nvSpPr>
        <p:spPr>
          <a:xfrm>
            <a:off x="731520" y="4178808"/>
            <a:ext cx="457200" cy="457200"/>
          </a:xfrm>
          <a:prstGeom prst="ellipse">
            <a:avLst/>
          </a:prstGeom>
          <a:solidFill>
            <a:schemeClr val="accent1"/>
          </a:solidFill>
          <a:ln w="12700">
            <a:solidFill>
              <a:schemeClr val="accent1"/>
            </a:solidFill>
            <a:prstDash val="solid"/>
          </a:ln>
        </p:spPr>
      </p:sp>
      <p:pic>
        <p:nvPicPr>
          <p:cNvPr id="7" name="icono" descr="preencoded.png">    </p:cNvPr>
          <p:cNvPicPr>
            <a:picLocks noChangeAspect="1"/>
          </p:cNvPicPr>
          <p:nvPr/>
        </p:nvPicPr>
        <p:blipFill>
          <a:blip r:embed="rId1"/>
          <a:stretch>
            <a:fillRect/>
          </a:stretch>
        </p:blipFill>
        <p:spPr>
          <a:xfrm>
            <a:off x="845820" y="4293108"/>
            <a:ext cx="228600" cy="228600"/>
          </a:xfrm>
          <a:prstGeom prst="rect">
            <a:avLst/>
          </a:prstGeom>
        </p:spPr>
      </p:pic>
      <p:sp>
        <p:nvSpPr>
          <p:cNvPr id="8" name="Text 4"/>
          <p:cNvSpPr txBox="1"/>
          <p:nvPr/>
        </p:nvSpPr>
        <p:spPr>
          <a:xfrm>
            <a:off x="1325880" y="4178808"/>
            <a:ext cx="2606040" cy="457200"/>
          </a:xfrm>
          <a:prstGeom prst="rect">
            <a:avLst/>
          </a:prstGeom>
          <a:noFill/>
          <a:ln/>
        </p:spPr>
        <p:txBody>
          <a:bodyPr wrap="square" lIns="0" tIns="0" rIns="0" bIns="0" rtlCol="0" anchor="ctr"/>
          <a:lstStyle/>
          <a:p>
            <a:pPr indent="0" marL="0">
              <a:buNone/>
            </a:pPr>
            <a:r>
              <a:rPr lang="en-US" sz="1600" b="1" dirty="0">
                <a:solidFill>
                  <a:schemeClr val="tx2"/>
                </a:solidFill>
              </a:rPr>
              <a:t>T-MEC en revisión anual</a:t>
            </a:r>
            <a:endParaRPr lang="en-US" sz="1600" dirty="0"/>
          </a:p>
        </p:txBody>
      </p:sp>
      <p:sp>
        <p:nvSpPr>
          <p:cNvPr id="9" name="Text 5"/>
          <p:cNvSpPr txBox="1"/>
          <p:nvPr/>
        </p:nvSpPr>
        <p:spPr>
          <a:xfrm>
            <a:off x="731520" y="4681728"/>
            <a:ext cx="3154680" cy="777240"/>
          </a:xfrm>
          <a:prstGeom prst="rect">
            <a:avLst/>
          </a:prstGeom>
          <a:noFill/>
          <a:ln/>
        </p:spPr>
        <p:txBody>
          <a:bodyPr wrap="square" lIns="0" tIns="0" rIns="0" bIns="0" rtlCol="0" anchor="t"/>
          <a:lstStyle/>
          <a:p>
            <a:pPr indent="0" marL="0">
              <a:buNone/>
            </a:pPr>
            <a:r>
              <a:rPr lang="en-US" sz="1400" dirty="0">
                <a:solidFill>
                  <a:schemeClr val="tx1"/>
                </a:solidFill>
              </a:rPr>
              <a:t>EE. UU. no lo renovó en la revisión del 1-jul-2026: sigue vigente, con revisiones cada año.</a:t>
            </a:r>
            <a:endParaRPr lang="en-US" sz="1400" dirty="0"/>
          </a:p>
        </p:txBody>
      </p:sp>
      <p:sp>
        <p:nvSpPr>
          <p:cNvPr id="10" name="tag-evidencia"/>
          <p:cNvSpPr txBox="1"/>
          <p:nvPr/>
        </p:nvSpPr>
        <p:spPr>
          <a:xfrm>
            <a:off x="731520" y="5513832"/>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1" name="tarjeta"/>
          <p:cNvSpPr/>
          <p:nvPr/>
        </p:nvSpPr>
        <p:spPr>
          <a:xfrm>
            <a:off x="4343400" y="4069080"/>
            <a:ext cx="3520440" cy="1810512"/>
          </a:xfrm>
          <a:prstGeom prst="rect">
            <a:avLst/>
          </a:prstGeom>
          <a:solidFill>
            <a:schemeClr val="bg2"/>
          </a:solidFill>
          <a:ln w="12700">
            <a:solidFill>
              <a:schemeClr val="bg2"/>
            </a:solidFill>
            <a:prstDash val="solid"/>
          </a:ln>
        </p:spPr>
      </p:sp>
      <p:sp>
        <p:nvSpPr>
          <p:cNvPr id="12" name="icono-fondo"/>
          <p:cNvSpPr/>
          <p:nvPr/>
        </p:nvSpPr>
        <p:spPr>
          <a:xfrm>
            <a:off x="4526280" y="4178808"/>
            <a:ext cx="457200" cy="457200"/>
          </a:xfrm>
          <a:prstGeom prst="ellipse">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4640580" y="4293108"/>
            <a:ext cx="228600" cy="228600"/>
          </a:xfrm>
          <a:prstGeom prst="rect">
            <a:avLst/>
          </a:prstGeom>
        </p:spPr>
      </p:pic>
      <p:sp>
        <p:nvSpPr>
          <p:cNvPr id="14" name="Text 9"/>
          <p:cNvSpPr txBox="1"/>
          <p:nvPr/>
        </p:nvSpPr>
        <p:spPr>
          <a:xfrm>
            <a:off x="5120640" y="4178808"/>
            <a:ext cx="2606040" cy="457200"/>
          </a:xfrm>
          <a:prstGeom prst="rect">
            <a:avLst/>
          </a:prstGeom>
          <a:noFill/>
          <a:ln/>
        </p:spPr>
        <p:txBody>
          <a:bodyPr wrap="square" lIns="0" tIns="0" rIns="0" bIns="0" rtlCol="0" anchor="ctr"/>
          <a:lstStyle/>
          <a:p>
            <a:pPr indent="0" marL="0">
              <a:buNone/>
            </a:pPr>
            <a:r>
              <a:rPr lang="en-US" sz="1600" b="1" dirty="0">
                <a:solidFill>
                  <a:schemeClr val="tx2"/>
                </a:solidFill>
              </a:rPr>
              <a:t>Acuerdo México–UE</a:t>
            </a:r>
            <a:endParaRPr lang="en-US" sz="1600" dirty="0"/>
          </a:p>
        </p:txBody>
      </p:sp>
      <p:sp>
        <p:nvSpPr>
          <p:cNvPr id="15" name="Text 10"/>
          <p:cNvSpPr txBox="1"/>
          <p:nvPr/>
        </p:nvSpPr>
        <p:spPr>
          <a:xfrm>
            <a:off x="4526280" y="4681728"/>
            <a:ext cx="3154680" cy="777240"/>
          </a:xfrm>
          <a:prstGeom prst="rect">
            <a:avLst/>
          </a:prstGeom>
          <a:noFill/>
          <a:ln/>
        </p:spPr>
        <p:txBody>
          <a:bodyPr wrap="square" lIns="0" tIns="0" rIns="0" bIns="0" rtlCol="0" anchor="t"/>
          <a:lstStyle/>
          <a:p>
            <a:pPr indent="0" marL="0">
              <a:buNone/>
            </a:pPr>
            <a:r>
              <a:rPr lang="en-US" sz="1400" dirty="0">
                <a:solidFill>
                  <a:schemeClr val="tx1"/>
                </a:solidFill>
              </a:rPr>
              <a:t>AGM firmado el 22-may-2026 y aprobado por el Parlamento Europeo el 8-jul-2026; falta el Senado mexicano.</a:t>
            </a:r>
            <a:endParaRPr lang="en-US" sz="1400" dirty="0"/>
          </a:p>
        </p:txBody>
      </p:sp>
      <p:sp>
        <p:nvSpPr>
          <p:cNvPr id="16" name="tag-evidencia"/>
          <p:cNvSpPr txBox="1"/>
          <p:nvPr/>
        </p:nvSpPr>
        <p:spPr>
          <a:xfrm>
            <a:off x="4526280" y="5513832"/>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7" name="tarjeta"/>
          <p:cNvSpPr/>
          <p:nvPr/>
        </p:nvSpPr>
        <p:spPr>
          <a:xfrm>
            <a:off x="8138160" y="4069080"/>
            <a:ext cx="3520440" cy="1810512"/>
          </a:xfrm>
          <a:prstGeom prst="rect">
            <a:avLst/>
          </a:prstGeom>
          <a:solidFill>
            <a:schemeClr val="bg2"/>
          </a:solidFill>
          <a:ln w="12700">
            <a:solidFill>
              <a:schemeClr val="bg2"/>
            </a:solidFill>
            <a:prstDash val="solid"/>
          </a:ln>
        </p:spPr>
      </p:sp>
      <p:sp>
        <p:nvSpPr>
          <p:cNvPr id="18" name="icono-fondo"/>
          <p:cNvSpPr/>
          <p:nvPr/>
        </p:nvSpPr>
        <p:spPr>
          <a:xfrm>
            <a:off x="8321040" y="4178808"/>
            <a:ext cx="457200" cy="457200"/>
          </a:xfrm>
          <a:prstGeom prst="ellipse">
            <a:avLst/>
          </a:prstGeom>
          <a:solidFill>
            <a:schemeClr val="accent1"/>
          </a:solidFill>
          <a:ln w="12700">
            <a:solidFill>
              <a:schemeClr val="accent1"/>
            </a:solidFill>
            <a:prstDash val="solid"/>
          </a:ln>
        </p:spPr>
      </p:sp>
      <p:pic>
        <p:nvPicPr>
          <p:cNvPr id="19" name="icono" descr="preencoded.png">    </p:cNvPr>
          <p:cNvPicPr>
            <a:picLocks noChangeAspect="1"/>
          </p:cNvPicPr>
          <p:nvPr/>
        </p:nvPicPr>
        <p:blipFill>
          <a:blip r:embed="rId3"/>
          <a:stretch>
            <a:fillRect/>
          </a:stretch>
        </p:blipFill>
        <p:spPr>
          <a:xfrm>
            <a:off x="8435340" y="4293108"/>
            <a:ext cx="228600" cy="228600"/>
          </a:xfrm>
          <a:prstGeom prst="rect">
            <a:avLst/>
          </a:prstGeom>
        </p:spPr>
      </p:pic>
      <p:sp>
        <p:nvSpPr>
          <p:cNvPr id="20" name="Text 14"/>
          <p:cNvSpPr txBox="1"/>
          <p:nvPr/>
        </p:nvSpPr>
        <p:spPr>
          <a:xfrm>
            <a:off x="8915400" y="4178808"/>
            <a:ext cx="2606040" cy="457200"/>
          </a:xfrm>
          <a:prstGeom prst="rect">
            <a:avLst/>
          </a:prstGeom>
          <a:noFill/>
          <a:ln/>
        </p:spPr>
        <p:txBody>
          <a:bodyPr wrap="square" lIns="0" tIns="0" rIns="0" bIns="0" rtlCol="0" anchor="ctr"/>
          <a:lstStyle/>
          <a:p>
            <a:pPr indent="0" marL="0">
              <a:buNone/>
            </a:pPr>
            <a:r>
              <a:rPr lang="en-US" sz="1600" b="1" dirty="0">
                <a:solidFill>
                  <a:schemeClr val="tx2"/>
                </a:solidFill>
              </a:rPr>
              <a:t>Regla de origen</a:t>
            </a:r>
            <a:endParaRPr lang="en-US" sz="1600" dirty="0"/>
          </a:p>
        </p:txBody>
      </p:sp>
      <p:sp>
        <p:nvSpPr>
          <p:cNvPr id="21" name="Text 15"/>
          <p:cNvSpPr txBox="1"/>
          <p:nvPr/>
        </p:nvSpPr>
        <p:spPr>
          <a:xfrm>
            <a:off x="8321040" y="4681728"/>
            <a:ext cx="3154680" cy="777240"/>
          </a:xfrm>
          <a:prstGeom prst="rect">
            <a:avLst/>
          </a:prstGeom>
          <a:noFill/>
          <a:ln/>
        </p:spPr>
        <p:txBody>
          <a:bodyPr wrap="square" lIns="0" tIns="0" rIns="0" bIns="0" rtlCol="0" anchor="t"/>
          <a:lstStyle/>
          <a:p>
            <a:pPr indent="0" marL="0">
              <a:buNone/>
            </a:pPr>
            <a:r>
              <a:rPr lang="en-US" sz="1400" dirty="0">
                <a:solidFill>
                  <a:schemeClr val="tx1"/>
                </a:solidFill>
              </a:rPr>
              <a:t>Para 2103.90 el T-MEC pide cambio de subpartida. Con chile, vinagre y sal mexicanos, la salsa califica.</a:t>
            </a:r>
            <a:endParaRPr lang="en-US" sz="1400" dirty="0"/>
          </a:p>
        </p:txBody>
      </p:sp>
      <p:sp>
        <p:nvSpPr>
          <p:cNvPr id="22" name="tag-interpretación"/>
          <p:cNvSpPr txBox="1"/>
          <p:nvPr/>
        </p:nvSpPr>
        <p:spPr>
          <a:xfrm>
            <a:off x="8321040" y="5513832"/>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23"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USITC, HTS 2026 (2103.90.90); USTR, acción final de la Sección 301 por trabajo forzoso (23-jul-2026) vía Mexico Business News; El Financiero, 24-jul-2026; La Jornada y El Financiero, mayo–julio 2026; TARIC (UE); USDEC, lista de reglas de origen del T-MEC.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Producto y cumplimiento · Requisitos en destino</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La acidez de la salsa define el trámite en EE. UU.</a:t>
            </a:r>
            <a:endParaRPr lang="en-US" sz="3200" dirty="0"/>
          </a:p>
        </p:txBody>
      </p:sp>
      <p:sp>
        <p:nvSpPr>
          <p:cNvPr id="4" name="tarjeta"/>
          <p:cNvSpPr/>
          <p:nvPr/>
        </p:nvSpPr>
        <p:spPr>
          <a:xfrm>
            <a:off x="548640" y="1600200"/>
            <a:ext cx="5440680" cy="3611880"/>
          </a:xfrm>
          <a:prstGeom prst="rect">
            <a:avLst/>
          </a:prstGeom>
          <a:solidFill>
            <a:schemeClr val="bg2"/>
          </a:solidFill>
          <a:ln w="12700">
            <a:solidFill>
              <a:schemeClr val="bg2"/>
            </a:solidFill>
            <a:prstDash val="solid"/>
          </a:ln>
        </p:spPr>
      </p:sp>
      <p:sp>
        <p:nvSpPr>
          <p:cNvPr id="5" name="icono-fondo"/>
          <p:cNvSpPr/>
          <p:nvPr/>
        </p:nvSpPr>
        <p:spPr>
          <a:xfrm>
            <a:off x="777240" y="1755648"/>
            <a:ext cx="502920" cy="502920"/>
          </a:xfrm>
          <a:prstGeom prst="ellipse">
            <a:avLst/>
          </a:prstGeom>
          <a:solidFill>
            <a:schemeClr val="accent4"/>
          </a:solidFill>
          <a:ln w="12700">
            <a:solidFill>
              <a:schemeClr val="accent4"/>
            </a:solidFill>
            <a:prstDash val="solid"/>
          </a:ln>
        </p:spPr>
      </p:sp>
      <p:pic>
        <p:nvPicPr>
          <p:cNvPr id="6" name="icono" descr="preencoded.png">    </p:cNvPr>
          <p:cNvPicPr>
            <a:picLocks noChangeAspect="1"/>
          </p:cNvPicPr>
          <p:nvPr/>
        </p:nvPicPr>
        <p:blipFill>
          <a:blip r:embed="rId1"/>
          <a:stretch>
            <a:fillRect/>
          </a:stretch>
        </p:blipFill>
        <p:spPr>
          <a:xfrm>
            <a:off x="902970" y="1881378"/>
            <a:ext cx="251460" cy="251460"/>
          </a:xfrm>
          <a:prstGeom prst="rect">
            <a:avLst/>
          </a:prstGeom>
        </p:spPr>
      </p:pic>
      <p:sp>
        <p:nvSpPr>
          <p:cNvPr id="7" name="Text 4"/>
          <p:cNvSpPr txBox="1"/>
          <p:nvPr/>
        </p:nvSpPr>
        <p:spPr>
          <a:xfrm>
            <a:off x="1417320" y="1783080"/>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Estados Unidos · FDA</a:t>
            </a:r>
            <a:endParaRPr lang="en-US" sz="1800" dirty="0"/>
          </a:p>
        </p:txBody>
      </p:sp>
      <p:sp>
        <p:nvSpPr>
          <p:cNvPr id="8" name="tag-evidencia"/>
          <p:cNvSpPr txBox="1"/>
          <p:nvPr/>
        </p:nvSpPr>
        <p:spPr>
          <a:xfrm>
            <a:off x="4736592" y="1883664"/>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9" name="Text 6"/>
          <p:cNvSpPr txBox="1"/>
          <p:nvPr/>
        </p:nvSpPr>
        <p:spPr>
          <a:xfrm>
            <a:off x="777240" y="2423160"/>
            <a:ext cx="5029200" cy="2697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Registro de la planta ante la FDA, con agente en EE. UU.; renovación del 1-oct al 31-dic-2026.</a:t>
            </a:r>
            <a:endParaRPr lang="en-US" sz="1400" dirty="0"/>
          </a:p>
          <a:p>
            <a:pPr marL="342900" indent="-342900">
              <a:spcAft>
                <a:spcPts val="600"/>
              </a:spcAft>
              <a:buSzPct val="100000"/>
              <a:buChar char="•"/>
            </a:pPr>
            <a:r>
              <a:rPr lang="en-US" sz="1400" dirty="0">
                <a:solidFill>
                  <a:schemeClr val="tx1"/>
                </a:solidFill>
              </a:rPr>
              <a:t>Alimento acidificado (21 CFR 114 y 108.25): registro FCE y proceso SID antes de exportar.</a:t>
            </a:r>
            <a:endParaRPr lang="en-US" sz="1400" dirty="0"/>
          </a:p>
          <a:p>
            <a:pPr marL="342900" indent="-342900">
              <a:spcAft>
                <a:spcPts val="600"/>
              </a:spcAft>
              <a:buSzPct val="100000"/>
              <a:buChar char="•"/>
            </a:pPr>
            <a:r>
              <a:rPr lang="en-US" sz="1400" dirty="0">
                <a:solidFill>
                  <a:schemeClr val="tx1"/>
                </a:solidFill>
              </a:rPr>
              <a:t>En cada turno, un supervisor capacitado en Better Process Control School.</a:t>
            </a:r>
            <a:endParaRPr lang="en-US" sz="1400" dirty="0"/>
          </a:p>
          <a:p>
            <a:pPr marL="342900" indent="-342900">
              <a:spcAft>
                <a:spcPts val="600"/>
              </a:spcAft>
              <a:buSzPct val="100000"/>
              <a:buChar char="•"/>
            </a:pPr>
            <a:r>
              <a:rPr lang="en-US" sz="1400" dirty="0">
                <a:solidFill>
                  <a:schemeClr val="tx1"/>
                </a:solidFill>
              </a:rPr>
              <a:t>Aviso previo (Prior Notice) por embarque; el importador mantiene su FSVP.</a:t>
            </a:r>
            <a:endParaRPr lang="en-US" sz="1400" dirty="0"/>
          </a:p>
          <a:p>
            <a:pPr marL="342900" indent="-342900">
              <a:spcAft>
                <a:spcPts val="600"/>
              </a:spcAft>
              <a:buSzPct val="100000"/>
              <a:buChar char="•"/>
            </a:pPr>
            <a:r>
              <a:rPr lang="en-US" sz="1400" dirty="0">
                <a:solidFill>
                  <a:schemeClr val="tx1"/>
                </a:solidFill>
              </a:rPr>
              <a:t>Etiqueta en inglés (21 CFR 101): Nutrition Facts, ingredientes, alérgenos y contenido neto.</a:t>
            </a:r>
            <a:endParaRPr lang="en-US" sz="1400" dirty="0"/>
          </a:p>
        </p:txBody>
      </p:sp>
      <p:sp>
        <p:nvSpPr>
          <p:cNvPr id="10" name="tarjeta"/>
          <p:cNvSpPr/>
          <p:nvPr/>
        </p:nvSpPr>
        <p:spPr>
          <a:xfrm>
            <a:off x="6199632" y="1600200"/>
            <a:ext cx="5440680" cy="3611880"/>
          </a:xfrm>
          <a:prstGeom prst="rect">
            <a:avLst/>
          </a:prstGeom>
          <a:solidFill>
            <a:schemeClr val="bg2"/>
          </a:solidFill>
          <a:ln w="12700">
            <a:solidFill>
              <a:schemeClr val="bg2"/>
            </a:solidFill>
            <a:prstDash val="solid"/>
          </a:ln>
        </p:spPr>
      </p:sp>
      <p:sp>
        <p:nvSpPr>
          <p:cNvPr id="11" name="icono-fondo"/>
          <p:cNvSpPr/>
          <p:nvPr/>
        </p:nvSpPr>
        <p:spPr>
          <a:xfrm>
            <a:off x="6428232" y="1755648"/>
            <a:ext cx="502920" cy="502920"/>
          </a:xfrm>
          <a:prstGeom prst="ellipse">
            <a:avLst/>
          </a:prstGeom>
          <a:solidFill>
            <a:schemeClr val="accent4"/>
          </a:solidFill>
          <a:ln w="12700">
            <a:solidFill>
              <a:schemeClr val="accent4"/>
            </a:solidFill>
            <a:prstDash val="solid"/>
          </a:ln>
        </p:spPr>
      </p:sp>
      <p:pic>
        <p:nvPicPr>
          <p:cNvPr id="12" name="icono" descr="preencoded.png">    </p:cNvPr>
          <p:cNvPicPr>
            <a:picLocks noChangeAspect="1"/>
          </p:cNvPicPr>
          <p:nvPr/>
        </p:nvPicPr>
        <p:blipFill>
          <a:blip r:embed="rId2"/>
          <a:stretch>
            <a:fillRect/>
          </a:stretch>
        </p:blipFill>
        <p:spPr>
          <a:xfrm>
            <a:off x="6553962" y="1881378"/>
            <a:ext cx="251460" cy="251460"/>
          </a:xfrm>
          <a:prstGeom prst="rect">
            <a:avLst/>
          </a:prstGeom>
        </p:spPr>
      </p:pic>
      <p:sp>
        <p:nvSpPr>
          <p:cNvPr id="13" name="Text 9"/>
          <p:cNvSpPr txBox="1"/>
          <p:nvPr/>
        </p:nvSpPr>
        <p:spPr>
          <a:xfrm>
            <a:off x="7068312" y="1783080"/>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Unión Europea</a:t>
            </a:r>
            <a:endParaRPr lang="en-US" sz="1800" dirty="0"/>
          </a:p>
        </p:txBody>
      </p:sp>
      <p:sp>
        <p:nvSpPr>
          <p:cNvPr id="14" name="tag-evidencia"/>
          <p:cNvSpPr txBox="1"/>
          <p:nvPr/>
        </p:nvSpPr>
        <p:spPr>
          <a:xfrm>
            <a:off x="9244584" y="1883664"/>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5" name="tag-pendiente"/>
          <p:cNvSpPr txBox="1"/>
          <p:nvPr/>
        </p:nvSpPr>
        <p:spPr>
          <a:xfrm>
            <a:off x="10360152" y="1883664"/>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6" name="Text 12"/>
          <p:cNvSpPr txBox="1"/>
          <p:nvPr/>
        </p:nvSpPr>
        <p:spPr>
          <a:xfrm>
            <a:off x="6428232" y="2423160"/>
            <a:ext cx="5029200" cy="2697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Etiquetado: Reglamento (UE) 1169/2011, idioma del país, 14 alérgenos y tabla nutrimental.</a:t>
            </a:r>
            <a:endParaRPr lang="en-US" sz="1400" dirty="0"/>
          </a:p>
          <a:p>
            <a:pPr marL="342900" indent="-342900">
              <a:spcAft>
                <a:spcPts val="600"/>
              </a:spcAft>
              <a:buSzPct val="100000"/>
              <a:buChar char="•"/>
            </a:pPr>
            <a:r>
              <a:rPr lang="en-US" sz="1400" dirty="0">
                <a:solidFill>
                  <a:schemeClr val="tx1"/>
                </a:solidFill>
              </a:rPr>
              <a:t>Aditivos: solo los del anexo II del Reglamento (CE) 1333/2008; revisar el benzoato.</a:t>
            </a:r>
            <a:endParaRPr lang="en-US" sz="1400" dirty="0"/>
          </a:p>
          <a:p>
            <a:pPr marL="342900" indent="-342900">
              <a:spcAft>
                <a:spcPts val="600"/>
              </a:spcAft>
              <a:buSzPct val="100000"/>
              <a:buChar char="•"/>
            </a:pPr>
            <a:r>
              <a:rPr lang="en-US" sz="1400" dirty="0">
                <a:solidFill>
                  <a:schemeClr val="tx1"/>
                </a:solidFill>
              </a:rPr>
              <a:t>Plaguicidas en el chile: límites máximos del Reglamento (CE) 396/2005.</a:t>
            </a:r>
            <a:endParaRPr lang="en-US" sz="1400" dirty="0"/>
          </a:p>
          <a:p>
            <a:pPr marL="342900" indent="-342900">
              <a:spcAft>
                <a:spcPts val="600"/>
              </a:spcAft>
              <a:buSzPct val="100000"/>
              <a:buChar char="•"/>
            </a:pPr>
            <a:r>
              <a:rPr lang="en-US" sz="1400" dirty="0">
                <a:solidFill>
                  <a:schemeClr val="tx1"/>
                </a:solidFill>
              </a:rPr>
              <a:t>Contaminantes: ocratoxina A y aflatoxinas en Capsicum seco, Reglamento (UE) 2023/915.</a:t>
            </a:r>
            <a:endParaRPr lang="en-US" sz="1400" dirty="0"/>
          </a:p>
          <a:p>
            <a:pPr marL="342900" indent="-342900">
              <a:spcAft>
                <a:spcPts val="600"/>
              </a:spcAft>
              <a:buSzPct val="100000"/>
              <a:buChar char="•"/>
            </a:pPr>
            <a:r>
              <a:rPr lang="en-US" sz="1400" dirty="0">
                <a:solidFill>
                  <a:schemeClr val="tx1"/>
                </a:solidFill>
              </a:rPr>
              <a:t>Higiene y trazabilidad: Reglamentos (CE) 852/2004 (APPCC) y 178/2002.</a:t>
            </a:r>
            <a:endParaRPr lang="en-US" sz="1400" dirty="0"/>
          </a:p>
        </p:txBody>
      </p:sp>
      <p:sp>
        <p:nvSpPr>
          <p:cNvPr id="17" name="prueba-clave"/>
          <p:cNvSpPr/>
          <p:nvPr/>
        </p:nvSpPr>
        <p:spPr>
          <a:xfrm>
            <a:off x="548640" y="5349240"/>
            <a:ext cx="11094415" cy="502920"/>
          </a:xfrm>
          <a:prstGeom prst="rect">
            <a:avLst/>
          </a:prstGeom>
          <a:solidFill>
            <a:schemeClr val="accent5"/>
          </a:solidFill>
          <a:ln w="12700">
            <a:solidFill>
              <a:schemeClr val="accent5"/>
            </a:solidFill>
            <a:prstDash val="solid"/>
          </a:ln>
        </p:spPr>
      </p:sp>
      <p:sp>
        <p:nvSpPr>
          <p:cNvPr id="18" name="icono-fondo"/>
          <p:cNvSpPr/>
          <p:nvPr/>
        </p:nvSpPr>
        <p:spPr>
          <a:xfrm>
            <a:off x="685800" y="5394960"/>
            <a:ext cx="411480" cy="411480"/>
          </a:xfrm>
          <a:prstGeom prst="ellipse">
            <a:avLst/>
          </a:prstGeom>
          <a:solidFill>
            <a:schemeClr val="accent1"/>
          </a:solidFill>
          <a:ln w="12700">
            <a:solidFill>
              <a:schemeClr val="accent1"/>
            </a:solidFill>
            <a:prstDash val="solid"/>
          </a:ln>
        </p:spPr>
      </p:sp>
      <p:pic>
        <p:nvPicPr>
          <p:cNvPr id="19" name="icono" descr="preencoded.png">    </p:cNvPr>
          <p:cNvPicPr>
            <a:picLocks noChangeAspect="1"/>
          </p:cNvPicPr>
          <p:nvPr/>
        </p:nvPicPr>
        <p:blipFill>
          <a:blip r:embed="rId3"/>
          <a:stretch>
            <a:fillRect/>
          </a:stretch>
        </p:blipFill>
        <p:spPr>
          <a:xfrm>
            <a:off x="788670" y="5497830"/>
            <a:ext cx="205740" cy="205740"/>
          </a:xfrm>
          <a:prstGeom prst="rect">
            <a:avLst/>
          </a:prstGeom>
        </p:spPr>
      </p:pic>
      <p:sp>
        <p:nvSpPr>
          <p:cNvPr id="20" name="Text 15"/>
          <p:cNvSpPr txBox="1"/>
          <p:nvPr/>
        </p:nvSpPr>
        <p:spPr>
          <a:xfrm>
            <a:off x="1234440" y="5349240"/>
            <a:ext cx="10241280" cy="502920"/>
          </a:xfrm>
          <a:prstGeom prst="rect">
            <a:avLst/>
          </a:prstGeom>
          <a:noFill/>
          <a:ln/>
        </p:spPr>
        <p:txBody>
          <a:bodyPr wrap="square" lIns="0" tIns="0" rIns="0" bIns="0" rtlCol="0" anchor="ctr"/>
          <a:lstStyle/>
          <a:p>
            <a:pPr indent="0" marL="0">
              <a:buNone/>
            </a:pPr>
            <a:r>
              <a:rPr lang="en-US" sz="1400" b="1" dirty="0">
                <a:solidFill>
                  <a:schemeClr val="tx2"/>
                </a:solidFill>
              </a:rPr>
              <a:t>Prueba clave: medir pH y actividad de agua en laboratorio. Si pH ≤ 4.6 y aw &gt; 0.85, la FDA la trata como alimento acidificado.</a:t>
            </a:r>
            <a:endParaRPr lang="en-US" sz="1400" dirty="0"/>
          </a:p>
        </p:txBody>
      </p:sp>
      <p:sp>
        <p:nvSpPr>
          <p:cNvPr id="21"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FDA, constituent update del 29-sep-2026 (renovación bienal); 21 CFR 108.25 y 114 vía Oregon Dept. of Agriculture y Univ. de Nebraska (BPCS); EUR-Lex, Reglamentos 1169/2011 y 1333/2008. Pendiente: límites exactos de 396/2005 y 2023/915 para la salsa terminada.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Niveles 1 y 2 · ComerciaMx e INEGI</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Hay base productiva; falta validar al proveedor</a:t>
            </a:r>
            <a:endParaRPr lang="en-US" sz="3200" dirty="0"/>
          </a:p>
        </p:txBody>
      </p:sp>
      <p:sp>
        <p:nvSpPr>
          <p:cNvPr id="4" name="nivel-1"/>
          <p:cNvSpPr/>
          <p:nvPr/>
        </p:nvSpPr>
        <p:spPr>
          <a:xfrm>
            <a:off x="548640" y="1600200"/>
            <a:ext cx="5486400" cy="4206240"/>
          </a:xfrm>
          <a:prstGeom prst="rect">
            <a:avLst/>
          </a:prstGeom>
          <a:solidFill>
            <a:schemeClr val="bg2"/>
          </a:solidFill>
          <a:ln w="12700">
            <a:solidFill>
              <a:schemeClr val="bg2"/>
            </a:solidFill>
            <a:prstDash val="solid"/>
          </a:ln>
        </p:spPr>
      </p:sp>
      <p:sp>
        <p:nvSpPr>
          <p:cNvPr id="5" name="Text 3"/>
          <p:cNvSpPr txBox="1"/>
          <p:nvPr/>
        </p:nvSpPr>
        <p:spPr>
          <a:xfrm>
            <a:off x="777240" y="1737360"/>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Nivel 1 · ComerciaMx</a:t>
            </a:r>
            <a:endParaRPr lang="en-US" sz="1800" dirty="0"/>
          </a:p>
        </p:txBody>
      </p:sp>
      <p:sp>
        <p:nvSpPr>
          <p:cNvPr id="6" name="tag-evidencia"/>
          <p:cNvSpPr txBox="1"/>
          <p:nvPr/>
        </p:nvSpPr>
        <p:spPr>
          <a:xfrm>
            <a:off x="4782312" y="1801368"/>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7" name="Text 5"/>
          <p:cNvSpPr txBox="1"/>
          <p:nvPr/>
        </p:nvSpPr>
        <p:spPr>
          <a:xfrm>
            <a:off x="777240" y="2194560"/>
            <a:ext cx="5029200" cy="548640"/>
          </a:xfrm>
          <a:prstGeom prst="rect">
            <a:avLst/>
          </a:prstGeom>
          <a:noFill/>
          <a:ln/>
        </p:spPr>
        <p:txBody>
          <a:bodyPr wrap="square" lIns="0" tIns="0" rIns="0" bIns="0" rtlCol="0" anchor="t"/>
          <a:lstStyle/>
          <a:p>
            <a:pPr indent="0" marL="0">
              <a:buNone/>
            </a:pPr>
            <a:r>
              <a:rPr lang="en-US" sz="1400" dirty="0">
                <a:solidFill>
                  <a:schemeClr val="tx1"/>
                </a:solidFill>
              </a:rPr>
              <a:t>Plataforma de la Secretaría de Economía y el BID (ConnectAmericas) con un directorio de más de 400 mil empresas.</a:t>
            </a:r>
            <a:endParaRPr lang="en-US" sz="1400" dirty="0"/>
          </a:p>
        </p:txBody>
      </p:sp>
      <p:sp>
        <p:nvSpPr>
          <p:cNvPr id="8" name="Text 6"/>
          <p:cNvSpPr txBox="1"/>
          <p:nvPr/>
        </p:nvSpPr>
        <p:spPr>
          <a:xfrm>
            <a:off x="777240" y="2834640"/>
            <a:ext cx="5029200" cy="160020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tx1"/>
                </a:solidFill>
              </a:rPr>
              <a:t>Alimentos y Salsas de México (Tecate, B.C.)</a:t>
            </a:r>
            <a:pPr indent="0" marL="0">
              <a:spcAft>
                <a:spcPts val="600"/>
              </a:spcAft>
              <a:buNone/>
            </a:pPr>
            <a:r>
              <a:rPr lang="en-US" sz="1400" dirty="0">
                <a:solidFill>
                  <a:schemeClr val="tx1"/>
                </a:solidFill>
              </a:rPr>
              <a:t>: exportador de salsas picantes</a:t>
            </a:r>
            <a:endParaRPr lang="en-US" sz="1400" dirty="0"/>
          </a:p>
          <a:p>
            <a:pPr marL="342900" indent="-342900">
              <a:spcAft>
                <a:spcPts val="600"/>
              </a:spcAft>
              <a:buSzPct val="100000"/>
              <a:buChar char="•"/>
            </a:pPr>
            <a:r>
              <a:rPr lang="en-US" sz="1400" b="1" dirty="0">
                <a:solidFill>
                  <a:schemeClr val="tx1"/>
                </a:solidFill>
              </a:rPr>
              <a:t>Industrias Guacamaya</a:t>
            </a:r>
            <a:pPr indent="0" marL="0">
              <a:spcAft>
                <a:spcPts val="600"/>
              </a:spcAft>
              <a:buNone/>
            </a:pPr>
            <a:r>
              <a:rPr lang="en-US" sz="1400" dirty="0">
                <a:solidFill>
                  <a:schemeClr val="tx1"/>
                </a:solidFill>
              </a:rPr>
              <a:t>: fabricante de salsas picantes</a:t>
            </a:r>
            <a:endParaRPr lang="en-US" sz="1400" dirty="0"/>
          </a:p>
          <a:p>
            <a:pPr marL="342900" indent="-342900">
              <a:spcAft>
                <a:spcPts val="600"/>
              </a:spcAft>
              <a:buSzPct val="100000"/>
              <a:buChar char="•"/>
            </a:pPr>
            <a:r>
              <a:rPr lang="en-US" sz="1400" b="1" dirty="0">
                <a:solidFill>
                  <a:schemeClr val="tx1"/>
                </a:solidFill>
              </a:rPr>
              <a:t>Grupo Herdez, La Costeña, El Yucateco</a:t>
            </a:r>
            <a:pPr indent="0" marL="0">
              <a:spcAft>
                <a:spcPts val="600"/>
              </a:spcAft>
              <a:buNone/>
            </a:pPr>
            <a:r>
              <a:rPr lang="en-US" sz="1400" dirty="0">
                <a:solidFill>
                  <a:schemeClr val="tx1"/>
                </a:solidFill>
              </a:rPr>
              <a:t>: marcas presentes en el canal hispano de EE. UU.</a:t>
            </a:r>
            <a:endParaRPr lang="en-US" sz="1400" dirty="0"/>
          </a:p>
        </p:txBody>
      </p:sp>
      <p:sp>
        <p:nvSpPr>
          <p:cNvPr id="9" name="tag-pendiente"/>
          <p:cNvSpPr txBox="1"/>
          <p:nvPr/>
        </p:nvSpPr>
        <p:spPr>
          <a:xfrm>
            <a:off x="777240" y="461772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0" name="Text 8"/>
          <p:cNvSpPr txBox="1"/>
          <p:nvPr/>
        </p:nvSpPr>
        <p:spPr>
          <a:xfrm>
            <a:off x="777240" y="4937760"/>
            <a:ext cx="5029200" cy="731520"/>
          </a:xfrm>
          <a:prstGeom prst="rect">
            <a:avLst/>
          </a:prstGeom>
          <a:noFill/>
          <a:ln/>
        </p:spPr>
        <p:txBody>
          <a:bodyPr wrap="square" lIns="0" tIns="0" rIns="0" bIns="0" rtlCol="0" anchor="t"/>
          <a:lstStyle/>
          <a:p>
            <a:pPr indent="0" marL="0">
              <a:buNone/>
            </a:pPr>
            <a:r>
              <a:rPr lang="en-US" sz="1400" dirty="0">
                <a:solidFill>
                  <a:schemeClr val="tx1"/>
                </a:solidFill>
              </a:rPr>
              <a:t>Buscar «salsa picante» en ComerciaMx, registrar 3 proveedores con contacto y pedir su capacidad mensual.</a:t>
            </a:r>
            <a:endParaRPr lang="en-US" sz="1400" dirty="0"/>
          </a:p>
        </p:txBody>
      </p:sp>
      <p:sp>
        <p:nvSpPr>
          <p:cNvPr id="11" name="Text 9"/>
          <p:cNvSpPr txBox="1"/>
          <p:nvPr/>
        </p:nvSpPr>
        <p:spPr>
          <a:xfrm>
            <a:off x="6355080" y="1737360"/>
            <a:ext cx="3200400" cy="365760"/>
          </a:xfrm>
          <a:prstGeom prst="rect">
            <a:avLst/>
          </a:prstGeom>
          <a:noFill/>
          <a:ln/>
        </p:spPr>
        <p:txBody>
          <a:bodyPr wrap="square" lIns="0" tIns="0" rIns="0" bIns="0" rtlCol="0" anchor="ctr"/>
          <a:lstStyle/>
          <a:p>
            <a:pPr indent="0" marL="0">
              <a:buNone/>
            </a:pPr>
            <a:r>
              <a:rPr lang="en-US" sz="1800" b="1" dirty="0">
                <a:solidFill>
                  <a:schemeClr val="tx2"/>
                </a:solidFill>
              </a:rPr>
              <a:t>Nivel 2 · INEGI</a:t>
            </a:r>
            <a:endParaRPr lang="en-US" sz="1800" dirty="0"/>
          </a:p>
        </p:txBody>
      </p:sp>
      <p:sp>
        <p:nvSpPr>
          <p:cNvPr id="12" name="tag-evidencia"/>
          <p:cNvSpPr txBox="1"/>
          <p:nvPr/>
        </p:nvSpPr>
        <p:spPr>
          <a:xfrm>
            <a:off x="10618927" y="1801368"/>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3" name="Text 11"/>
          <p:cNvSpPr txBox="1"/>
          <p:nvPr/>
        </p:nvSpPr>
        <p:spPr>
          <a:xfrm>
            <a:off x="6355080" y="2194560"/>
            <a:ext cx="5285232" cy="777240"/>
          </a:xfrm>
          <a:prstGeom prst="rect">
            <a:avLst/>
          </a:prstGeom>
          <a:noFill/>
          <a:ln/>
        </p:spPr>
        <p:txBody>
          <a:bodyPr wrap="square" lIns="0" tIns="0" rIns="0" bIns="0" rtlCol="0" anchor="t"/>
          <a:lstStyle/>
          <a:p>
            <a:pPr indent="0" marL="0">
              <a:buNone/>
            </a:pPr>
            <a:r>
              <a:rPr lang="en-US" sz="1400" dirty="0">
                <a:solidFill>
                  <a:schemeClr val="tx1"/>
                </a:solidFill>
              </a:rPr>
              <a:t>La clase SCIAN 311423 (conservación de guisos y otros alimentos preparados) incluye las salsas picantes; la EMIM mide su producción en toneladas.</a:t>
            </a:r>
            <a:endParaRPr lang="en-US" sz="1400" dirty="0"/>
          </a:p>
        </p:txBody>
      </p:sp>
      <p:graphicFrame>
        <p:nvGraphicFramePr>
          <p:cNvPr id="14" name="grafica-entidades" descr=""/>
          <p:cNvGraphicFramePr/>
          <p:nvPr/>
        </p:nvGraphicFramePr>
        <p:xfrm>
          <a:off x="6355080" y="3017520"/>
          <a:ext cx="5285232" cy="1783080"/>
        </p:xfrm>
        <a:graphic xmlns:a="http://schemas.openxmlformats.org/drawingml/2006/main">
          <a:graphicData uri="http://schemas.openxmlformats.org/drawingml/2006/chart">
            <c:chart xmlns:c="http://schemas.openxmlformats.org/drawingml/2006/chart" r:id="rId1"/>
          </a:graphicData>
        </a:graphic>
      </p:graphicFrame>
      <p:sp>
        <p:nvSpPr>
          <p:cNvPr id="15" name="tag-pendiente"/>
          <p:cNvSpPr txBox="1"/>
          <p:nvPr/>
        </p:nvSpPr>
        <p:spPr>
          <a:xfrm>
            <a:off x="6355080" y="493776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6" name="Text 13"/>
          <p:cNvSpPr txBox="1"/>
          <p:nvPr/>
        </p:nvSpPr>
        <p:spPr>
          <a:xfrm>
            <a:off x="6355080" y="5230368"/>
            <a:ext cx="5285232" cy="594360"/>
          </a:xfrm>
          <a:prstGeom prst="rect">
            <a:avLst/>
          </a:prstGeom>
          <a:noFill/>
          <a:ln/>
        </p:spPr>
        <p:txBody>
          <a:bodyPr wrap="square" lIns="0" tIns="0" rIns="0" bIns="0" rtlCol="0" anchor="t"/>
          <a:lstStyle/>
          <a:p>
            <a:pPr indent="0" marL="0">
              <a:buNone/>
            </a:pPr>
            <a:r>
              <a:rPr lang="en-US" sz="1400" dirty="0">
                <a:solidFill>
                  <a:schemeClr val="tx1"/>
                </a:solidFill>
              </a:rPr>
              <a:t>Descargar de la EMIM las toneladas de salsas picantes de 2025 y contar en el DENUE las unidades 311423 de Querétaro.</a:t>
            </a:r>
            <a:endParaRPr lang="en-US" sz="1400" dirty="0"/>
          </a:p>
        </p:txBody>
      </p:sp>
      <p:sp>
        <p:nvSpPr>
          <p:cNvPr id="17"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ConnectAmericas (ComerciaMx); DIEX México; Dirind; Global Market Insights, Hot Sauce Market 2026–2035; INEGI, SCIAN 2023 y EMIM (tabulados); DataMéxico (SE), 2024.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 4 · Trade Map · ¿Quién compra?</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EE. UU. importa el doble que el segundo comprador</a:t>
            </a:r>
            <a:endParaRPr lang="en-US" sz="3200" dirty="0"/>
          </a:p>
        </p:txBody>
      </p:sp>
      <p:graphicFrame>
        <p:nvGraphicFramePr>
          <p:cNvPr id="4" name="grafica-importadores" descr=""/>
          <p:cNvGraphicFramePr/>
          <p:nvPr/>
        </p:nvGraphicFramePr>
        <p:xfrm>
          <a:off x="548640" y="155448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ag-evidencia"/>
          <p:cNvSpPr txBox="1"/>
          <p:nvPr/>
        </p:nvSpPr>
        <p:spPr>
          <a:xfrm>
            <a:off x="7680960" y="169164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6" name="Text 3"/>
          <p:cNvSpPr txBox="1"/>
          <p:nvPr/>
        </p:nvSpPr>
        <p:spPr>
          <a:xfrm>
            <a:off x="7680960" y="2039112"/>
            <a:ext cx="3959352" cy="914400"/>
          </a:xfrm>
          <a:prstGeom prst="rect">
            <a:avLst/>
          </a:prstGeom>
          <a:noFill/>
          <a:ln/>
        </p:spPr>
        <p:txBody>
          <a:bodyPr wrap="square" lIns="0" tIns="0" rIns="0" bIns="0" rtlCol="0" anchor="t"/>
          <a:lstStyle/>
          <a:p>
            <a:pPr indent="0" marL="0">
              <a:buNone/>
            </a:pPr>
            <a:r>
              <a:rPr lang="en-US" sz="1400" dirty="0">
                <a:solidFill>
                  <a:schemeClr val="tx1"/>
                </a:solidFill>
              </a:rPr>
              <a:t>EE. UU. ya recibe ≈73% de lo que México exporta en la partida 2103: US$558 M de US$767 M (2024).</a:t>
            </a:r>
            <a:endParaRPr lang="en-US" sz="1400" dirty="0"/>
          </a:p>
        </p:txBody>
      </p:sp>
      <p:sp>
        <p:nvSpPr>
          <p:cNvPr id="7" name="tag-interpretación"/>
          <p:cNvSpPr txBox="1"/>
          <p:nvPr/>
        </p:nvSpPr>
        <p:spPr>
          <a:xfrm>
            <a:off x="7680960" y="306324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8" name="Text 5"/>
          <p:cNvSpPr txBox="1"/>
          <p:nvPr/>
        </p:nvSpPr>
        <p:spPr>
          <a:xfrm>
            <a:off x="7680960" y="3410712"/>
            <a:ext cx="3959352" cy="914400"/>
          </a:xfrm>
          <a:prstGeom prst="rect">
            <a:avLst/>
          </a:prstGeom>
          <a:noFill/>
          <a:ln/>
        </p:spPr>
        <p:txBody>
          <a:bodyPr wrap="square" lIns="0" tIns="0" rIns="0" bIns="0" rtlCol="0" anchor="t"/>
          <a:lstStyle/>
          <a:p>
            <a:pPr indent="0" marL="0">
              <a:buNone/>
            </a:pPr>
            <a:r>
              <a:rPr lang="en-US" sz="1400" dirty="0">
                <a:solidFill>
                  <a:schemeClr val="tx1"/>
                </a:solidFill>
              </a:rPr>
              <a:t>Canadá y Alemania tienen una demanda parecida (~US$780 M), pero Canadá ofrece mejor acceso.</a:t>
            </a:r>
            <a:endParaRPr lang="en-US" sz="1400" dirty="0"/>
          </a:p>
        </p:txBody>
      </p:sp>
      <p:sp>
        <p:nvSpPr>
          <p:cNvPr id="9" name="tag-pendiente"/>
          <p:cNvSpPr txBox="1"/>
          <p:nvPr/>
        </p:nvSpPr>
        <p:spPr>
          <a:xfrm>
            <a:off x="7680960" y="443484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0" name="Text 7"/>
          <p:cNvSpPr txBox="1"/>
          <p:nvPr/>
        </p:nvSpPr>
        <p:spPr>
          <a:xfrm>
            <a:off x="7680960" y="4782312"/>
            <a:ext cx="3959352" cy="914400"/>
          </a:xfrm>
          <a:prstGeom prst="rect">
            <a:avLst/>
          </a:prstGeom>
          <a:noFill/>
          <a:ln/>
        </p:spPr>
        <p:txBody>
          <a:bodyPr wrap="square" lIns="0" tIns="0" rIns="0" bIns="0" rtlCol="0" anchor="t"/>
          <a:lstStyle/>
          <a:p>
            <a:pPr indent="0" marL="0">
              <a:buNone/>
            </a:pPr>
            <a:r>
              <a:rPr lang="en-US" sz="1400" dirty="0">
                <a:solidFill>
                  <a:schemeClr val="tx1"/>
                </a:solidFill>
              </a:rPr>
              <a:t>Repetir en Trade Map con el mismo código (210390) y periodo (2025) para todos los mercados.</a:t>
            </a:r>
            <a:endParaRPr lang="en-US" sz="1400" dirty="0"/>
          </a:p>
        </p:txBody>
      </p:sp>
      <p:sp>
        <p:nvSpPr>
          <p:cNvPr id="11"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Tridge, Hot Sauce Market Overview (datos de ITC Trade Map, 2024); DataMéxico (SE), partida 2103, 2024.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Nivel 4 · Trade Map · ¿Quién abastece?</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México exporta, pero compite con potencias</a:t>
            </a:r>
            <a:endParaRPr lang="en-US" sz="3200" dirty="0"/>
          </a:p>
        </p:txBody>
      </p:sp>
      <p:graphicFrame>
        <p:nvGraphicFramePr>
          <p:cNvPr id="4" name="grafica-exportadores" descr=""/>
          <p:cNvGraphicFramePr/>
          <p:nvPr/>
        </p:nvGraphicFramePr>
        <p:xfrm>
          <a:off x="548640" y="155448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5" name="tag-evidencia"/>
          <p:cNvSpPr txBox="1"/>
          <p:nvPr/>
        </p:nvSpPr>
        <p:spPr>
          <a:xfrm>
            <a:off x="7863840" y="1691640"/>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6" name="Text 3"/>
          <p:cNvSpPr txBox="1"/>
          <p:nvPr/>
        </p:nvSpPr>
        <p:spPr>
          <a:xfrm>
            <a:off x="7863840" y="2039112"/>
            <a:ext cx="3776472" cy="960120"/>
          </a:xfrm>
          <a:prstGeom prst="rect">
            <a:avLst/>
          </a:prstGeom>
          <a:noFill/>
          <a:ln/>
        </p:spPr>
        <p:txBody>
          <a:bodyPr wrap="square" lIns="0" tIns="0" rIns="0" bIns="0" rtlCol="0" anchor="t"/>
          <a:lstStyle/>
          <a:p>
            <a:pPr indent="0" marL="0">
              <a:buNone/>
            </a:pPr>
            <a:r>
              <a:rPr lang="en-US" sz="1400" dirty="0">
                <a:solidFill>
                  <a:schemeClr val="tx1"/>
                </a:solidFill>
              </a:rPr>
              <a:t>En EE. UU. compiten Tabasco y Frank's RedHot, además de Cholula (hoy de McCormick) y marcas mexicanas como El Yucateco.</a:t>
            </a:r>
            <a:endParaRPr lang="en-US" sz="1400" dirty="0"/>
          </a:p>
        </p:txBody>
      </p:sp>
      <p:sp>
        <p:nvSpPr>
          <p:cNvPr id="7" name="tag-interpretación"/>
          <p:cNvSpPr txBox="1"/>
          <p:nvPr/>
        </p:nvSpPr>
        <p:spPr>
          <a:xfrm>
            <a:off x="7863840" y="306324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8" name="Text 5"/>
          <p:cNvSpPr txBox="1"/>
          <p:nvPr/>
        </p:nvSpPr>
        <p:spPr>
          <a:xfrm>
            <a:off x="7863840" y="3410712"/>
            <a:ext cx="3776472" cy="960120"/>
          </a:xfrm>
          <a:prstGeom prst="rect">
            <a:avLst/>
          </a:prstGeom>
          <a:noFill/>
          <a:ln/>
        </p:spPr>
        <p:txBody>
          <a:bodyPr wrap="square" lIns="0" tIns="0" rIns="0" bIns="0" rtlCol="0" anchor="t"/>
          <a:lstStyle/>
          <a:p>
            <a:pPr indent="0" marL="0">
              <a:buNone/>
            </a:pPr>
            <a:r>
              <a:rPr lang="en-US" sz="1400" dirty="0">
                <a:solidFill>
                  <a:schemeClr val="tx1"/>
                </a:solidFill>
              </a:rPr>
              <a:t>Italia, Alemania y Países Bajos venden sobre todo aderezos y salsas no picantes; en picante, la ventaja mexicana es la autenticidad.</a:t>
            </a:r>
            <a:endParaRPr lang="en-US" sz="1400" dirty="0"/>
          </a:p>
        </p:txBody>
      </p:sp>
      <p:sp>
        <p:nvSpPr>
          <p:cNvPr id="9" name="tag-pendiente"/>
          <p:cNvSpPr txBox="1"/>
          <p:nvPr/>
        </p:nvSpPr>
        <p:spPr>
          <a:xfrm>
            <a:off x="7863840" y="4434840"/>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10" name="Text 7"/>
          <p:cNvSpPr txBox="1"/>
          <p:nvPr/>
        </p:nvSpPr>
        <p:spPr>
          <a:xfrm>
            <a:off x="7863840" y="4782312"/>
            <a:ext cx="3776472" cy="960120"/>
          </a:xfrm>
          <a:prstGeom prst="rect">
            <a:avLst/>
          </a:prstGeom>
          <a:noFill/>
          <a:ln/>
        </p:spPr>
        <p:txBody>
          <a:bodyPr wrap="square" lIns="0" tIns="0" rIns="0" bIns="0" rtlCol="0" anchor="t"/>
          <a:lstStyle/>
          <a:p>
            <a:pPr indent="0" marL="0">
              <a:buNone/>
            </a:pPr>
            <a:r>
              <a:rPr lang="en-US" sz="1400" dirty="0">
                <a:solidFill>
                  <a:schemeClr val="tx1"/>
                </a:solidFill>
              </a:rPr>
              <a:t>Bajar de Trade Map las importaciones de EE. UU. por origen (2025) para medir la participación de México.</a:t>
            </a:r>
            <a:endParaRPr lang="en-US" sz="1400" dirty="0"/>
          </a:p>
        </p:txBody>
      </p:sp>
      <p:sp>
        <p:nvSpPr>
          <p:cNvPr id="11"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Banco Mundial, WITS / UN Comtrade, exportaciones SA 210390, 2024; Global Market Insights, Hot Sauce Market 2026–2035.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Mercados y competencia · Priorizar</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Prioridad: EE. UU., luego Canadá; la UE después</a:t>
            </a:r>
            <a:endParaRPr lang="en-US" sz="3200" dirty="0"/>
          </a:p>
        </p:txBody>
      </p:sp>
      <p:graphicFrame>
        <p:nvGraphicFramePr>
          <p:cNvPr id="13" name="matriz"/>
          <p:cNvGraphicFramePr>
            <a:graphicFrameLocks noGrp="1"/>
          </p:cNvGraphicFramePr>
          <p:nvPr>
            <p:extLst>
              <p:ext uri="{D42A27DB-BD31-4B8C-83A1-F6EECF244321}">
                <p14:modId xmlns:p14="http://schemas.microsoft.com/office/powerpoint/2010/main" val="1579011935"/>
              </p:ext>
            </p:extLst>
          </p:nvPr>
        </p:nvGraphicFramePr>
        <p:xfrm>
          <a:off x="548640" y="1600200"/>
          <a:ext cx="7223760" cy="914400"/>
        </p:xfrm>
        <a:graphic>
          <a:graphicData uri="http://schemas.openxmlformats.org/drawingml/2006/table">
            <a:tbl>
              <a:tblPr/>
              <a:tblGrid>
                <a:gridCol w="3657600"/>
                <a:gridCol w="1188720"/>
                <a:gridCol w="1188720"/>
                <a:gridCol w="1188720"/>
              </a:tblGrid>
              <a:tr h="548640">
                <a:tc>
                  <a:txBody>
                    <a:bodyPr/>
                    <a:lstStyle/>
                    <a:p>
                      <a:pPr indent="0" marL="0">
                        <a:buNone/>
                      </a:pPr>
                      <a:r>
                        <a:rPr lang="en-US" sz="1400" b="1" dirty="0">
                          <a:solidFill>
                            <a:schemeClr val="bg1"/>
                          </a:solidFill>
                        </a:rPr>
                        <a:t>Criterio</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EE. UU.</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Canadá</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Alemania</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400" dirty="0">
                          <a:solidFill>
                            <a:schemeClr val="tx1"/>
                          </a:solidFill>
                        </a:rPr>
                        <a:t>Demanda (importaciones 2024)</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600" b="1" dirty="0">
                          <a:solidFill>
                            <a:srgbClr val="FFFFFF"/>
                          </a:solidFill>
                        </a:rPr>
                        <a:t>5</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A2F7C"/>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r>
              <a:tr h="548640">
                <a:tc>
                  <a:txBody>
                    <a:bodyPr/>
                    <a:lstStyle/>
                    <a:p>
                      <a:pPr indent="0" marL="0">
                        <a:buNone/>
                      </a:pPr>
                      <a:r>
                        <a:rPr lang="en-US" sz="1400" dirty="0">
                          <a:solidFill>
                            <a:schemeClr val="tx1"/>
                          </a:solidFill>
                        </a:rPr>
                        <a:t>Acceso arancelario para México</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600" b="1" dirty="0">
                          <a:solidFill>
                            <a:srgbClr val="FFFFFF"/>
                          </a:solidFill>
                        </a:rPr>
                        <a:t>5</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A2F7C"/>
                    </a:solidFill>
                  </a:tcPr>
                </a:tc>
                <a:tc>
                  <a:txBody>
                    <a:bodyPr/>
                    <a:lstStyle/>
                    <a:p>
                      <a:pPr algn="ctr" indent="0" marL="0">
                        <a:buNone/>
                      </a:pPr>
                      <a:r>
                        <a:rPr lang="en-US" sz="1600" b="1" dirty="0">
                          <a:solidFill>
                            <a:srgbClr val="FFFFFF"/>
                          </a:solidFill>
                        </a:rPr>
                        <a:t>5</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A2F7C"/>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r>
              <a:tr h="548640">
                <a:tc>
                  <a:txBody>
                    <a:bodyPr/>
                    <a:lstStyle/>
                    <a:p>
                      <a:pPr indent="0" marL="0">
                        <a:buNone/>
                      </a:pPr>
                      <a:r>
                        <a:rPr lang="en-US" sz="1400" dirty="0">
                          <a:solidFill>
                            <a:schemeClr val="tx1"/>
                          </a:solidFill>
                        </a:rPr>
                        <a:t>Requisitos sanitarios (5 = más sencillo)</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c>
                  <a:txBody>
                    <a:bodyPr/>
                    <a:lstStyle/>
                    <a:p>
                      <a:pPr algn="ctr" indent="0" marL="0">
                        <a:buNone/>
                      </a:pPr>
                      <a:r>
                        <a:rPr lang="en-US" sz="1600" b="1" dirty="0">
                          <a:solidFill>
                            <a:srgbClr val="231B3D"/>
                          </a:solidFill>
                        </a:rPr>
                        <a:t>2</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CFF0"/>
                    </a:solidFill>
                  </a:tcPr>
                </a:tc>
              </a:tr>
              <a:tr h="548640">
                <a:tc>
                  <a:txBody>
                    <a:bodyPr/>
                    <a:lstStyle/>
                    <a:p>
                      <a:pPr indent="0" marL="0">
                        <a:buNone/>
                      </a:pPr>
                      <a:r>
                        <a:rPr lang="en-US" sz="1400" dirty="0">
                          <a:solidFill>
                            <a:schemeClr val="tx1"/>
                          </a:solidFill>
                        </a:rPr>
                        <a:t>Logística desde Querétaro</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600" b="1" dirty="0">
                          <a:solidFill>
                            <a:srgbClr val="FFFFFF"/>
                          </a:solidFill>
                        </a:rPr>
                        <a:t>5</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A2F7C"/>
                    </a:solidFill>
                  </a:tcPr>
                </a:tc>
                <a:tc>
                  <a:txBody>
                    <a:bodyPr/>
                    <a:lstStyle/>
                    <a:p>
                      <a:pPr algn="ctr" indent="0" marL="0">
                        <a:buNone/>
                      </a:pPr>
                      <a:r>
                        <a:rPr lang="en-US" sz="1600" b="1" dirty="0">
                          <a:solidFill>
                            <a:srgbClr val="FFFFFF"/>
                          </a:solidFill>
                        </a:rPr>
                        <a:t>4</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7E63C2"/>
                    </a:solidFill>
                  </a:tcPr>
                </a:tc>
                <a:tc>
                  <a:txBody>
                    <a:bodyPr/>
                    <a:lstStyle/>
                    <a:p>
                      <a:pPr algn="ctr" indent="0" marL="0">
                        <a:buNone/>
                      </a:pPr>
                      <a:r>
                        <a:rPr lang="en-US" sz="1600" b="1" dirty="0">
                          <a:solidFill>
                            <a:srgbClr val="231B3D"/>
                          </a:solidFill>
                        </a:rPr>
                        <a:t>2</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CFF0"/>
                    </a:solidFill>
                  </a:tcPr>
                </a:tc>
              </a:tr>
              <a:tr h="548640">
                <a:tc>
                  <a:txBody>
                    <a:bodyPr/>
                    <a:lstStyle/>
                    <a:p>
                      <a:pPr indent="0" marL="0">
                        <a:buNone/>
                      </a:pPr>
                      <a:r>
                        <a:rPr lang="en-US" sz="1400" dirty="0">
                          <a:solidFill>
                            <a:schemeClr val="tx1"/>
                          </a:solidFill>
                        </a:rPr>
                        <a:t>Competencia (5 = menos intensa)</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600" b="1" dirty="0">
                          <a:solidFill>
                            <a:srgbClr val="231B3D"/>
                          </a:solidFill>
                        </a:rPr>
                        <a:t>2</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CFF0"/>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c>
                  <a:txBody>
                    <a:bodyPr/>
                    <a:lstStyle/>
                    <a:p>
                      <a:pPr algn="ctr" indent="0" marL="0">
                        <a:buNone/>
                      </a:pPr>
                      <a:r>
                        <a:rPr lang="en-US" sz="1600" b="1" dirty="0">
                          <a:solidFill>
                            <a:srgbClr val="231B3D"/>
                          </a:solidFill>
                        </a:rPr>
                        <a:t>3</a:t>
                      </a:r>
                      <a:endParaRPr lang="en-US" sz="16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A6E0"/>
                    </a:solidFill>
                  </a:tcPr>
                </a:tc>
              </a:tr>
              <a:tr h="548640">
                <a:tc>
                  <a:txBody>
                    <a:bodyPr/>
                    <a:lstStyle/>
                    <a:p>
                      <a:pPr indent="0" marL="0">
                        <a:buNone/>
                      </a:pPr>
                      <a:r>
                        <a:rPr lang="en-US" sz="1400" b="1" dirty="0">
                          <a:solidFill>
                            <a:schemeClr val="tx2"/>
                          </a:solidFill>
                        </a:rPr>
                        <a:t>Total (máximo 25)</a:t>
                      </a:r>
                      <a:endParaRPr lang="en-US" sz="14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800" b="1" dirty="0">
                          <a:solidFill>
                            <a:schemeClr val="accent1"/>
                          </a:solidFill>
                        </a:rPr>
                        <a:t>20</a:t>
                      </a:r>
                      <a:endParaRPr lang="en-US" sz="18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800" b="1" dirty="0">
                          <a:solidFill>
                            <a:schemeClr val="tx2"/>
                          </a:solidFill>
                        </a:rPr>
                        <a:t>18</a:t>
                      </a:r>
                      <a:endParaRPr lang="en-US" sz="18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800" b="1" dirty="0">
                          <a:solidFill>
                            <a:schemeClr val="tx2"/>
                          </a:solidFill>
                        </a:rPr>
                        <a:t>13</a:t>
                      </a:r>
                      <a:endParaRPr lang="en-US" sz="1800" dirty="0"/>
                    </a:p>
                  </a:txBody>
                  <a:tcPr marL="109728" marR="109728"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bl>
          </a:graphicData>
        </a:graphic>
      </p:graphicFrame>
      <p:sp>
        <p:nvSpPr>
          <p:cNvPr id="5" name="Text 2"/>
          <p:cNvSpPr txBox="1"/>
          <p:nvPr/>
        </p:nvSpPr>
        <p:spPr>
          <a:xfrm>
            <a:off x="548640" y="5486400"/>
            <a:ext cx="7223760" cy="365760"/>
          </a:xfrm>
          <a:prstGeom prst="rect">
            <a:avLst/>
          </a:prstGeom>
          <a:noFill/>
          <a:ln/>
        </p:spPr>
        <p:txBody>
          <a:bodyPr wrap="square" lIns="0" tIns="0" rIns="0" bIns="0" rtlCol="0" anchor="t"/>
          <a:lstStyle/>
          <a:p>
            <a:pPr indent="0" marL="0">
              <a:buNone/>
            </a:pPr>
            <a:r>
              <a:rPr lang="en-US" sz="1200" i="1" dirty="0">
                <a:solidFill>
                  <a:schemeClr val="accent6"/>
                </a:solidFill>
              </a:rPr>
              <a:t>Escala de 1 a 5 (5 = más favorable), mismo peso por criterio. Reino Unido queda fuera hasta confirmar su arancel.</a:t>
            </a:r>
            <a:endParaRPr lang="en-US" sz="1200" dirty="0"/>
          </a:p>
        </p:txBody>
      </p:sp>
      <p:sp>
        <p:nvSpPr>
          <p:cNvPr id="6" name="recomendacion"/>
          <p:cNvSpPr/>
          <p:nvPr/>
        </p:nvSpPr>
        <p:spPr>
          <a:xfrm>
            <a:off x="8092440" y="1600200"/>
            <a:ext cx="3547872" cy="4206240"/>
          </a:xfrm>
          <a:prstGeom prst="rect">
            <a:avLst/>
          </a:prstGeom>
          <a:solidFill>
            <a:schemeClr val="tx2"/>
          </a:solidFill>
          <a:ln w="12700">
            <a:solidFill>
              <a:schemeClr val="tx2"/>
            </a:solidFill>
            <a:prstDash val="solid"/>
          </a:ln>
        </p:spPr>
      </p:sp>
      <p:sp>
        <p:nvSpPr>
          <p:cNvPr id="7" name="tag-interpretación"/>
          <p:cNvSpPr txBox="1"/>
          <p:nvPr/>
        </p:nvSpPr>
        <p:spPr>
          <a:xfrm>
            <a:off x="8321040" y="1810512"/>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8" name="Text 5"/>
          <p:cNvSpPr txBox="1"/>
          <p:nvPr/>
        </p:nvSpPr>
        <p:spPr>
          <a:xfrm>
            <a:off x="8321040" y="2194560"/>
            <a:ext cx="3108960" cy="3474720"/>
          </a:xfrm>
          <a:prstGeom prst="rect">
            <a:avLst/>
          </a:prstGeom>
          <a:noFill/>
          <a:ln/>
        </p:spPr>
        <p:txBody>
          <a:bodyPr wrap="square" lIns="0" tIns="0" rIns="0" bIns="0" rtlCol="0" anchor="t"/>
          <a:lstStyle/>
          <a:p>
            <a:pPr indent="0" marL="0">
              <a:buNone/>
            </a:pPr>
            <a:r>
              <a:rPr lang="en-US" sz="2000" b="1" dirty="0">
                <a:solidFill>
                  <a:schemeClr val="accent1"/>
                </a:solidFill>
              </a:rPr>
              <a:t>Recomendación</a:t>
            </a:r>
            <a:endParaRPr lang="en-US" sz="2000" dirty="0"/>
          </a:p>
          <a:p>
            <a:pPr indent="0" marL="0">
              <a:buNone/>
            </a:pPr>
            <a:r>
              <a:rPr lang="en-US" sz="1500" dirty="0">
                <a:solidFill>
                  <a:schemeClr val="bg1"/>
                </a:solidFill>
              </a:rPr>
              <a:t>Priorizar Estados Unidos: la mayor demanda, 0% con T-MEC y envío por tierra.</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bg1"/>
                </a:solidFill>
              </a:rPr>
              <a:t>Condición: certificar el origen T-MEC para no pagar el 10% de la Sección 301.</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bg1"/>
                </a:solidFill>
              </a:rPr>
              <a:t>Canadá, segundo destino con el mismo trámite de origen; Alemania, cuando entre en vigor el acuerdo interino con la UE.</a:t>
            </a:r>
            <a:endParaRPr lang="en-US" sz="2000" dirty="0"/>
          </a:p>
        </p:txBody>
      </p:sp>
      <p:sp>
        <p:nvSpPr>
          <p:cNvPr id="9"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Base de la matriz: diapositivas 7, 8, 10 y 11 (demanda: Trade Map vía Tridge; acceso: USITC, TARIC, T-MEC; requisitos: FDA y EUR-Lex). Puntajes asignados por el autor.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Fuentes Plus · Macroeconomía y tendencias</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Demanda estable, consumidor que cuida el precio</a:t>
            </a:r>
            <a:endParaRPr lang="en-US" sz="3200" dirty="0"/>
          </a:p>
        </p:txBody>
      </p:sp>
      <p:sp>
        <p:nvSpPr>
          <p:cNvPr id="4" name="tarjeta"/>
          <p:cNvSpPr/>
          <p:nvPr/>
        </p:nvSpPr>
        <p:spPr>
          <a:xfrm>
            <a:off x="548640" y="1600200"/>
            <a:ext cx="2615184" cy="3291840"/>
          </a:xfrm>
          <a:prstGeom prst="rect">
            <a:avLst/>
          </a:prstGeom>
          <a:solidFill>
            <a:schemeClr val="bg2"/>
          </a:solidFill>
          <a:ln w="12700">
            <a:solidFill>
              <a:schemeClr val="bg2"/>
            </a:solidFill>
            <a:prstDash val="solid"/>
          </a:ln>
        </p:spPr>
      </p:sp>
      <p:sp>
        <p:nvSpPr>
          <p:cNvPr id="5" name="Text 3"/>
          <p:cNvSpPr txBox="1"/>
          <p:nvPr/>
        </p:nvSpPr>
        <p:spPr>
          <a:xfrm>
            <a:off x="731520" y="1737360"/>
            <a:ext cx="2286000" cy="594360"/>
          </a:xfrm>
          <a:prstGeom prst="rect">
            <a:avLst/>
          </a:prstGeom>
          <a:noFill/>
          <a:ln/>
        </p:spPr>
        <p:txBody>
          <a:bodyPr wrap="square" lIns="0" tIns="0" rIns="0" bIns="0" rtlCol="0" anchor="t"/>
          <a:lstStyle/>
          <a:p>
            <a:pPr indent="0" marL="0">
              <a:buNone/>
            </a:pPr>
            <a:r>
              <a:rPr lang="en-US" sz="1700" b="1" dirty="0">
                <a:solidFill>
                  <a:schemeClr val="tx2"/>
                </a:solidFill>
              </a:rPr>
              <a:t>FMI · WEO oct-2026</a:t>
            </a:r>
            <a:endParaRPr lang="en-US" sz="1700" dirty="0"/>
          </a:p>
        </p:txBody>
      </p:sp>
      <p:sp>
        <p:nvSpPr>
          <p:cNvPr id="6" name="Text 4"/>
          <p:cNvSpPr txBox="1"/>
          <p:nvPr/>
        </p:nvSpPr>
        <p:spPr>
          <a:xfrm>
            <a:off x="731520" y="2377440"/>
            <a:ext cx="2286000" cy="2057400"/>
          </a:xfrm>
          <a:prstGeom prst="rect">
            <a:avLst/>
          </a:prstGeom>
          <a:noFill/>
          <a:ln/>
        </p:spPr>
        <p:txBody>
          <a:bodyPr wrap="square" lIns="0" tIns="0" rIns="0" bIns="0" rtlCol="0" anchor="t"/>
          <a:lstStyle/>
          <a:p>
            <a:pPr indent="0" marL="0">
              <a:buNone/>
            </a:pPr>
            <a:r>
              <a:rPr lang="en-US" sz="1400" dirty="0">
                <a:solidFill>
                  <a:schemeClr val="tx1"/>
                </a:solidFill>
              </a:rPr>
              <a:t>Mundo: 3.1% en 2026 y 3.4% en 2027. EE. UU.: 2.3% ambos años. Zona euro: 1.1% y 1.2%. Riesgo: energía cara por la guerra en Irán.</a:t>
            </a:r>
            <a:endParaRPr lang="en-US" sz="1400" dirty="0"/>
          </a:p>
        </p:txBody>
      </p:sp>
      <p:sp>
        <p:nvSpPr>
          <p:cNvPr id="7" name="tag-evidencia"/>
          <p:cNvSpPr txBox="1"/>
          <p:nvPr/>
        </p:nvSpPr>
        <p:spPr>
          <a:xfrm>
            <a:off x="731520" y="4507992"/>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8" name="tarjeta"/>
          <p:cNvSpPr/>
          <p:nvPr/>
        </p:nvSpPr>
        <p:spPr>
          <a:xfrm>
            <a:off x="3374136" y="1600200"/>
            <a:ext cx="2615184" cy="3291840"/>
          </a:xfrm>
          <a:prstGeom prst="rect">
            <a:avLst/>
          </a:prstGeom>
          <a:solidFill>
            <a:schemeClr val="bg2"/>
          </a:solidFill>
          <a:ln w="12700">
            <a:solidFill>
              <a:schemeClr val="bg2"/>
            </a:solidFill>
            <a:prstDash val="solid"/>
          </a:ln>
        </p:spPr>
      </p:sp>
      <p:sp>
        <p:nvSpPr>
          <p:cNvPr id="9" name="Text 7"/>
          <p:cNvSpPr txBox="1"/>
          <p:nvPr/>
        </p:nvSpPr>
        <p:spPr>
          <a:xfrm>
            <a:off x="3557016" y="1737360"/>
            <a:ext cx="2286000" cy="594360"/>
          </a:xfrm>
          <a:prstGeom prst="rect">
            <a:avLst/>
          </a:prstGeom>
          <a:noFill/>
          <a:ln/>
        </p:spPr>
        <p:txBody>
          <a:bodyPr wrap="square" lIns="0" tIns="0" rIns="0" bIns="0" rtlCol="0" anchor="t"/>
          <a:lstStyle/>
          <a:p>
            <a:pPr indent="0" marL="0">
              <a:buNone/>
            </a:pPr>
            <a:r>
              <a:rPr lang="en-US" sz="1700" b="1" dirty="0">
                <a:solidFill>
                  <a:schemeClr val="tx2"/>
                </a:solidFill>
              </a:rPr>
              <a:t>Deloitte · Outlook 2026</a:t>
            </a:r>
            <a:endParaRPr lang="en-US" sz="1700" dirty="0"/>
          </a:p>
        </p:txBody>
      </p:sp>
      <p:sp>
        <p:nvSpPr>
          <p:cNvPr id="10" name="Text 8"/>
          <p:cNvSpPr txBox="1"/>
          <p:nvPr/>
        </p:nvSpPr>
        <p:spPr>
          <a:xfrm>
            <a:off x="3557016" y="2377440"/>
            <a:ext cx="2286000" cy="2057400"/>
          </a:xfrm>
          <a:prstGeom prst="rect">
            <a:avLst/>
          </a:prstGeom>
          <a:noFill/>
          <a:ln/>
        </p:spPr>
        <p:txBody>
          <a:bodyPr wrap="square" lIns="0" tIns="0" rIns="0" bIns="0" rtlCol="0" anchor="t"/>
          <a:lstStyle/>
          <a:p>
            <a:pPr indent="0" marL="0">
              <a:buNone/>
            </a:pPr>
            <a:r>
              <a:rPr lang="en-US" sz="1400" dirty="0">
                <a:solidFill>
                  <a:schemeClr val="tx1"/>
                </a:solidFill>
              </a:rPr>
              <a:t>47% de los consumidores busca valor y sacrifica comodidad por precio: el costo por mililitro y el formato importan.</a:t>
            </a:r>
            <a:endParaRPr lang="en-US" sz="1400" dirty="0"/>
          </a:p>
        </p:txBody>
      </p:sp>
      <p:sp>
        <p:nvSpPr>
          <p:cNvPr id="11" name="tag-evidencia"/>
          <p:cNvSpPr txBox="1"/>
          <p:nvPr/>
        </p:nvSpPr>
        <p:spPr>
          <a:xfrm>
            <a:off x="3557016" y="4507992"/>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2" name="tarjeta"/>
          <p:cNvSpPr/>
          <p:nvPr/>
        </p:nvSpPr>
        <p:spPr>
          <a:xfrm>
            <a:off x="6199632" y="1600200"/>
            <a:ext cx="2615184" cy="3291840"/>
          </a:xfrm>
          <a:prstGeom prst="rect">
            <a:avLst/>
          </a:prstGeom>
          <a:solidFill>
            <a:schemeClr val="bg2"/>
          </a:solidFill>
          <a:ln w="12700">
            <a:solidFill>
              <a:schemeClr val="bg2"/>
            </a:solidFill>
            <a:prstDash val="solid"/>
          </a:ln>
        </p:spPr>
      </p:sp>
      <p:sp>
        <p:nvSpPr>
          <p:cNvPr id="13" name="Text 11"/>
          <p:cNvSpPr txBox="1"/>
          <p:nvPr/>
        </p:nvSpPr>
        <p:spPr>
          <a:xfrm>
            <a:off x="6382512" y="1737360"/>
            <a:ext cx="2286000" cy="594360"/>
          </a:xfrm>
          <a:prstGeom prst="rect">
            <a:avLst/>
          </a:prstGeom>
          <a:noFill/>
          <a:ln/>
        </p:spPr>
        <p:txBody>
          <a:bodyPr wrap="square" lIns="0" tIns="0" rIns="0" bIns="0" rtlCol="0" anchor="t"/>
          <a:lstStyle/>
          <a:p>
            <a:pPr indent="0" marL="0">
              <a:buNone/>
            </a:pPr>
            <a:r>
              <a:rPr lang="en-US" sz="1700" b="1" dirty="0">
                <a:solidFill>
                  <a:schemeClr val="tx2"/>
                </a:solidFill>
              </a:rPr>
              <a:t>Bancomext</a:t>
            </a:r>
            <a:endParaRPr lang="en-US" sz="1700" dirty="0"/>
          </a:p>
        </p:txBody>
      </p:sp>
      <p:sp>
        <p:nvSpPr>
          <p:cNvPr id="14" name="Text 12"/>
          <p:cNvSpPr txBox="1"/>
          <p:nvPr/>
        </p:nvSpPr>
        <p:spPr>
          <a:xfrm>
            <a:off x="6382512" y="2377440"/>
            <a:ext cx="2286000" cy="2057400"/>
          </a:xfrm>
          <a:prstGeom prst="rect">
            <a:avLst/>
          </a:prstGeom>
          <a:noFill/>
          <a:ln/>
        </p:spPr>
        <p:txBody>
          <a:bodyPr wrap="square" lIns="0" tIns="0" rIns="0" bIns="0" rtlCol="0" anchor="t"/>
          <a:lstStyle/>
          <a:p>
            <a:pPr indent="0" marL="0">
              <a:buNone/>
            </a:pPr>
            <a:r>
              <a:rPr lang="en-US" sz="1400" dirty="0">
                <a:solidFill>
                  <a:schemeClr val="tx1"/>
                </a:solidFill>
              </a:rPr>
              <a:t>Prevé colocar 190,000 mdp en nuevos créditos en 2026 (Plan México): opción de capital de trabajo para la primera exportación.</a:t>
            </a:r>
            <a:endParaRPr lang="en-US" sz="1400" dirty="0"/>
          </a:p>
        </p:txBody>
      </p:sp>
      <p:sp>
        <p:nvSpPr>
          <p:cNvPr id="15" name="tag-evidencia"/>
          <p:cNvSpPr txBox="1"/>
          <p:nvPr/>
        </p:nvSpPr>
        <p:spPr>
          <a:xfrm>
            <a:off x="6382512" y="4507992"/>
            <a:ext cx="1024128" cy="246888"/>
          </a:xfrm>
          <a:prstGeom prst="roundRect">
            <a:avLst>
              <a:gd name="adj" fmla="val 48148"/>
            </a:avLst>
          </a:prstGeom>
          <a:solidFill>
            <a:schemeClr val="accent3"/>
          </a:solidFill>
          <a:ln>
            <a:solidFill>
              <a:schemeClr val="accent3"/>
            </a:solidFill>
          </a:ln>
        </p:spPr>
        <p:txBody>
          <a:bodyPr wrap="square" lIns="0" tIns="0" rIns="0" bIns="0" rtlCol="0" anchor="ctr"/>
          <a:lstStyle/>
          <a:p>
            <a:pPr algn="ctr" indent="0" marL="0">
              <a:buNone/>
            </a:pPr>
            <a:r>
              <a:rPr lang="en-US" sz="1000" b="1" spc="50" kern="0" dirty="0">
                <a:solidFill>
                  <a:schemeClr val="bg1"/>
                </a:solidFill>
              </a:rPr>
              <a:t>EVIDENCIA</a:t>
            </a:r>
            <a:endParaRPr lang="en-US" sz="1000" dirty="0"/>
          </a:p>
        </p:txBody>
      </p:sp>
      <p:sp>
        <p:nvSpPr>
          <p:cNvPr id="16" name="tarjeta"/>
          <p:cNvSpPr/>
          <p:nvPr/>
        </p:nvSpPr>
        <p:spPr>
          <a:xfrm>
            <a:off x="9025128" y="1600200"/>
            <a:ext cx="2615184" cy="3291840"/>
          </a:xfrm>
          <a:prstGeom prst="rect">
            <a:avLst/>
          </a:prstGeom>
          <a:solidFill>
            <a:schemeClr val="accent5"/>
          </a:solidFill>
          <a:ln w="12700">
            <a:solidFill>
              <a:schemeClr val="accent5"/>
            </a:solidFill>
            <a:prstDash val="solid"/>
          </a:ln>
        </p:spPr>
      </p:sp>
      <p:sp>
        <p:nvSpPr>
          <p:cNvPr id="17" name="Text 15"/>
          <p:cNvSpPr txBox="1"/>
          <p:nvPr/>
        </p:nvSpPr>
        <p:spPr>
          <a:xfrm>
            <a:off x="9208008" y="1737360"/>
            <a:ext cx="2286000" cy="594360"/>
          </a:xfrm>
          <a:prstGeom prst="rect">
            <a:avLst/>
          </a:prstGeom>
          <a:noFill/>
          <a:ln/>
        </p:spPr>
        <p:txBody>
          <a:bodyPr wrap="square" lIns="0" tIns="0" rIns="0" bIns="0" rtlCol="0" anchor="t"/>
          <a:lstStyle/>
          <a:p>
            <a:pPr indent="0" marL="0">
              <a:buNone/>
            </a:pPr>
            <a:r>
              <a:rPr lang="en-US" sz="1700" b="1" dirty="0">
                <a:solidFill>
                  <a:schemeClr val="tx2"/>
                </a:solidFill>
              </a:rPr>
              <a:t>KPMG</a:t>
            </a:r>
            <a:endParaRPr lang="en-US" sz="1700" dirty="0"/>
          </a:p>
        </p:txBody>
      </p:sp>
      <p:sp>
        <p:nvSpPr>
          <p:cNvPr id="18" name="Text 16"/>
          <p:cNvSpPr txBox="1"/>
          <p:nvPr/>
        </p:nvSpPr>
        <p:spPr>
          <a:xfrm>
            <a:off x="9208008" y="2377440"/>
            <a:ext cx="2286000" cy="2057400"/>
          </a:xfrm>
          <a:prstGeom prst="rect">
            <a:avLst/>
          </a:prstGeom>
          <a:noFill/>
          <a:ln/>
        </p:spPr>
        <p:txBody>
          <a:bodyPr wrap="square" lIns="0" tIns="0" rIns="0" bIns="0" rtlCol="0" anchor="t"/>
          <a:lstStyle/>
          <a:p>
            <a:pPr indent="0" marL="0">
              <a:buNone/>
            </a:pPr>
            <a:r>
              <a:rPr lang="en-US" sz="1400" dirty="0">
                <a:solidFill>
                  <a:schemeClr val="tx1"/>
                </a:solidFill>
              </a:rPr>
              <a:t>No se localizó un estudio 2026 aplicable a salsas o alimentos procesados para exportar.</a:t>
            </a:r>
            <a:endParaRPr lang="en-US" sz="1400" dirty="0"/>
          </a:p>
        </p:txBody>
      </p:sp>
      <p:sp>
        <p:nvSpPr>
          <p:cNvPr id="19" name="tag-pendiente"/>
          <p:cNvSpPr txBox="1"/>
          <p:nvPr/>
        </p:nvSpPr>
        <p:spPr>
          <a:xfrm>
            <a:off x="9208008" y="4507992"/>
            <a:ext cx="1051560" cy="246888"/>
          </a:xfrm>
          <a:prstGeom prst="roundRect">
            <a:avLst>
              <a:gd name="adj" fmla="val 48148"/>
            </a:avLst>
          </a:prstGeom>
          <a:solidFill>
            <a:schemeClr val="accent2"/>
          </a:solidFill>
          <a:ln>
            <a:solidFill>
              <a:schemeClr val="accent2"/>
            </a:solidFill>
          </a:ln>
        </p:spPr>
        <p:txBody>
          <a:bodyPr wrap="square" lIns="0" tIns="0" rIns="0" bIns="0" rtlCol="0" anchor="ctr"/>
          <a:lstStyle/>
          <a:p>
            <a:pPr algn="ctr" indent="0" marL="0">
              <a:buNone/>
            </a:pPr>
            <a:r>
              <a:rPr lang="en-US" sz="1000" b="1" spc="50" kern="0" dirty="0">
                <a:solidFill>
                  <a:schemeClr val="bg1"/>
                </a:solidFill>
              </a:rPr>
              <a:t>PENDIENTE</a:t>
            </a:r>
            <a:endParaRPr lang="en-US" sz="1000" dirty="0"/>
          </a:p>
        </p:txBody>
      </p:sp>
      <p:sp>
        <p:nvSpPr>
          <p:cNvPr id="20" name="lectura-cruzada"/>
          <p:cNvSpPr/>
          <p:nvPr/>
        </p:nvSpPr>
        <p:spPr>
          <a:xfrm>
            <a:off x="548640" y="5074920"/>
            <a:ext cx="11094415" cy="731520"/>
          </a:xfrm>
          <a:prstGeom prst="rect">
            <a:avLst/>
          </a:prstGeom>
          <a:solidFill>
            <a:schemeClr val="tx2"/>
          </a:solidFill>
          <a:ln w="12700">
            <a:solidFill>
              <a:schemeClr val="tx2"/>
            </a:solidFill>
            <a:prstDash val="solid"/>
          </a:ln>
        </p:spPr>
      </p:sp>
      <p:sp>
        <p:nvSpPr>
          <p:cNvPr id="21" name="tag-interpretación"/>
          <p:cNvSpPr txBox="1"/>
          <p:nvPr/>
        </p:nvSpPr>
        <p:spPr>
          <a:xfrm>
            <a:off x="731520" y="5321808"/>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22" name="Text 20"/>
          <p:cNvSpPr txBox="1"/>
          <p:nvPr/>
        </p:nvSpPr>
        <p:spPr>
          <a:xfrm>
            <a:off x="2240280" y="5074920"/>
            <a:ext cx="9281160" cy="731520"/>
          </a:xfrm>
          <a:prstGeom prst="rect">
            <a:avLst/>
          </a:prstGeom>
          <a:noFill/>
          <a:ln/>
        </p:spPr>
        <p:txBody>
          <a:bodyPr wrap="square" lIns="0" tIns="0" rIns="0" bIns="0" rtlCol="0" anchor="ctr"/>
          <a:lstStyle/>
          <a:p>
            <a:pPr indent="0" marL="0">
              <a:buNone/>
            </a:pPr>
            <a:r>
              <a:rPr lang="en-US" sz="1400" dirty="0">
                <a:solidFill>
                  <a:schemeClr val="bg1"/>
                </a:solidFill>
              </a:rPr>
              <a:t>Lectura cruzada: EE. UU. crecerá el doble que la zona euro (2.3% vs 1.1%) y el consumidor exige valor: conviene entrar con precio competitivo y formato de 150 ml.</a:t>
            </a:r>
            <a:endParaRPr lang="en-US" sz="1400" dirty="0"/>
          </a:p>
        </p:txBody>
      </p:sp>
      <p:sp>
        <p:nvSpPr>
          <p:cNvPr id="23"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Fuentes: FMI, World Economic Outlook, 13-oct-2026 (vía CNBC y EACCNY); Deloitte, 2026 Global Consumer Products Industry Outlook; Expansión, «Bancomext prevé colocar 190,000 mdp en nuevos créditos en 2026», 2-feb-2026. Consulta: 24-oct-2026.</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Evidencia, interpretación y datos pendientes</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Siete datos por confirmar antes de decidir</a:t>
            </a:r>
            <a:endParaRPr lang="en-US" sz="3200" dirty="0"/>
          </a:p>
        </p:txBody>
      </p:sp>
      <p:graphicFrame>
        <p:nvGraphicFramePr>
          <p:cNvPr id="15" name="pendientes"/>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502920"/>
                <a:gridCol w="4069080"/>
                <a:gridCol w="3383280"/>
                <a:gridCol w="3136392"/>
              </a:tblGrid>
              <a:tr h="512064">
                <a:tc>
                  <a:txBody>
                    <a:bodyPr/>
                    <a:lstStyle/>
                    <a:p>
                      <a:pPr indent="0" marL="0">
                        <a:buNone/>
                      </a:pPr>
                      <a:r>
                        <a:rPr lang="en-US" sz="1400" b="1" dirty="0">
                          <a:solidFill>
                            <a:schemeClr val="bg1"/>
                          </a:solidFill>
                        </a:rPr>
                        <a:t>#</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Dato pendiente</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Dónde verificar</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Por qué importa</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r>
              <a:tr h="512064">
                <a:tc>
                  <a:txBody>
                    <a:bodyPr/>
                    <a:lstStyle/>
                    <a:p>
                      <a:pPr algn="ctr" indent="0" marL="0">
                        <a:buNone/>
                      </a:pPr>
                      <a:r>
                        <a:rPr lang="en-US" sz="1400" b="1" dirty="0">
                          <a:solidFill>
                            <a:schemeClr val="accent2"/>
                          </a:solidFill>
                        </a:rPr>
                        <a:t>1</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NICO de la fracción 2103.90.99</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SIICEX / SNICE (TIGIE vigente)</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Completa el código del pedimento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2</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Arancel de la UE para origen México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Access2Markets · My Trade Assistant</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Define si Alemania compite en precio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3</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Arancel NMF de Canadá</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Customs Tariff de la CBSA</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Completa la matriz de acceso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4</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Importaciones de EE. UU. por origen, 2025</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Trade Map (SA 210390)</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Mide la participación de México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5</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Toneladas de salsa picante y unidades 311423 en Querétaro</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INEGI: EMIM y DENUE</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Confirma la base productiva local</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6</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pH, actividad de agua y vida de anaquel</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Laboratorio acreditado ante la ema</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Decide el trámite FDA (FCE y SID)</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r h="512064">
                <a:tc>
                  <a:txBody>
                    <a:bodyPr/>
                    <a:lstStyle/>
                    <a:p>
                      <a:pPr algn="ctr" indent="0" marL="0">
                        <a:buNone/>
                      </a:pPr>
                      <a:r>
                        <a:rPr lang="en-US" sz="1400" b="1" dirty="0">
                          <a:solidFill>
                            <a:schemeClr val="accent2"/>
                          </a:solidFill>
                        </a:rPr>
                        <a:t>7</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b="1" dirty="0">
                          <a:solidFill>
                            <a:schemeClr val="tx2"/>
                          </a:solidFill>
                        </a:rPr>
                        <a:t>Capacidad real del proveedor (lotes por mes)</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Visita y ficha técnica del proveedor</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c>
                  <a:txBody>
                    <a:bodyPr/>
                    <a:lstStyle/>
                    <a:p>
                      <a:pPr indent="0" marL="0">
                        <a:buNone/>
                      </a:pPr>
                      <a:r>
                        <a:rPr lang="en-US" sz="1400" dirty="0">
                          <a:solidFill>
                            <a:schemeClr val="tx1"/>
                          </a:solidFill>
                        </a:rPr>
                        <a:t>Separa capacidad de promesa comercial</a:t>
                      </a:r>
                      <a:endParaRPr lang="en-US" sz="1400" dirty="0"/>
                    </a:p>
                  </a:txBody>
                  <a:tcPr marL="109728" marR="109728"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A"/>
                    </a:solidFill>
                  </a:tcPr>
                </a:tc>
              </a:tr>
            </a:tbl>
          </a:graphicData>
        </a:graphic>
      </p:graphicFrame>
      <p:sp>
        <p:nvSpPr>
          <p:cNvPr id="5" name="fuente"/>
          <p:cNvSpPr txBox="1"/>
          <p:nvPr/>
        </p:nvSpPr>
        <p:spPr>
          <a:xfrm>
            <a:off x="548640" y="5943600"/>
            <a:ext cx="11094415" cy="411480"/>
          </a:xfrm>
          <a:prstGeom prst="rect">
            <a:avLst/>
          </a:prstGeom>
          <a:noFill/>
          <a:ln/>
        </p:spPr>
        <p:txBody>
          <a:bodyPr wrap="square" lIns="0" tIns="0" rIns="0" bIns="0" rtlCol="0" anchor="b"/>
          <a:lstStyle/>
          <a:p>
            <a:pPr indent="0" marL="0">
              <a:buNone/>
            </a:pPr>
            <a:r>
              <a:rPr lang="en-US" sz="1000" dirty="0">
                <a:solidFill>
                  <a:schemeClr val="accent6"/>
                </a:solidFill>
              </a:rPr>
              <a:t>Cada dato pendiente se marca en la ficha con la etiqueta PENDIENTE. Al confirmarlo, anotar la fuente oficial y la fecha de consulta.</a:t>
            </a:r>
            <a:endParaRPr lang="en-US" sz="10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229600" cy="365760"/>
          </a:xfrm>
          <a:prstGeom prst="rect">
            <a:avLst/>
          </a:prstGeom>
          <a:noFill/>
          <a:ln/>
        </p:spPr>
        <p:txBody>
          <a:bodyPr wrap="square" lIns="0" tIns="0" rIns="0" bIns="0" rtlCol="0" anchor="ctr"/>
          <a:lstStyle/>
          <a:p>
            <a:pPr indent="0" marL="0">
              <a:buNone/>
            </a:pPr>
            <a:r>
              <a:rPr lang="en-US" sz="1400" b="1" dirty="0">
                <a:solidFill>
                  <a:schemeClr val="accent5"/>
                </a:solidFill>
              </a:rPr>
              <a:t>Conclusión · De la observación al argumento</a:t>
            </a:r>
            <a:endParaRPr lang="en-US" sz="1400" dirty="0"/>
          </a:p>
        </p:txBody>
      </p:sp>
      <p:sp>
        <p:nvSpPr>
          <p:cNvPr id="3" name="Text 0"/>
          <p:cNvSpPr/>
          <p:nvPr>
            <p:ph idx="101" type="title" hasCustomPrompt="1"/>
          </p:nvPr>
        </p:nvSpPr>
        <p:spPr>
          <a:xfrm>
            <a:off x="548640" y="91440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Una exportación defendible</a:t>
            </a:r>
            <a:endParaRPr lang="en-US" sz="4000" dirty="0"/>
          </a:p>
        </p:txBody>
      </p:sp>
      <p:sp>
        <p:nvSpPr>
          <p:cNvPr id="4" name="Text 2"/>
          <p:cNvSpPr txBox="1"/>
          <p:nvPr/>
        </p:nvSpPr>
        <p:spPr>
          <a:xfrm>
            <a:off x="548640" y="1691640"/>
            <a:ext cx="6949440" cy="1737360"/>
          </a:xfrm>
          <a:prstGeom prst="rect">
            <a:avLst/>
          </a:prstGeom>
          <a:noFill/>
          <a:ln/>
        </p:spPr>
        <p:txBody>
          <a:bodyPr wrap="square" lIns="0" tIns="0" rIns="0" bIns="0" rtlCol="0" anchor="t"/>
          <a:lstStyle/>
          <a:p>
            <a:pPr indent="0" marL="0">
              <a:buNone/>
            </a:pPr>
            <a:r>
              <a:rPr lang="en-US" sz="1800" dirty="0">
                <a:solidFill>
                  <a:schemeClr val="bg1"/>
                </a:solidFill>
              </a:rPr>
              <a:t>Sí es viable exportar la salsa picante a Estados Unidos: hay demanda (US$2,070 M en 2024), acceso a 0% con T-MEC y oferta mexicana probada. La condición es cumplir el régimen de alimentos acidificados de la FDA y documentar el origen.</a:t>
            </a:r>
            <a:endParaRPr lang="en-US" sz="1800" dirty="0"/>
          </a:p>
        </p:txBody>
      </p:sp>
      <p:sp>
        <p:nvSpPr>
          <p:cNvPr id="5" name="paso-1"/>
          <p:cNvSpPr txBox="1"/>
          <p:nvPr/>
        </p:nvSpPr>
        <p:spPr>
          <a:xfrm>
            <a:off x="548640" y="38404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548640" y="4526280"/>
            <a:ext cx="2560320" cy="1280160"/>
          </a:xfrm>
          <a:prstGeom prst="rect">
            <a:avLst/>
          </a:prstGeom>
          <a:noFill/>
          <a:ln/>
        </p:spPr>
        <p:txBody>
          <a:bodyPr wrap="square" lIns="0" tIns="0" rIns="0" bIns="0" rtlCol="0" anchor="t"/>
          <a:lstStyle/>
          <a:p>
            <a:pPr indent="0" marL="0">
              <a:buNone/>
            </a:pPr>
            <a:r>
              <a:rPr lang="en-US" sz="1700" b="1" dirty="0">
                <a:solidFill>
                  <a:schemeClr val="bg1"/>
                </a:solidFill>
              </a:rPr>
              <a:t>Laboratorio</a:t>
            </a:r>
            <a:endParaRPr lang="en-US" sz="1700" dirty="0"/>
          </a:p>
          <a:p>
            <a:pPr indent="0" marL="0">
              <a:buNone/>
            </a:pPr>
            <a:r>
              <a:rPr lang="en-US" sz="1400" dirty="0">
                <a:solidFill>
                  <a:schemeClr val="bg1"/>
                </a:solidFill>
              </a:rPr>
              <a:t>pH, actividad de agua y estabilidad</a:t>
            </a:r>
            <a:endParaRPr lang="en-US" sz="1700" dirty="0"/>
          </a:p>
          <a:p>
            <a:pPr indent="0" marL="0">
              <a:buNone/>
            </a:pPr>
            <a:r>
              <a:rPr lang="en-US" sz="1200" i="1" dirty="0">
                <a:solidFill>
                  <a:schemeClr val="accent5"/>
                </a:solidFill>
              </a:rPr>
              <a:t>Semanas 1–3</a:t>
            </a:r>
            <a:endParaRPr lang="en-US" sz="1700" dirty="0"/>
          </a:p>
        </p:txBody>
      </p:sp>
      <p:sp>
        <p:nvSpPr>
          <p:cNvPr id="7" name="paso-2"/>
          <p:cNvSpPr txBox="1"/>
          <p:nvPr/>
        </p:nvSpPr>
        <p:spPr>
          <a:xfrm>
            <a:off x="3374136" y="38404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3374136" y="4526280"/>
            <a:ext cx="2560320" cy="1280160"/>
          </a:xfrm>
          <a:prstGeom prst="rect">
            <a:avLst/>
          </a:prstGeom>
          <a:noFill/>
          <a:ln/>
        </p:spPr>
        <p:txBody>
          <a:bodyPr wrap="square" lIns="0" tIns="0" rIns="0" bIns="0" rtlCol="0" anchor="t"/>
          <a:lstStyle/>
          <a:p>
            <a:pPr indent="0" marL="0">
              <a:buNone/>
            </a:pPr>
            <a:r>
              <a:rPr lang="en-US" sz="1700" b="1" dirty="0">
                <a:solidFill>
                  <a:schemeClr val="bg1"/>
                </a:solidFill>
              </a:rPr>
              <a:t>FDA</a:t>
            </a:r>
            <a:endParaRPr lang="en-US" sz="1700" dirty="0"/>
          </a:p>
          <a:p>
            <a:pPr indent="0" marL="0">
              <a:buNone/>
            </a:pPr>
            <a:r>
              <a:rPr lang="en-US" sz="1400" dirty="0">
                <a:solidFill>
                  <a:schemeClr val="bg1"/>
                </a:solidFill>
              </a:rPr>
              <a:t>Registro de planta, FCE y proceso SID</a:t>
            </a:r>
            <a:endParaRPr lang="en-US" sz="1700" dirty="0"/>
          </a:p>
          <a:p>
            <a:pPr indent="0" marL="0">
              <a:buNone/>
            </a:pPr>
            <a:r>
              <a:rPr lang="en-US" sz="1200" i="1" dirty="0">
                <a:solidFill>
                  <a:schemeClr val="accent5"/>
                </a:solidFill>
              </a:rPr>
              <a:t>Semanas 2–8</a:t>
            </a:r>
            <a:endParaRPr lang="en-US" sz="1700" dirty="0"/>
          </a:p>
        </p:txBody>
      </p:sp>
      <p:sp>
        <p:nvSpPr>
          <p:cNvPr id="9" name="paso-3"/>
          <p:cNvSpPr txBox="1"/>
          <p:nvPr/>
        </p:nvSpPr>
        <p:spPr>
          <a:xfrm>
            <a:off x="6199632" y="38404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0" name="Text 8"/>
          <p:cNvSpPr txBox="1"/>
          <p:nvPr/>
        </p:nvSpPr>
        <p:spPr>
          <a:xfrm>
            <a:off x="6199632" y="4526280"/>
            <a:ext cx="2560320" cy="1280160"/>
          </a:xfrm>
          <a:prstGeom prst="rect">
            <a:avLst/>
          </a:prstGeom>
          <a:noFill/>
          <a:ln/>
        </p:spPr>
        <p:txBody>
          <a:bodyPr wrap="square" lIns="0" tIns="0" rIns="0" bIns="0" rtlCol="0" anchor="t"/>
          <a:lstStyle/>
          <a:p>
            <a:pPr indent="0" marL="0">
              <a:buNone/>
            </a:pPr>
            <a:r>
              <a:rPr lang="en-US" sz="1700" b="1" dirty="0">
                <a:solidFill>
                  <a:schemeClr val="bg1"/>
                </a:solidFill>
              </a:rPr>
              <a:t>Etiqueta y origen</a:t>
            </a:r>
            <a:endParaRPr lang="en-US" sz="1700" dirty="0"/>
          </a:p>
          <a:p>
            <a:pPr indent="0" marL="0">
              <a:buNone/>
            </a:pPr>
            <a:r>
              <a:rPr lang="en-US" sz="1400" dirty="0">
                <a:solidFill>
                  <a:schemeClr val="bg1"/>
                </a:solidFill>
              </a:rPr>
              <a:t>Etiqueta en inglés y prueba de origen</a:t>
            </a:r>
            <a:endParaRPr lang="en-US" sz="1700" dirty="0"/>
          </a:p>
          <a:p>
            <a:pPr indent="0" marL="0">
              <a:buNone/>
            </a:pPr>
            <a:r>
              <a:rPr lang="en-US" sz="1200" i="1" dirty="0">
                <a:solidFill>
                  <a:schemeClr val="accent5"/>
                </a:solidFill>
              </a:rPr>
              <a:t>Semanas 4–8</a:t>
            </a:r>
            <a:endParaRPr lang="en-US" sz="1700" dirty="0"/>
          </a:p>
        </p:txBody>
      </p:sp>
      <p:sp>
        <p:nvSpPr>
          <p:cNvPr id="11" name="paso-4"/>
          <p:cNvSpPr txBox="1"/>
          <p:nvPr/>
        </p:nvSpPr>
        <p:spPr>
          <a:xfrm>
            <a:off x="9025128" y="38404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2" name="Text 10"/>
          <p:cNvSpPr txBox="1"/>
          <p:nvPr/>
        </p:nvSpPr>
        <p:spPr>
          <a:xfrm>
            <a:off x="9025128" y="4526280"/>
            <a:ext cx="2560320" cy="1280160"/>
          </a:xfrm>
          <a:prstGeom prst="rect">
            <a:avLst/>
          </a:prstGeom>
          <a:noFill/>
          <a:ln/>
        </p:spPr>
        <p:txBody>
          <a:bodyPr wrap="square" lIns="0" tIns="0" rIns="0" bIns="0" rtlCol="0" anchor="t"/>
          <a:lstStyle/>
          <a:p>
            <a:pPr indent="0" marL="0">
              <a:buNone/>
            </a:pPr>
            <a:r>
              <a:rPr lang="en-US" sz="1700" b="1" dirty="0">
                <a:solidFill>
                  <a:schemeClr val="bg1"/>
                </a:solidFill>
              </a:rPr>
              <a:t>Primer cliente</a:t>
            </a:r>
            <a:endParaRPr lang="en-US" sz="1700" dirty="0"/>
          </a:p>
          <a:p>
            <a:pPr indent="0" marL="0">
              <a:buNone/>
            </a:pPr>
            <a:r>
              <a:rPr lang="en-US" sz="1400" dirty="0">
                <a:solidFill>
                  <a:schemeClr val="bg1"/>
                </a:solidFill>
              </a:rPr>
              <a:t>Muestras a importadores del canal hispano</a:t>
            </a:r>
            <a:endParaRPr lang="en-US" sz="1700" dirty="0"/>
          </a:p>
          <a:p>
            <a:pPr indent="0" marL="0">
              <a:buNone/>
            </a:pPr>
            <a:r>
              <a:rPr lang="en-US" sz="1200" i="1" dirty="0">
                <a:solidFill>
                  <a:schemeClr val="accent5"/>
                </a:solidFill>
              </a:rPr>
              <a:t>Semanas 8–12</a:t>
            </a:r>
            <a:endParaRPr lang="en-US" sz="1700" dirty="0"/>
          </a:p>
        </p:txBody>
      </p:sp>
      <p:sp>
        <p:nvSpPr>
          <p:cNvPr id="13" name="circulo-cierre"/>
          <p:cNvSpPr/>
          <p:nvPr/>
        </p:nvSpPr>
        <p:spPr>
          <a:xfrm>
            <a:off x="8732520" y="914400"/>
            <a:ext cx="2743200" cy="2743200"/>
          </a:xfrm>
          <a:prstGeom prst="ellipse">
            <a:avLst/>
          </a:prstGeom>
          <a:solidFill>
            <a:schemeClr val="accent1"/>
          </a:solidFill>
          <a:ln w="12700">
            <a:solidFill>
              <a:schemeClr val="accent1"/>
            </a:solidFill>
            <a:prstDash val="solid"/>
          </a:ln>
        </p:spPr>
      </p:sp>
      <p:pic>
        <p:nvPicPr>
          <p:cNvPr id="14" name="botella" descr="preencoded.png">    </p:cNvPr>
          <p:cNvPicPr>
            <a:picLocks noChangeAspect="1"/>
          </p:cNvPicPr>
          <p:nvPr/>
        </p:nvPicPr>
        <p:blipFill>
          <a:blip r:embed="rId1"/>
          <a:stretch>
            <a:fillRect/>
          </a:stretch>
        </p:blipFill>
        <p:spPr>
          <a:xfrm>
            <a:off x="9418320" y="1600200"/>
            <a:ext cx="1371600" cy="1371600"/>
          </a:xfrm>
          <a:prstGeom prst="rect">
            <a:avLst/>
          </a:prstGeom>
        </p:spPr>
      </p:pic>
      <p:sp>
        <p:nvSpPr>
          <p:cNvPr id="15" name="tag-interpretación"/>
          <p:cNvSpPr txBox="1"/>
          <p:nvPr/>
        </p:nvSpPr>
        <p:spPr>
          <a:xfrm>
            <a:off x="548640" y="6035040"/>
            <a:ext cx="1371600" cy="246888"/>
          </a:xfrm>
          <a:prstGeom prst="roundRect">
            <a:avLst>
              <a:gd name="adj" fmla="val 48148"/>
            </a:avLst>
          </a:prstGeom>
          <a:solidFill>
            <a:schemeClr val="accent4"/>
          </a:solidFill>
          <a:ln>
            <a:solidFill>
              <a:schemeClr val="accent4"/>
            </a:solidFill>
          </a:ln>
        </p:spPr>
        <p:txBody>
          <a:bodyPr wrap="square" lIns="0" tIns="0" rIns="0" bIns="0" rtlCol="0" anchor="ctr"/>
          <a:lstStyle/>
          <a:p>
            <a:pPr algn="ctr" indent="0" marL="0">
              <a:buNone/>
            </a:pPr>
            <a:r>
              <a:rPr lang="en-US" sz="1000" b="1" spc="50" kern="0" dirty="0">
                <a:solidFill>
                  <a:schemeClr val="bg1"/>
                </a:solidFill>
              </a:rPr>
              <a:t>INTERPRETACIÓN</a:t>
            </a:r>
            <a:endParaRPr lang="en-US" sz="1000" dirty="0"/>
          </a:p>
        </p:txBody>
      </p:sp>
      <p:sp>
        <p:nvSpPr>
          <p:cNvPr id="16" name="Text 13"/>
          <p:cNvSpPr txBox="1"/>
          <p:nvPr/>
        </p:nvSpPr>
        <p:spPr>
          <a:xfrm>
            <a:off x="2057400" y="6016752"/>
            <a:ext cx="7315200" cy="292608"/>
          </a:xfrm>
          <a:prstGeom prst="rect">
            <a:avLst/>
          </a:prstGeom>
          <a:noFill/>
          <a:ln/>
        </p:spPr>
        <p:txBody>
          <a:bodyPr wrap="square" lIns="0" tIns="0" rIns="0" bIns="0" rtlCol="0" anchor="ctr"/>
          <a:lstStyle/>
          <a:p>
            <a:pPr indent="0" marL="0">
              <a:buNone/>
            </a:pPr>
            <a:r>
              <a:rPr lang="en-US" sz="1200" i="1" dirty="0">
                <a:solidFill>
                  <a:schemeClr val="accent5"/>
                </a:solidFill>
              </a:rPr>
              <a:t>Plazos estimados por el autor; dependen del laboratorio y de la respuesta de la FDA.</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329184"/>
          </a:xfrm>
          <a:prstGeom prst="rect">
            <a:avLst/>
          </a:prstGeom>
          <a:noFill/>
          <a:ln/>
        </p:spPr>
        <p:txBody>
          <a:bodyPr wrap="square" lIns="0" tIns="0" rIns="0" bIns="0" rtlCol="0" anchor="ctr"/>
          <a:lstStyle/>
          <a:p>
            <a:pPr indent="0" marL="0">
              <a:buNone/>
            </a:pPr>
            <a:r>
              <a:rPr lang="en-US" sz="1400" b="1" dirty="0">
                <a:solidFill>
                  <a:schemeClr val="accent4"/>
                </a:solidFill>
              </a:rPr>
              <a:t>Referencias · Fecha de consulta de todas las fuentes: 24 de octubre de 2026</a:t>
            </a:r>
            <a:endParaRPr lang="en-US" sz="1400" dirty="0"/>
          </a:p>
        </p:txBody>
      </p:sp>
      <p:sp>
        <p:nvSpPr>
          <p:cNvPr id="3" name="Text 0"/>
          <p:cNvSpPr/>
          <p:nvPr>
            <p:ph idx="101" type="title" hasCustomPrompt="1"/>
          </p:nvPr>
        </p:nvSpPr>
        <p:spPr>
          <a:xfrm>
            <a:off x="548640" y="640080"/>
            <a:ext cx="11094415" cy="658368"/>
          </a:xfrm>
          <a:prstGeom prst="rect">
            <a:avLst/>
          </a:prstGeom>
          <a:noFill/>
          <a:ln/>
        </p:spPr>
        <p:txBody>
          <a:bodyPr wrap="square" lIns="0" tIns="0" rIns="0" bIns="0" rtlCol="0" anchor="t"/>
          <a:lstStyle/>
          <a:p>
            <a:pPr algn="l" indent="0" marL="0">
              <a:buNone/>
            </a:pPr>
            <a:r>
              <a:rPr lang="en-US" sz="3200" b="1" dirty="0">
                <a:solidFill>
                  <a:schemeClr val="tx2"/>
                </a:solidFill>
              </a:rPr>
              <a:t>Fuentes consultadas</a:t>
            </a:r>
            <a:endParaRPr lang="en-US" sz="3200" dirty="0"/>
          </a:p>
        </p:txBody>
      </p:sp>
      <p:sp>
        <p:nvSpPr>
          <p:cNvPr id="4" name="referencias-1"/>
          <p:cNvSpPr txBox="1"/>
          <p:nvPr/>
        </p:nvSpPr>
        <p:spPr>
          <a:xfrm>
            <a:off x="548640" y="1554480"/>
            <a:ext cx="5440680" cy="475488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Yahoo Noticias / La Región (7-oct-2026). Empresas de Querétaro expondrán en la feria agroalimentaria de París. laregiontam.com.mx</a:t>
            </a:r>
            <a:endParaRPr lang="en-US" sz="1100" dirty="0"/>
          </a:p>
          <a:p>
            <a:pPr indent="0" marL="0">
              <a:spcAft>
                <a:spcPts val="500"/>
              </a:spcAft>
              <a:buNone/>
            </a:pPr>
            <a:r>
              <a:rPr lang="en-US" sz="1100" dirty="0">
                <a:solidFill>
                  <a:schemeClr val="tx1"/>
                </a:solidFill>
              </a:rPr>
              <a:t>Empresa Exterior (oct-2026). SIAL Paris 2026: tendencias en innovación agroalimentaria. empresaexterior.com</a:t>
            </a:r>
            <a:endParaRPr lang="en-US" sz="1100" dirty="0"/>
          </a:p>
          <a:p>
            <a:pPr indent="0" marL="0">
              <a:spcAft>
                <a:spcPts val="500"/>
              </a:spcAft>
              <a:buNone/>
            </a:pPr>
            <a:r>
              <a:rPr lang="en-US" sz="1100" dirty="0">
                <a:solidFill>
                  <a:schemeClr val="tx1"/>
                </a:solidFill>
              </a:rPr>
              <a:t>Market Data Forecast (2025). Europe Hot Sauce Market. marketdataforecast.com</a:t>
            </a:r>
            <a:endParaRPr lang="en-US" sz="1100" dirty="0"/>
          </a:p>
          <a:p>
            <a:pPr indent="0" marL="0">
              <a:spcAft>
                <a:spcPts val="500"/>
              </a:spcAft>
              <a:buNone/>
            </a:pPr>
            <a:r>
              <a:rPr lang="en-US" sz="1100" dirty="0">
                <a:solidFill>
                  <a:schemeClr val="tx1"/>
                </a:solidFill>
              </a:rPr>
              <a:t>Kalsec (2024). Beyond the Burn: spicy flavor trends. info.kalsec.com</a:t>
            </a:r>
            <a:endParaRPr lang="en-US" sz="1100" dirty="0"/>
          </a:p>
          <a:p>
            <a:pPr indent="0" marL="0">
              <a:spcAft>
                <a:spcPts val="500"/>
              </a:spcAft>
              <a:buNone/>
            </a:pPr>
            <a:r>
              <a:rPr lang="en-US" sz="1100" dirty="0">
                <a:solidFill>
                  <a:schemeClr val="tx1"/>
                </a:solidFill>
              </a:rPr>
              <a:t>FoodIngredientsFirst (2026). Tastepoint by IFF 2026 flavor trends. foodingredientsfirst.com</a:t>
            </a:r>
            <a:endParaRPr lang="en-US" sz="1100" dirty="0"/>
          </a:p>
          <a:p>
            <a:pPr indent="0" marL="0">
              <a:spcAft>
                <a:spcPts val="500"/>
              </a:spcAft>
              <a:buNone/>
            </a:pPr>
            <a:r>
              <a:rPr lang="en-US" sz="1100" dirty="0">
                <a:solidFill>
                  <a:schemeClr val="tx1"/>
                </a:solidFill>
              </a:rPr>
              <a:t>SIICEX-CAAAREM. Tarifa, fracción 2103.90.99. siicex-caaarem.org.mx</a:t>
            </a:r>
            <a:endParaRPr lang="en-US" sz="1100" dirty="0"/>
          </a:p>
          <a:p>
            <a:pPr indent="0" marL="0">
              <a:spcAft>
                <a:spcPts val="500"/>
              </a:spcAft>
              <a:buNone/>
            </a:pPr>
            <a:r>
              <a:rPr lang="en-US" sz="1100" dirty="0">
                <a:solidFill>
                  <a:schemeClr val="tx1"/>
                </a:solidFill>
              </a:rPr>
              <a:t>PromPerú (2022). Ficha de mercado México: preparaciones para salsas. promperu.gob.pe</a:t>
            </a:r>
            <a:endParaRPr lang="en-US" sz="1100" dirty="0"/>
          </a:p>
          <a:p>
            <a:pPr indent="0" marL="0">
              <a:spcAft>
                <a:spcPts val="500"/>
              </a:spcAft>
              <a:buNone/>
            </a:pPr>
            <a:r>
              <a:rPr lang="en-US" sz="1100" dirty="0">
                <a:solidFill>
                  <a:schemeClr val="tx1"/>
                </a:solidFill>
              </a:rPr>
              <a:t>E-Aduana. Notas explicativas del SA, partida 21.03. eaduana.com</a:t>
            </a:r>
            <a:endParaRPr lang="en-US" sz="1100" dirty="0"/>
          </a:p>
          <a:p>
            <a:pPr indent="0" marL="0">
              <a:spcAft>
                <a:spcPts val="500"/>
              </a:spcAft>
              <a:buNone/>
            </a:pPr>
            <a:r>
              <a:rPr lang="en-US" sz="1100" dirty="0">
                <a:solidFill>
                  <a:schemeClr val="tx1"/>
                </a:solidFill>
              </a:rPr>
              <a:t>SNICE. Estructura del NICO; LIGIE unificada. snice.gob.mx</a:t>
            </a:r>
            <a:endParaRPr lang="en-US" sz="1100" dirty="0"/>
          </a:p>
          <a:p>
            <a:pPr indent="0" marL="0">
              <a:spcAft>
                <a:spcPts val="500"/>
              </a:spcAft>
              <a:buNone/>
            </a:pPr>
            <a:r>
              <a:rPr lang="en-US" sz="1100" dirty="0">
                <a:solidFill>
                  <a:schemeClr val="tx1"/>
                </a:solidFill>
              </a:rPr>
              <a:t>DOF (29-dic-2025). Decreto que modifica la TIGIE (vía arancelmx.com)</a:t>
            </a:r>
            <a:endParaRPr lang="en-US" sz="1100" dirty="0"/>
          </a:p>
          <a:p>
            <a:pPr indent="0" marL="0">
              <a:spcAft>
                <a:spcPts val="500"/>
              </a:spcAft>
              <a:buNone/>
            </a:pPr>
            <a:r>
              <a:rPr lang="en-US" sz="1100" dirty="0">
                <a:solidFill>
                  <a:schemeClr val="tx1"/>
                </a:solidFill>
              </a:rPr>
              <a:t>USITC. Harmonized Tariff Schedule 2026, 2103.90.90. hts.usitc.gov</a:t>
            </a:r>
            <a:endParaRPr lang="en-US" sz="1100" dirty="0"/>
          </a:p>
          <a:p>
            <a:pPr indent="0" marL="0">
              <a:spcAft>
                <a:spcPts val="500"/>
              </a:spcAft>
              <a:buNone/>
            </a:pPr>
            <a:r>
              <a:rPr lang="en-US" sz="1100" dirty="0">
                <a:solidFill>
                  <a:schemeClr val="tx1"/>
                </a:solidFill>
              </a:rPr>
              <a:t>Mexico Business News (jul-2026). USMCA trade exempt from US forced-labor tariffs. mexicobusiness.news</a:t>
            </a:r>
            <a:endParaRPr lang="en-US" sz="1100" dirty="0"/>
          </a:p>
        </p:txBody>
      </p:sp>
      <p:sp>
        <p:nvSpPr>
          <p:cNvPr id="5" name="referencias-2"/>
          <p:cNvSpPr txBox="1"/>
          <p:nvPr/>
        </p:nvSpPr>
        <p:spPr>
          <a:xfrm>
            <a:off x="6199632" y="1554480"/>
            <a:ext cx="5440680" cy="475488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El Financiero (24-jul-2026). El T-MEC y su «blindaje» arancelario a México. elfinanciero.com.mx</a:t>
            </a:r>
            <a:endParaRPr lang="en-US" sz="1100" dirty="0"/>
          </a:p>
          <a:p>
            <a:pPr indent="0" marL="0">
              <a:spcAft>
                <a:spcPts val="500"/>
              </a:spcAft>
              <a:buNone/>
            </a:pPr>
            <a:r>
              <a:rPr lang="en-US" sz="1100" dirty="0">
                <a:solidFill>
                  <a:schemeClr val="tx1"/>
                </a:solidFill>
              </a:rPr>
              <a:t>La Jornada (8-jul-2026). Parlamento Europeo aprobó el Acuerdo Global Modernizado. jornada.com.mx</a:t>
            </a:r>
            <a:endParaRPr lang="en-US" sz="1100" dirty="0"/>
          </a:p>
          <a:p>
            <a:pPr indent="0" marL="0">
              <a:spcAft>
                <a:spcPts val="500"/>
              </a:spcAft>
              <a:buNone/>
            </a:pPr>
            <a:r>
              <a:rPr lang="en-US" sz="1100" dirty="0">
                <a:solidFill>
                  <a:schemeClr val="tx1"/>
                </a:solidFill>
              </a:rPr>
              <a:t>Comisión Europea. Access2Markets: EU-Mexico Global Agreement. trade.ec.europa.eu</a:t>
            </a:r>
            <a:endParaRPr lang="en-US" sz="1100" dirty="0"/>
          </a:p>
          <a:p>
            <a:pPr indent="0" marL="0">
              <a:spcAft>
                <a:spcPts val="500"/>
              </a:spcAft>
              <a:buNone/>
            </a:pPr>
            <a:r>
              <a:rPr lang="en-US" sz="1100" dirty="0">
                <a:solidFill>
                  <a:schemeClr val="tx1"/>
                </a:solidFill>
              </a:rPr>
              <a:t>FDA (29-sep-2026). FDA reminds food facilities of biennial renewal requirements. fda.gov</a:t>
            </a:r>
            <a:endParaRPr lang="en-US" sz="1100" dirty="0"/>
          </a:p>
          <a:p>
            <a:pPr indent="0" marL="0">
              <a:spcAft>
                <a:spcPts val="500"/>
              </a:spcAft>
              <a:buNone/>
            </a:pPr>
            <a:r>
              <a:rPr lang="en-US" sz="1100" dirty="0">
                <a:solidFill>
                  <a:schemeClr val="tx1"/>
                </a:solidFill>
              </a:rPr>
              <a:t>Oregon Dept. of Agriculture. Acidified foods step by step (21 CFR 114). oregon.gov</a:t>
            </a:r>
            <a:endParaRPr lang="en-US" sz="1100" dirty="0"/>
          </a:p>
          <a:p>
            <a:pPr indent="0" marL="0">
              <a:spcAft>
                <a:spcPts val="500"/>
              </a:spcAft>
              <a:buNone/>
            </a:pPr>
            <a:r>
              <a:rPr lang="en-US" sz="1100" dirty="0">
                <a:solidFill>
                  <a:schemeClr val="tx1"/>
                </a:solidFill>
              </a:rPr>
              <a:t>EUR-Lex. Reglamentos (UE) 1169/2011, (CE) 1333/2008, (CE) 396/2005, (UE) 2023/915. eur-lex.europa.eu</a:t>
            </a:r>
            <a:endParaRPr lang="en-US" sz="1100" dirty="0"/>
          </a:p>
          <a:p>
            <a:pPr indent="0" marL="0">
              <a:spcAft>
                <a:spcPts val="500"/>
              </a:spcAft>
              <a:buNone/>
            </a:pPr>
            <a:r>
              <a:rPr lang="en-US" sz="1100" dirty="0">
                <a:solidFill>
                  <a:schemeClr val="tx1"/>
                </a:solidFill>
              </a:rPr>
              <a:t>DataMéxico, Secretaría de Economía. Preparaciones para salsas: comercio 2024–2026. economia.gob.mx/datamexico</a:t>
            </a:r>
            <a:endParaRPr lang="en-US" sz="1100" dirty="0"/>
          </a:p>
          <a:p>
            <a:pPr indent="0" marL="0">
              <a:spcAft>
                <a:spcPts val="500"/>
              </a:spcAft>
              <a:buNone/>
            </a:pPr>
            <a:r>
              <a:rPr lang="en-US" sz="1100" dirty="0">
                <a:solidFill>
                  <a:schemeClr val="tx1"/>
                </a:solidFill>
              </a:rPr>
              <a:t>ConnectAmericas. ComerciaMx; DIEX México; Dirind (directorios de proveedores)</a:t>
            </a:r>
            <a:endParaRPr lang="en-US" sz="1100" dirty="0"/>
          </a:p>
          <a:p>
            <a:pPr indent="0" marL="0">
              <a:spcAft>
                <a:spcPts val="500"/>
              </a:spcAft>
              <a:buNone/>
            </a:pPr>
            <a:r>
              <a:rPr lang="en-US" sz="1100" dirty="0">
                <a:solidFill>
                  <a:schemeClr val="tx1"/>
                </a:solidFill>
              </a:rPr>
              <a:t>INEGI. SCIAN 2023; Encuesta Mensual de la Industria Manufacturera (tabulados). inegi.org.mx</a:t>
            </a:r>
            <a:endParaRPr lang="en-US" sz="1100" dirty="0"/>
          </a:p>
          <a:p>
            <a:pPr indent="0" marL="0">
              <a:spcAft>
                <a:spcPts val="500"/>
              </a:spcAft>
              <a:buNone/>
            </a:pPr>
            <a:r>
              <a:rPr lang="en-US" sz="1100" dirty="0">
                <a:solidFill>
                  <a:schemeClr val="tx1"/>
                </a:solidFill>
              </a:rPr>
              <a:t>Tridge (2026). Hot Sauce Market Overview, con datos de ITC Trade Map. tridge.com</a:t>
            </a:r>
            <a:endParaRPr lang="en-US" sz="1100" dirty="0"/>
          </a:p>
          <a:p>
            <a:pPr indent="0" marL="0">
              <a:spcAft>
                <a:spcPts val="500"/>
              </a:spcAft>
              <a:buNone/>
            </a:pPr>
            <a:r>
              <a:rPr lang="en-US" sz="1100" dirty="0">
                <a:solidFill>
                  <a:schemeClr val="tx1"/>
                </a:solidFill>
              </a:rPr>
              <a:t>Banco Mundial, WITS / UN Comtrade. Exportaciones SA 210390, 2024. wits.worldbank.org</a:t>
            </a:r>
            <a:endParaRPr lang="en-US" sz="1100" dirty="0"/>
          </a:p>
          <a:p>
            <a:pPr indent="0" marL="0">
              <a:spcAft>
                <a:spcPts val="500"/>
              </a:spcAft>
              <a:buNone/>
            </a:pPr>
            <a:r>
              <a:rPr lang="en-US" sz="1100" dirty="0">
                <a:solidFill>
                  <a:schemeClr val="tx1"/>
                </a:solidFill>
              </a:rPr>
              <a:t>FMI (13-oct-2026). World Economic Outlook; Deloitte (2026). Global Consumer Products Outlook; Expansión (2-feb-2026), Bancomext</a:t>
            </a:r>
            <a:endParaRPr lang="en-US" sz="1100" dirty="0"/>
          </a:p>
        </p:txBody>
      </p:sp>
      <p:sp>
        <p:nvSpPr>
          <p:cNvPr id="25" name="Slide Number Placeholder 0"/>
          <p:cNvSpPr>
            <a:spLocks noGrp="1"/>
          </p:cNvSpPr>
          <p:nvPr>
            <p:ph type="sldNum" sz="quarter" idx="4294967295"/>
          </p:nvPr>
        </p:nvSpPr>
        <p:spPr>
          <a:xfrm>
            <a:off x="11183112" y="6455664"/>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nahuac Salsa">
  <a:themeElements>
    <a:clrScheme name="Anahuac Salsa">
      <a:dk1>
        <a:srgbClr val="231B3D"/>
      </a:dk1>
      <a:lt1>
        <a:srgbClr val="FFFFFF"/>
      </a:lt1>
      <a:dk2>
        <a:srgbClr val="2B1E5C"/>
      </a:dk2>
      <a:lt2>
        <a:srgbClr val="F1ECFA"/>
      </a:lt2>
      <a:accent1>
        <a:srgbClr val="FF5A00"/>
      </a:accent1>
      <a:accent2>
        <a:srgbClr val="B4232A"/>
      </a:accent2>
      <a:accent3>
        <a:srgbClr val="1F7A5C"/>
      </a:accent3>
      <a:accent4>
        <a:srgbClr val="5B3FA0"/>
      </a:accent4>
      <a:accent5>
        <a:srgbClr val="FDE6D8"/>
      </a:accent5>
      <a:accent6>
        <a:srgbClr val="6E6787"/>
      </a:accent6>
      <a:hlink>
        <a:srgbClr val="5B3FA0"/>
      </a:hlink>
      <a:folHlink>
        <a:srgbClr val="6E6787"/>
      </a:folHlink>
    </a:clrScheme>
    <a:fontScheme name="Anahuac Sals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Técnica de Viabilidad Arancelaria y de Mercado — Salsa picante</dc:title>
  <dc:subject>Prospección comercial / Definición del producto y mercado</dc:subject>
  <dc:creator>PptxGenJS</dc:creator>
  <cp:lastModifiedBy>PptxGenJS</cp:lastModifiedBy>
  <cp:revision>1</cp:revision>
  <dcterms:created xsi:type="dcterms:W3CDTF">2026-10-25T00:02:20Z</dcterms:created>
  <dcterms:modified xsi:type="dcterms:W3CDTF">2026-10-25T00:02:20Z</dcterms:modified>
</cp:coreProperties>
</file>