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a0f2efe0-9bec-8280-1ba3-ca0d5cb9ca24}">
          <p14:sldIdLst>
            <p14:sldId id="256"/>
          </p14:sldIdLst>
        </p14:section>
        <p14:section name="Introducción" id="{3dd9afa4-94b3-37e7-fb0c-b763407fbd23}">
          <p14:sldIdLst>
            <p14:sldId id="257"/>
            <p14:sldId id="258"/>
          </p14:sldIdLst>
        </p14:section>
        <p14:section name="1. Producto y cumplimiento" id="{5e7ba235-3bb4-a7e1-a67e-e6fe5081fab7}">
          <p14:sldIdLst>
            <p14:sldId id="259"/>
            <p14:sldId id="260"/>
            <p14:sldId id="261"/>
            <p14:sldId id="262"/>
          </p14:sldIdLst>
        </p14:section>
        <p14:section name="2. Capacidad y oferta" id="{c2a71a30-8600-1f1a-7657-749b574674c9}">
          <p14:sldIdLst>
            <p14:sldId id="263"/>
            <p14:sldId id="264"/>
          </p14:sldIdLst>
        </p14:section>
        <p14:section name="3. Viabilidad arancelaria" id="{4be71133-adad-96ec-2199-748d2691f882}">
          <p14:sldIdLst>
            <p14:sldId id="265"/>
            <p14:sldId id="266"/>
            <p14:sldId id="267"/>
          </p14:sldIdLst>
        </p14:section>
        <p14:section name="4. Mercados y competencia" id="{78f74c95-833a-450e-a87f-129784e985e4}">
          <p14:sldIdLst>
            <p14:sldId id="268"/>
            <p14:sldId id="269"/>
            <p14:sldId id="270"/>
          </p14:sldIdLst>
        </p14:section>
        <p14:section name="Complementos" id="{97be6e1b-c0e5-47b0-eff5-d3e109fb37fa}">
          <p14:sldIdLst>
            <p14:sldId id="271"/>
            <p14:sldId id="272"/>
            <p14:sldId id="273"/>
          </p14:sldIdLst>
        </p14:section>
        <p14:section name="Anexos" id="{bc7f698f-1540-3f03-dd77-31f3806bbdf0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Oferta exportable: salsas (2103.90) por entidad, 2024 · US$ 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Exportaciones 2024</c:v>
                </c:pt>
              </c:strCache>
            </c:strRef>
          </c:tx>
          <c:spPr>
            <a:solidFill>
              <a:srgbClr val="4A52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8E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Ciudad de México</c:v>
                  </c:pt>
                  <c:pt idx="1">
                    <c:v>Jalisco</c:v>
                  </c:pt>
                  <c:pt idx="2">
                    <c:v>Guanajuato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218</c:v>
                </c:pt>
                <c:pt idx="1">
                  <c:v>184</c:v>
                </c:pt>
                <c:pt idx="2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8E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A526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8E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3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71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Importaciones de salsas (SA 210390), 2024 · US$ M [42]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Estados Unidos</c:v>
                </c:pt>
              </c:strCache>
            </c:strRef>
          </c:tx>
          <c:spPr>
            <a:solidFill>
              <a:srgbClr val="F2555A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Estados Unidos</c:v>
                  </c:pt>
                  <c:pt idx="1">
                    <c:v>Reino Unido</c:v>
                  </c:pt>
                  <c:pt idx="2">
                    <c:v>Canadá</c:v>
                  </c:pt>
                  <c:pt idx="3">
                    <c:v>Alemania</c:v>
                  </c:pt>
                  <c:pt idx="4">
                    <c:v>Países Bajos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2070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Otros</c:v>
                </c:pt>
              </c:strCache>
            </c:strRef>
          </c:tx>
          <c:spPr>
            <a:solidFill>
              <a:srgbClr val="4A5260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Estados Unidos</c:v>
                  </c:pt>
                  <c:pt idx="1">
                    <c:v>Reino Unido</c:v>
                  </c:pt>
                  <c:pt idx="2">
                    <c:v>Canadá</c:v>
                  </c:pt>
                  <c:pt idx="3">
                    <c:v>Alemania</c:v>
                  </c:pt>
                  <c:pt idx="4">
                    <c:v>Países Bajos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1050</c:v>
                </c:pt>
                <c:pt idx="2">
                  <c:v>782</c:v>
                </c:pt>
                <c:pt idx="3">
                  <c:v>773</c:v>
                </c:pt>
                <c:pt idx="4">
                  <c:v>595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A526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8E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3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71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Exportaciones mundiales de salsas (SA 210390), 2024 · US$ M [44]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Competidores</c:v>
                </c:pt>
              </c:strCache>
            </c:strRef>
          </c:tx>
          <c:spPr>
            <a:solidFill>
              <a:srgbClr val="4A5260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EE. UU.</c:v>
                  </c:pt>
                  <c:pt idx="1">
                    <c:v>Italia</c:v>
                  </c:pt>
                  <c:pt idx="2">
                    <c:v>China</c:v>
                  </c:pt>
                  <c:pt idx="3">
                    <c:v>Alemania</c:v>
                  </c:pt>
                  <c:pt idx="4">
                    <c:v>Tailandia</c:v>
                  </c:pt>
                  <c:pt idx="5">
                    <c:v>Países Bajos</c:v>
                  </c:pt>
                  <c:pt idx="6">
                    <c:v>México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1738</c:v>
                </c:pt>
                <c:pt idx="1">
                  <c:v>1707</c:v>
                </c:pt>
                <c:pt idx="2">
                  <c:v>1210</c:v>
                </c:pt>
                <c:pt idx="3">
                  <c:v>1034</c:v>
                </c:pt>
                <c:pt idx="4">
                  <c:v>978</c:v>
                </c:pt>
                <c:pt idx="5">
                  <c:v>953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México</c:v>
                </c:pt>
              </c:strCache>
            </c:strRef>
          </c:tx>
          <c:spPr>
            <a:solidFill>
              <a:srgbClr val="F2555A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EE. UU.</c:v>
                  </c:pt>
                  <c:pt idx="1">
                    <c:v>Italia</c:v>
                  </c:pt>
                  <c:pt idx="2">
                    <c:v>China</c:v>
                  </c:pt>
                  <c:pt idx="3">
                    <c:v>Alemania</c:v>
                  </c:pt>
                  <c:pt idx="4">
                    <c:v>Tailandia</c:v>
                  </c:pt>
                  <c:pt idx="5">
                    <c:v>Países Bajos</c:v>
                  </c:pt>
                  <c:pt idx="6">
                    <c:v>México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730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A526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8E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3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71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Ficha técnica de una salsa picante mexicana embotellada, categoría que llevó la delegación de Querétaro a SIAL París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 lectura. La ficha sigue los cuatro apartados pedidos en la actividad. Cada hallazgo lleva una letra: E para evidencia, I para interpretación y P para pendiente, además del número de su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Resumen. Un hallazgo clave por apartado y el veredicto: la exportación es viable a Estados Unidos si se certifica el origen T-MEC y se cumple el régimen de alimentos acidificados de la FDA.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antes de clasificar: salsa de chile sin tomate, acidificada a pH 4.6 o menos y envasada en vidrio. La composición es la típica de la categoría; la marca observada queda como dato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Empaque, etiquetado y diferenciación. La etiqueta se diseña para el país destino. En SIAL 2026 la tendencia premia la intensidad de sabor, y la salsa de estilo mexicano ya domina el segmento picante en Europa según estimaciones privadas.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en Estados Unidos. El régimen de alimentos acidificados es el punto crítico: registro FCE, proceso SID y supervisor capacitado. 2026 es año de renovación del registro de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en la Unión Europea y Canadá. En la UE pesan el etiquetado, los aditivos permitidos y los contaminantes del chile seco. En Canadá, la licencia SFC del importador.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1. Proveedores mexicanos con evidencia de oferta: grandes exportadores como Herdez y El Yucateco, la planta de Valentina en Guadalajara, un exportador de Tecate y una marca queretana. Falta pedir capacidad mensual a los proveedores elegidos.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2. Hay base productiva amplia: más de 2,600 unidades en la rama y producción de chile suficiente. La oferta exportable se concentra en CDMX, Jalisco y Guanajuato. Falta el dato local de Querétaro.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Clasificación. Sección IV, capítulo 21, partida 21.03, subpartida 2103.90, fracción 2103.90.99 y NICO 00. Si la salsa tuviera tomate como base iría a 2103.20; el chile seco solo va a 09.04 y los chiles en vinagre a 20.01.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Arancel y RRNA en México. La salida no paga arancel y no se identificaron permisos, pero debe confirmarse en SIICEX. La documentación clave es el CFDI con complemento de comercio exterior y la prueba de origen según el 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Arancel en destino. Estados Unidos 6.4% NMF y 0% con T-MEC; desde el 24 de julio de 2026 lo que no califique paga además 10% de la Sección 301. Canadá 9.5% NMF y 0% para México. La UE 7.7% NMF; la tasa preferencial para México se confirma en Access2Markets.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Demanda. Estados Unidos importó cerca de 2,070 millones de dólares en 2024, el doble que el Reino Unido; una segunda fuente da cifras parecidas. Además ya es el destino de casi tres cuartas partes de lo que México exporta en la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Competencia. México exportó unos 730 millones de dólares en 2024, séptimo lugar mundial. En Estados Unidos compite con marcas de grandes corporativos y otras mexicanas; en Canadá el proveedor dominante es Estados Unidos.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y destino elegido. Con el mismo peso por criterio, Estados Unidos obtiene 20 de 25, Canadá 17 y Alemania 13. Estados Unidos gana por demanda, acceso y logística; pierde en competencia.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Plus. El FMI prevé 2.3% de crecimiento para Estados Unidos y 1.1% para la zona euro. Deloitte describe un consumidor que busca valor. Bancomext ofrece financiamiento. No se encontró un estudio de KPMG pertinente.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Justificación. Cuatro premisas con evidencia: hay demanda, hay acceso arancelario, hay oferta productiva y el cumplimiento es alcanzable. Con las condiciones señaladas, la exportación a Estados Unidos es viable.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Conclusión. La exportación es defendible ante un comité: demanda medida, arancel cero con T-MEC y una ruta de cumplimiento clara. Siguen laboratorio, registro FDA, etiqueta y origen, y las primeras muestras.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pendientes. Ninguno cambia la recomendación por sí solo, pero el arancel de la UE y las pruebas de laboratorio sí cambian costos y trámites.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Registro de hallazgos. Cada hallazgo de la ficha con su apartado, su tipo (evidencia o interpretación), su fuente y la fecha en que se consultó. Los pendientes están en el anexo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Registro de hallazgos. Cada hallazgo de la ficha con su apartado, su tipo (evidencia o interpretación), su fuente y la fecha en que se consultó. Los pendientes están en el anexo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Registro de hallazgos. Cada hallazgo de la ficha con su apartado, su tipo (evidencia o interpretación), su fuente y la fecha en que se consultó. Los pendientes están en el anexo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completa de fuentes con su fecha de consulta. Los números coinciden con las citas entre corchetes de cada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completa de fuentes con su fecha de consulta. Los números coinciden con las citas entre corchetes de cada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556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Ficha técnica · Salsa picante mexicana · Prospección comercial · Universidad Anáhuac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Universidad Anáhuac · Comercio exterior · Prospección comercial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Ficha Técnica de Viabilidad Arancelaria y de Mercado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Salsa picante mexicana embotellada · fracción 2103.90.99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Producto observado: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categoría «salsas» de la delegación de Querétaro en SIAL París 2026 (17–21 de octubre)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Alumno(a):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______________________________________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Fechas de consulta de las fuentes: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24 y 25 de octubre de 2026</a:t>
            </a:r>
            <a:endParaRPr lang="en-US" sz="1600" dirty="0"/>
          </a:p>
        </p:txBody>
      </p:sp>
      <p:sp>
        <p:nvSpPr>
          <p:cNvPr id="6" name="chip-apartado"/>
          <p:cNvSpPr txBox="1"/>
          <p:nvPr/>
        </p:nvSpPr>
        <p:spPr>
          <a:xfrm>
            <a:off x="548640" y="566928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1F232A"/>
          </a:solidFill>
          <a:ln w="12700">
            <a:solidFill>
              <a:srgbClr val="2C313A"/>
            </a:solidFill>
          </a:ln>
        </p:spPr>
        <p:txBody>
          <a:bodyPr wrap="square" lIns="1270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Producto y cumplimiento</a:t>
            </a:r>
            <a:endParaRPr lang="en-US" sz="1300" dirty="0"/>
          </a:p>
        </p:txBody>
      </p:sp>
      <p:sp>
        <p:nvSpPr>
          <p:cNvPr id="7" name="chip-apartado"/>
          <p:cNvSpPr txBox="1"/>
          <p:nvPr/>
        </p:nvSpPr>
        <p:spPr>
          <a:xfrm>
            <a:off x="3374136" y="566928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1F232A"/>
          </a:solidFill>
          <a:ln w="12700">
            <a:solidFill>
              <a:srgbClr val="2C313A"/>
            </a:solidFill>
          </a:ln>
        </p:spPr>
        <p:txBody>
          <a:bodyPr wrap="square" lIns="1270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Capacidad y oferta</a:t>
            </a:r>
            <a:endParaRPr lang="en-US" sz="1300" dirty="0"/>
          </a:p>
        </p:txBody>
      </p:sp>
      <p:sp>
        <p:nvSpPr>
          <p:cNvPr id="8" name="chip-apartado"/>
          <p:cNvSpPr txBox="1"/>
          <p:nvPr/>
        </p:nvSpPr>
        <p:spPr>
          <a:xfrm>
            <a:off x="6199632" y="566928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1F232A"/>
          </a:solidFill>
          <a:ln w="12700">
            <a:solidFill>
              <a:srgbClr val="2C313A"/>
            </a:solidFill>
          </a:ln>
        </p:spPr>
        <p:txBody>
          <a:bodyPr wrap="square" lIns="1270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Viabilidad arancelaria</a:t>
            </a:r>
            <a:endParaRPr lang="en-US" sz="1300" dirty="0"/>
          </a:p>
        </p:txBody>
      </p:sp>
      <p:sp>
        <p:nvSpPr>
          <p:cNvPr id="9" name="chip-apartado"/>
          <p:cNvSpPr txBox="1"/>
          <p:nvPr/>
        </p:nvSpPr>
        <p:spPr>
          <a:xfrm>
            <a:off x="9025128" y="5669280"/>
            <a:ext cx="2615184" cy="502920"/>
          </a:xfrm>
          <a:prstGeom prst="roundRect">
            <a:avLst>
              <a:gd name="adj" fmla="val 18182"/>
            </a:avLst>
          </a:prstGeom>
          <a:solidFill>
            <a:srgbClr val="1F232A"/>
          </a:solidFill>
          <a:ln w="12700">
            <a:solidFill>
              <a:srgbClr val="2C313A"/>
            </a:solidFill>
          </a:ln>
        </p:spPr>
        <p:txBody>
          <a:bodyPr wrap="square" lIns="1270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Mercados y competencia</a:t>
            </a:r>
            <a:endParaRPr lang="en-US" sz="1300" dirty="0"/>
          </a:p>
        </p:txBody>
      </p:sp>
      <p:sp>
        <p:nvSpPr>
          <p:cNvPr id="10" name="circulo-portada"/>
          <p:cNvSpPr/>
          <p:nvPr/>
        </p:nvSpPr>
        <p:spPr>
          <a:xfrm>
            <a:off x="8549640" y="1417320"/>
            <a:ext cx="3108960" cy="3108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hi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057400"/>
            <a:ext cx="1828800" cy="18288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5496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SIAL París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GUÍA DE LECTURA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está organizada la ficha</a:t>
            </a:r>
            <a:endParaRPr lang="en-US" sz="3200" dirty="0"/>
          </a:p>
        </p:txBody>
      </p:sp>
      <p:sp>
        <p:nvSpPr>
          <p:cNvPr id="4" name="apartado"/>
          <p:cNvSpPr/>
          <p:nvPr/>
        </p:nvSpPr>
        <p:spPr>
          <a:xfrm>
            <a:off x="548640" y="1554480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46504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Producto y cumplimiento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Descripción, características, empaque, etiquetado y requisitos normativos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45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Diap. 4–7</a:t>
            </a:r>
            <a:endParaRPr lang="en-US" sz="1400" dirty="0"/>
          </a:p>
        </p:txBody>
      </p:sp>
      <p:sp>
        <p:nvSpPr>
          <p:cNvPr id="8" name="apartado"/>
          <p:cNvSpPr/>
          <p:nvPr/>
        </p:nvSpPr>
        <p:spPr>
          <a:xfrm>
            <a:off x="548640" y="2578608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7063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700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Capacidad y oferta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Proveedores mexicanos, oferta exportable y capacidad productiva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67004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Diap. 8–9</a:t>
            </a:r>
            <a:endParaRPr lang="en-US" sz="1400" dirty="0"/>
          </a:p>
        </p:txBody>
      </p:sp>
      <p:sp>
        <p:nvSpPr>
          <p:cNvPr id="12" name="apartado"/>
          <p:cNvSpPr/>
          <p:nvPr/>
        </p:nvSpPr>
        <p:spPr>
          <a:xfrm>
            <a:off x="548640" y="3602736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94760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941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Viabilidad arancelaria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Fracción arancelaria, aranceles y RRNA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69417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Diap. 10–12</a:t>
            </a:r>
            <a:endParaRPr lang="en-US" sz="1400" dirty="0"/>
          </a:p>
        </p:txBody>
      </p:sp>
      <p:sp>
        <p:nvSpPr>
          <p:cNvPr id="16" name="apartado"/>
          <p:cNvSpPr/>
          <p:nvPr/>
        </p:nvSpPr>
        <p:spPr>
          <a:xfrm>
            <a:off x="548640" y="4626864"/>
            <a:ext cx="694944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81888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183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Mercados y competencia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Demanda, competidores, comparación y destino elegido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71830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Diap. 13–15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69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Complementos: Fuentes Plus (16), justificación de la viabilidad (17), conclusión (18), datos pendientes (19), registro de hallazgos (20–22) y fuentes (23–24).</a:t>
            </a:r>
            <a:endParaRPr lang="en-US" sz="1200" dirty="0"/>
          </a:p>
        </p:txBody>
      </p:sp>
      <p:sp>
        <p:nvSpPr>
          <p:cNvPr id="21" name="como-leer"/>
          <p:cNvSpPr/>
          <p:nvPr/>
        </p:nvSpPr>
        <p:spPr>
          <a:xfrm>
            <a:off x="7863840" y="1554480"/>
            <a:ext cx="3776472" cy="4663440"/>
          </a:xfrm>
          <a:prstGeom prst="roundRect">
            <a:avLst>
              <a:gd name="adj" fmla="val 2906"/>
            </a:avLst>
          </a:prstGeom>
          <a:solidFill>
            <a:srgbClr val="262B33"/>
          </a:solidFill>
          <a:ln w="15875">
            <a:solidFill>
              <a:srgbClr val="3A40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Cómo leer cada hallazgo</a:t>
            </a:r>
            <a:endParaRPr lang="en-US" sz="1800" dirty="0"/>
          </a:p>
        </p:txBody>
      </p:sp>
      <p:sp>
        <p:nvSpPr>
          <p:cNvPr id="23" name="tipo-E"/>
          <p:cNvSpPr txBox="1"/>
          <p:nvPr/>
        </p:nvSpPr>
        <p:spPr>
          <a:xfrm>
            <a:off x="8092440" y="226771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Evidencia: dato comprobado en una fuente citada.</a:t>
            </a:r>
            <a:endParaRPr lang="en-US" sz="1400" dirty="0"/>
          </a:p>
        </p:txBody>
      </p:sp>
      <p:sp>
        <p:nvSpPr>
          <p:cNvPr id="25" name="tipo-I"/>
          <p:cNvSpPr txBox="1"/>
          <p:nvPr/>
        </p:nvSpPr>
        <p:spPr>
          <a:xfrm>
            <a:off x="8092440" y="2980944"/>
            <a:ext cx="292608" cy="29260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953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Interpretación: conclusión propia a partir de la evidencia.</a:t>
            </a:r>
            <a:endParaRPr lang="en-US" sz="1400" dirty="0"/>
          </a:p>
        </p:txBody>
      </p:sp>
      <p:sp>
        <p:nvSpPr>
          <p:cNvPr id="27" name="tipo-P"/>
          <p:cNvSpPr txBox="1"/>
          <p:nvPr/>
        </p:nvSpPr>
        <p:spPr>
          <a:xfrm>
            <a:off x="8092440" y="369417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36667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Pendiente: dato por confirmar en la fuente oficial.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44348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[n]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remite a la fuente número n. Al pie de cada diapositiva va el nombre de la fuente con su fecha de consulta; la cita completa está en las diapositivas 23–24.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RESUMEN EJECUTIVO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Veredicto: viable, con EE. UU. como destino</a:t>
            </a:r>
            <a:endParaRPr lang="en-US" sz="3200" dirty="0"/>
          </a:p>
        </p:txBody>
      </p:sp>
      <p:sp>
        <p:nvSpPr>
          <p:cNvPr id="4" name="icono-fondo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962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3619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· Producto y cumplimiento</a:t>
            </a:r>
            <a:endParaRPr lang="en-US" sz="1700" dirty="0"/>
          </a:p>
        </p:txBody>
      </p:sp>
      <p:sp>
        <p:nvSpPr>
          <p:cNvPr id="7" name="tipo-E"/>
          <p:cNvSpPr txBox="1"/>
          <p:nvPr/>
        </p:nvSpPr>
        <p:spPr>
          <a:xfrm>
            <a:off x="1280160" y="188976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8" name="hallazgo"/>
          <p:cNvSpPr txBox="1"/>
          <p:nvPr/>
        </p:nvSpPr>
        <p:spPr>
          <a:xfrm>
            <a:off x="1664208" y="1901952"/>
            <a:ext cx="56509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Salsa de chile acidificada (pH ≤ 4.6): para la FDA es «alimento acidificado» y requiere registro FCE y proceso SID.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[8]</a:t>
            </a:r>
            <a:endParaRPr lang="en-US" sz="1400" dirty="0"/>
          </a:p>
        </p:txBody>
      </p:sp>
      <p:sp>
        <p:nvSpPr>
          <p:cNvPr id="9" name="icono-fondo"/>
          <p:cNvSpPr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77520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61518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· Capacidad y oferta</a:t>
            </a:r>
            <a:endParaRPr lang="en-US" sz="1700" dirty="0"/>
          </a:p>
        </p:txBody>
      </p:sp>
      <p:sp>
        <p:nvSpPr>
          <p:cNvPr id="12" name="tipo-E"/>
          <p:cNvSpPr txBox="1"/>
          <p:nvPr/>
        </p:nvSpPr>
        <p:spPr>
          <a:xfrm>
            <a:off x="1280160" y="296875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3" name="hallazgo"/>
          <p:cNvSpPr txBox="1"/>
          <p:nvPr/>
        </p:nvSpPr>
        <p:spPr>
          <a:xfrm>
            <a:off x="1664208" y="2980944"/>
            <a:ext cx="56509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México exportó US$767 M de la partida 2103 en 2024 y hay 2,602 unidades económicas en la rama de conservas y alimentos preparados.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[24, 25]</a:t>
            </a:r>
            <a:endParaRPr lang="en-US" sz="1400" dirty="0"/>
          </a:p>
        </p:txBody>
      </p:sp>
      <p:sp>
        <p:nvSpPr>
          <p:cNvPr id="14" name="icono-fondo"/>
          <p:cNvSpPr/>
          <p:nvPr/>
        </p:nvSpPr>
        <p:spPr>
          <a:xfrm>
            <a:off x="548640" y="371246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854196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69417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· Viabilidad arancelaria</a:t>
            </a:r>
            <a:endParaRPr lang="en-US" sz="1700" dirty="0"/>
          </a:p>
        </p:txBody>
      </p:sp>
      <p:sp>
        <p:nvSpPr>
          <p:cNvPr id="17" name="tipo-E"/>
          <p:cNvSpPr txBox="1"/>
          <p:nvPr/>
        </p:nvSpPr>
        <p:spPr>
          <a:xfrm>
            <a:off x="1280160" y="4047744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8" name="hallazgo"/>
          <p:cNvSpPr txBox="1"/>
          <p:nvPr/>
        </p:nvSpPr>
        <p:spPr>
          <a:xfrm>
            <a:off x="1664208" y="4059936"/>
            <a:ext cx="56509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Fracción 2103.90.99.00. En EE. UU. el arancel es 0% con T-MEC (6.4% NMF); fuera del tratado se suma 10% por la Sección 301.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[28, 35, 36]</a:t>
            </a:r>
            <a:endParaRPr lang="en-US" sz="1400" dirty="0"/>
          </a:p>
        </p:txBody>
      </p:sp>
      <p:sp>
        <p:nvSpPr>
          <p:cNvPr id="19" name="icono-fondo"/>
          <p:cNvSpPr/>
          <p:nvPr/>
        </p:nvSpPr>
        <p:spPr>
          <a:xfrm>
            <a:off x="548640" y="479145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93318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477316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· Mercados y competencia</a:t>
            </a:r>
            <a:endParaRPr lang="en-US" sz="1700" dirty="0"/>
          </a:p>
        </p:txBody>
      </p:sp>
      <p:sp>
        <p:nvSpPr>
          <p:cNvPr id="22" name="tipo-E"/>
          <p:cNvSpPr txBox="1"/>
          <p:nvPr/>
        </p:nvSpPr>
        <p:spPr>
          <a:xfrm>
            <a:off x="1280160" y="5126736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3" name="hallazgo"/>
          <p:cNvSpPr txBox="1"/>
          <p:nvPr/>
        </p:nvSpPr>
        <p:spPr>
          <a:xfrm>
            <a:off x="1664208" y="5138928"/>
            <a:ext cx="56509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EE. UU. importó US$2,070 M en 2024, el doble que el Reino Unido; México es el 7.º exportador mundial.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[42, 44]</a:t>
            </a:r>
            <a:endParaRPr lang="en-US" sz="1400" dirty="0"/>
          </a:p>
        </p:txBody>
      </p:sp>
      <p:sp>
        <p:nvSpPr>
          <p:cNvPr id="24" name="veredicto"/>
          <p:cNvSpPr/>
          <p:nvPr/>
        </p:nvSpPr>
        <p:spPr>
          <a:xfrm>
            <a:off x="7726680" y="1554480"/>
            <a:ext cx="3913632" cy="4251960"/>
          </a:xfrm>
          <a:prstGeom prst="roundRect">
            <a:avLst>
              <a:gd name="adj" fmla="val 2804"/>
            </a:avLst>
          </a:prstGeom>
          <a:solidFill>
            <a:srgbClr val="262B33"/>
          </a:solidFill>
          <a:ln w="15875">
            <a:solidFill>
              <a:srgbClr val="3A404B"/>
            </a:solidFill>
            <a:prstDash val="solid"/>
          </a:ln>
        </p:spPr>
      </p:sp>
      <p:sp>
        <p:nvSpPr>
          <p:cNvPr id="25" name="etiqueta-I"/>
          <p:cNvSpPr txBox="1"/>
          <p:nvPr/>
        </p:nvSpPr>
        <p:spPr>
          <a:xfrm>
            <a:off x="7955280" y="1755648"/>
            <a:ext cx="1371600" cy="246888"/>
          </a:xfrm>
          <a:prstGeom prst="roundRect">
            <a:avLst>
              <a:gd name="adj" fmla="val 4814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bg1"/>
                </a:solidFill>
              </a:rPr>
              <a:t>INTERPRETACIÓN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7955280" y="214884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Exportación viable a Estados Unidos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Condiciones: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Certificar el origen T-MEC.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Validar el pH y registrar el proceso ante la FDA.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Confirmar los 8 datos pendientes (diap. 19).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Segundo destino: Canadá. La UE, cuando entre en vigor el acuerdo interino.</a:t>
            </a:r>
            <a:endParaRPr lang="en-US" sz="2000" dirty="0"/>
          </a:p>
        </p:txBody>
      </p:sp>
      <p:sp>
        <p:nvSpPr>
          <p:cNvPr id="27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[8] Oregon Dept. of Agriculture / FDA, 24-oct · [24] DataMéxico (rama 3114), 25-oct · [25] DataMéxico (partida 2103), 24-oct · [28] LIGIE 2022, Acuerdo 2, 25-oct · [35] htslookup / Drip Capital, 24-oct · [36] Mexico Business News, 24-oct · [42] Tridge (ITC Trade Map), 24-oct · [44] WITS / UN Comtrade,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1 · PRODUCTO Y CUMPLIMIENTO · DESCRIPCIÓN Y CARACTERÍSTICAS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Salsa picante de chile, acidificada y embotellada</a:t>
            </a:r>
            <a:endParaRPr lang="en-US" sz="3200" dirty="0"/>
          </a:p>
        </p:txBody>
      </p:sp>
      <p:sp>
        <p:nvSpPr>
          <p:cNvPr id="4" name="apartado-1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graphicFrame>
        <p:nvGraphicFramePr>
          <p:cNvPr id="5" name="ficha-produc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040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349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Producto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Salsa picante mexicana de mesa a base de chile (de árbol y guajillo), sin tomate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Ingredientes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Agua, chile seco, vinagre, sal, ajo y especias; benzoato de sodio (conservador) y goma xantana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Elaboración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Hidratación y molienda del chile → cocción → ajuste de acidez (pH ≤ 4.6) → llenado en caliente → enfriado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Presentación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Botella de vidrio de 150 ml con tapa dosificadora; caja de 24 piezas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Vida de anaquel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a 18 meses a temperatura ambiente, sujeta a estudio de estabilidad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Dato decisivo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base es chile, no tomate: eso define la subpartida (diap. 10)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ipo-I"/>
          <p:cNvSpPr txBox="1"/>
          <p:nvPr/>
        </p:nvSpPr>
        <p:spPr>
          <a:xfrm>
            <a:off x="548640" y="538276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7" name="hallazgo"/>
          <p:cNvSpPr txBox="1"/>
          <p:nvPr/>
        </p:nvSpPr>
        <p:spPr>
          <a:xfrm>
            <a:off x="932688" y="5394960"/>
            <a:ext cx="665683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Ficha tipo de la categoría, construida por el autor; ajustarla a la etiqueta del producto observado.</a:t>
            </a:r>
            <a:endParaRPr lang="en-US" sz="1400" dirty="0"/>
          </a:p>
        </p:txBody>
      </p:sp>
      <p:sp>
        <p:nvSpPr>
          <p:cNvPr id="8" name="observacion"/>
          <p:cNvSpPr/>
          <p:nvPr/>
        </p:nvSpPr>
        <p:spPr>
          <a:xfrm>
            <a:off x="8001000" y="1554480"/>
            <a:ext cx="3639312" cy="4251960"/>
          </a:xfrm>
          <a:prstGeom prst="roundRect">
            <a:avLst>
              <a:gd name="adj" fmla="val 30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-fondo"/>
          <p:cNvSpPr/>
          <p:nvPr/>
        </p:nvSpPr>
        <p:spPr>
          <a:xfrm>
            <a:off x="818388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610" y="18173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82396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Dónde se observó</a:t>
            </a:r>
            <a:endParaRPr lang="en-US" sz="1700" dirty="0"/>
          </a:p>
        </p:txBody>
      </p:sp>
      <p:sp>
        <p:nvSpPr>
          <p:cNvPr id="12" name="tipo-E"/>
          <p:cNvSpPr txBox="1"/>
          <p:nvPr/>
        </p:nvSpPr>
        <p:spPr>
          <a:xfrm>
            <a:off x="8183880" y="2365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3" name="hallazgo"/>
          <p:cNvSpPr txBox="1"/>
          <p:nvPr/>
        </p:nvSpPr>
        <p:spPr>
          <a:xfrm>
            <a:off x="8567928" y="2377440"/>
            <a:ext cx="29077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SIAL París 2026, del 17 al 21 de octubre en Paris Nord Villepinte.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[2]</a:t>
            </a:r>
            <a:endParaRPr lang="en-US" sz="1400" dirty="0"/>
          </a:p>
        </p:txBody>
      </p:sp>
      <p:sp>
        <p:nvSpPr>
          <p:cNvPr id="14" name="tipo-E"/>
          <p:cNvSpPr txBox="1"/>
          <p:nvPr/>
        </p:nvSpPr>
        <p:spPr>
          <a:xfrm>
            <a:off x="8183880" y="295656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8567928" y="296875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Delegación de 10 empresas queretanas, familiares y pequeñas, con mole, café, salsas, tortillas, cacao y vinos.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[1, 2]</a:t>
            </a:r>
            <a:endParaRPr lang="en-US" sz="1400" dirty="0"/>
          </a:p>
        </p:txBody>
      </p:sp>
      <p:sp>
        <p:nvSpPr>
          <p:cNvPr id="16" name="tipo-P"/>
          <p:cNvSpPr txBox="1"/>
          <p:nvPr/>
        </p:nvSpPr>
        <p:spPr>
          <a:xfrm>
            <a:off x="8183880" y="3761232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17" name="hallazgo"/>
          <p:cNvSpPr txBox="1"/>
          <p:nvPr/>
        </p:nvSpPr>
        <p:spPr>
          <a:xfrm>
            <a:off x="8567928" y="377342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Marca, expositor y composición exacta del producto del video: completar con su etiqueta.</a:t>
            </a:r>
            <a:endParaRPr lang="en-US" sz="1400" dirty="0"/>
          </a:p>
        </p:txBody>
      </p:sp>
      <p:sp>
        <p:nvSpPr>
          <p:cNvPr id="18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[1] Yahoo Noticias, 24-oct · [2] Mexico Now,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1 · PRODUCTO Y CUMPLIMIENTO · EMPAQUE, ETIQUETADO Y DIFERENCIACIÓN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Empaque y etiqueta pensados para el destino</a:t>
            </a:r>
            <a:endParaRPr lang="en-US" sz="3200" dirty="0"/>
          </a:p>
        </p:txBody>
      </p:sp>
      <p:sp>
        <p:nvSpPr>
          <p:cNvPr id="4" name="apartado-1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tarjeta"/>
          <p:cNvSpPr/>
          <p:nvPr/>
        </p:nvSpPr>
        <p:spPr>
          <a:xfrm>
            <a:off x="548640" y="1554480"/>
            <a:ext cx="352044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o-fondo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Empaque</a:t>
            </a:r>
            <a:endParaRPr lang="en-US" sz="1700" dirty="0"/>
          </a:p>
        </p:txBody>
      </p:sp>
      <p:sp>
        <p:nvSpPr>
          <p:cNvPr id="9" name="tipo-I"/>
          <p:cNvSpPr txBox="1"/>
          <p:nvPr/>
        </p:nvSpPr>
        <p:spPr>
          <a:xfrm>
            <a:off x="731520" y="236524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0" name="hallazgo"/>
          <p:cNvSpPr txBox="1"/>
          <p:nvPr/>
        </p:nvSpPr>
        <p:spPr>
          <a:xfrm>
            <a:off x="1115568" y="2377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Vidrio transparente de 150 ml: muestra el color del chile y resiste el llenado en caliente.</a:t>
            </a:r>
            <a:endParaRPr lang="en-US" sz="1400" dirty="0"/>
          </a:p>
        </p:txBody>
      </p:sp>
      <p:sp>
        <p:nvSpPr>
          <p:cNvPr id="11" name="tipo-I"/>
          <p:cNvSpPr txBox="1"/>
          <p:nvPr/>
        </p:nvSpPr>
        <p:spPr>
          <a:xfrm>
            <a:off x="731520" y="3169920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2" name="hallazgo"/>
          <p:cNvSpPr txBox="1"/>
          <p:nvPr/>
        </p:nvSpPr>
        <p:spPr>
          <a:xfrm>
            <a:off x="1115568" y="3182112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Caja de 24 piezas con separadores para el embarque.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4343400" y="1554480"/>
            <a:ext cx="352044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o-fondo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181737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6636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Etiquetado</a:t>
            </a:r>
            <a:endParaRPr lang="en-US" sz="1700" dirty="0"/>
          </a:p>
        </p:txBody>
      </p:sp>
      <p:sp>
        <p:nvSpPr>
          <p:cNvPr id="17" name="tipo-E"/>
          <p:cNvSpPr txBox="1"/>
          <p:nvPr/>
        </p:nvSpPr>
        <p:spPr>
          <a:xfrm>
            <a:off x="4526280" y="2365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8" name="hallazgo"/>
          <p:cNvSpPr txBox="1"/>
          <p:nvPr/>
        </p:nvSpPr>
        <p:spPr>
          <a:xfrm>
            <a:off x="4910328" y="2377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EE. UU. la etiqueta va en inglés; si usa otro idioma, toda la información debe repetirse en él.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[11]</a:t>
            </a:r>
            <a:endParaRPr lang="en-US" sz="1400" dirty="0"/>
          </a:p>
        </p:txBody>
      </p:sp>
      <p:sp>
        <p:nvSpPr>
          <p:cNvPr id="19" name="tipo-I"/>
          <p:cNvSpPr txBox="1"/>
          <p:nvPr/>
        </p:nvSpPr>
        <p:spPr>
          <a:xfrm>
            <a:off x="4526280" y="3169920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20" name="hallazgo"/>
          <p:cNvSpPr txBox="1"/>
          <p:nvPr/>
        </p:nvSpPr>
        <p:spPr>
          <a:xfrm>
            <a:off x="4910328" y="31821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NOM-051 rige lo que se vende en México; la etiqueta de exportación sigue la norma del destino.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[7]</a:t>
            </a:r>
            <a:endParaRPr lang="en-US" sz="1400" dirty="0"/>
          </a:p>
        </p:txBody>
      </p:sp>
      <p:sp>
        <p:nvSpPr>
          <p:cNvPr id="21" name="tarjeta"/>
          <p:cNvSpPr/>
          <p:nvPr/>
        </p:nvSpPr>
        <p:spPr>
          <a:xfrm>
            <a:off x="8138160" y="1554480"/>
            <a:ext cx="352044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o-fondo"/>
          <p:cNvSpPr/>
          <p:nvPr/>
        </p:nvSpPr>
        <p:spPr>
          <a:xfrm>
            <a:off x="83210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9611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Diferenciación en SIAL</a:t>
            </a:r>
            <a:endParaRPr lang="en-US" sz="1700" dirty="0"/>
          </a:p>
        </p:txBody>
      </p:sp>
      <p:sp>
        <p:nvSpPr>
          <p:cNvPr id="25" name="tipo-E"/>
          <p:cNvSpPr txBox="1"/>
          <p:nvPr/>
        </p:nvSpPr>
        <p:spPr>
          <a:xfrm>
            <a:off x="8321040" y="2365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6" name="hallazgo"/>
          <p:cNvSpPr txBox="1"/>
          <p:nvPr/>
        </p:nvSpPr>
        <p:spPr>
          <a:xfrm>
            <a:off x="8705088" y="2377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SIAL Insights 2026: los sabores atrevidos y la intensidad mueven la innovación.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[3]</a:t>
            </a:r>
            <a:endParaRPr lang="en-US" sz="1400" dirty="0"/>
          </a:p>
        </p:txBody>
      </p:sp>
      <p:sp>
        <p:nvSpPr>
          <p:cNvPr id="27" name="tipo-E"/>
          <p:cNvSpPr txBox="1"/>
          <p:nvPr/>
        </p:nvSpPr>
        <p:spPr>
          <a:xfrm>
            <a:off x="8321040" y="316992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8" name="hallazgo"/>
          <p:cNvSpPr txBox="1"/>
          <p:nvPr/>
        </p:nvSpPr>
        <p:spPr>
          <a:xfrm>
            <a:off x="8705088" y="3182112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eligieron 775 productos innovadores de más de 2,750 candidaturas.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[3]</a:t>
            </a:r>
            <a:endParaRPr lang="en-US" sz="1400" dirty="0"/>
          </a:p>
        </p:txBody>
      </p:sp>
      <p:sp>
        <p:nvSpPr>
          <p:cNvPr id="29" name="tipo-E"/>
          <p:cNvSpPr txBox="1"/>
          <p:nvPr/>
        </p:nvSpPr>
        <p:spPr>
          <a:xfrm>
            <a:off x="548640" y="469087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32688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40.1%</a:t>
            </a:r>
            <a:endParaRPr lang="en-US" sz="32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5138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la salsa picante vendida en Europa es de estilo mexicano (estimación 2025)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[4]</a:t>
            </a:r>
            <a:endParaRPr lang="en-US" sz="1400" dirty="0"/>
          </a:p>
        </p:txBody>
      </p:sp>
      <p:sp>
        <p:nvSpPr>
          <p:cNvPr id="32" name="tipo-E"/>
          <p:cNvSpPr txBox="1"/>
          <p:nvPr/>
        </p:nvSpPr>
        <p:spPr>
          <a:xfrm>
            <a:off x="4343400" y="469087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4727448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65%</a:t>
            </a:r>
            <a:endParaRPr lang="en-US" sz="3200" dirty="0"/>
          </a:p>
        </p:txBody>
      </p:sp>
      <p:sp>
        <p:nvSpPr>
          <p:cNvPr id="34" name="Text 29"/>
          <p:cNvSpPr txBox="1"/>
          <p:nvPr/>
        </p:nvSpPr>
        <p:spPr>
          <a:xfrm>
            <a:off x="4343400" y="5138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los consumidores come más picante que hace un año (2024, ~6,000 personas)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[5]</a:t>
            </a:r>
            <a:endParaRPr lang="en-US" sz="1400" dirty="0"/>
          </a:p>
        </p:txBody>
      </p:sp>
      <p:sp>
        <p:nvSpPr>
          <p:cNvPr id="35" name="tipo-E"/>
          <p:cNvSpPr txBox="1"/>
          <p:nvPr/>
        </p:nvSpPr>
        <p:spPr>
          <a:xfrm>
            <a:off x="8138160" y="469087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8522208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«Swicy»</a:t>
            </a:r>
            <a:endParaRPr lang="en-US" sz="3200" dirty="0"/>
          </a:p>
        </p:txBody>
      </p:sp>
      <p:sp>
        <p:nvSpPr>
          <p:cNvPr id="37" name="Text 32"/>
          <p:cNvSpPr txBox="1"/>
          <p:nvPr/>
        </p:nvSpPr>
        <p:spPr>
          <a:xfrm>
            <a:off x="8138160" y="5138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dulce + picante: perfil de sabor destacado para 2026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[6]</a:t>
            </a:r>
            <a:endParaRPr lang="en-US" sz="1400" dirty="0"/>
          </a:p>
        </p:txBody>
      </p:sp>
      <p:sp>
        <p:nvSpPr>
          <p:cNvPr id="38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[3] Empresa Exterior, 24-oct · [4] Market Data Forecast, 24-oct · [5] Kalsec, 24-oct · [6] FoodIngredientsFirst, 24-oct · [7] NOM-051, 25-oct · [11] Registrar Corp,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1 · PRODUCTO Y CUMPLIMIENTO · REQUISITOS NORMATIVOS EN EE. UU.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EE. UU.: la acidez de la salsa define el trámite</a:t>
            </a:r>
            <a:endParaRPr lang="en-US" sz="3200" dirty="0"/>
          </a:p>
        </p:txBody>
      </p:sp>
      <p:sp>
        <p:nvSpPr>
          <p:cNvPr id="4" name="apartado-1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icono-fondo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6802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54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Estados Unidos · FDA</a:t>
            </a:r>
            <a:endParaRPr lang="en-US" sz="1700" dirty="0"/>
          </a:p>
        </p:txBody>
      </p:sp>
      <p:sp>
        <p:nvSpPr>
          <p:cNvPr id="8" name="tipo-E"/>
          <p:cNvSpPr txBox="1"/>
          <p:nvPr/>
        </p:nvSpPr>
        <p:spPr>
          <a:xfrm>
            <a:off x="548640" y="218236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9" name="hallazgo"/>
          <p:cNvSpPr txBox="1"/>
          <p:nvPr/>
        </p:nvSpPr>
        <p:spPr>
          <a:xfrm>
            <a:off x="932688" y="2194560"/>
            <a:ext cx="64739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la planta ante la FDA, con agente en EE. UU.; renovación bienal entre el 1 de octubre y el 31 de diciembre de 2026.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[9]</a:t>
            </a:r>
            <a:endParaRPr lang="en-US" sz="1400" dirty="0"/>
          </a:p>
        </p:txBody>
      </p:sp>
      <p:sp>
        <p:nvSpPr>
          <p:cNvPr id="10" name="tipo-E"/>
          <p:cNvSpPr txBox="1"/>
          <p:nvPr/>
        </p:nvSpPr>
        <p:spPr>
          <a:xfrm>
            <a:off x="548640" y="277368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932688" y="2785872"/>
            <a:ext cx="64739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Alimento acidificado: registro FCE de la planta y proceso SID de cada receta antes de exportar.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[8]</a:t>
            </a:r>
            <a:endParaRPr lang="en-US" sz="1400" dirty="0"/>
          </a:p>
        </p:txBody>
      </p:sp>
      <p:sp>
        <p:nvSpPr>
          <p:cNvPr id="12" name="tipo-E"/>
          <p:cNvSpPr txBox="1"/>
          <p:nvPr/>
        </p:nvSpPr>
        <p:spPr>
          <a:xfrm>
            <a:off x="548640" y="336499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3" name="hallazgo"/>
          <p:cNvSpPr txBox="1"/>
          <p:nvPr/>
        </p:nvSpPr>
        <p:spPr>
          <a:xfrm>
            <a:off x="932688" y="3377184"/>
            <a:ext cx="6473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cada turno, un supervisor capacitado en Better Process Control School.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[8]</a:t>
            </a:r>
            <a:endParaRPr lang="en-US" sz="1400" dirty="0"/>
          </a:p>
        </p:txBody>
      </p:sp>
      <p:sp>
        <p:nvSpPr>
          <p:cNvPr id="14" name="tipo-E"/>
          <p:cNvSpPr txBox="1"/>
          <p:nvPr/>
        </p:nvSpPr>
        <p:spPr>
          <a:xfrm>
            <a:off x="548640" y="3742944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932688" y="3755136"/>
            <a:ext cx="6473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Aviso previo electrónico por embarque: al menos 2 horas antes si llega por carretera.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[10]</a:t>
            </a:r>
            <a:endParaRPr lang="en-US" sz="1400" dirty="0"/>
          </a:p>
        </p:txBody>
      </p:sp>
      <p:sp>
        <p:nvSpPr>
          <p:cNvPr id="16" name="tipo-E"/>
          <p:cNvSpPr txBox="1"/>
          <p:nvPr/>
        </p:nvSpPr>
        <p:spPr>
          <a:xfrm>
            <a:off x="548640" y="4120896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7" name="hallazgo"/>
          <p:cNvSpPr txBox="1"/>
          <p:nvPr/>
        </p:nvSpPr>
        <p:spPr>
          <a:xfrm>
            <a:off x="932688" y="4133088"/>
            <a:ext cx="6473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 en inglés con ingredientes en orden decreciente de peso.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[11]</a:t>
            </a:r>
            <a:endParaRPr lang="en-US" sz="1400" dirty="0"/>
          </a:p>
        </p:txBody>
      </p:sp>
      <p:sp>
        <p:nvSpPr>
          <p:cNvPr id="18" name="tipo-E"/>
          <p:cNvSpPr txBox="1"/>
          <p:nvPr/>
        </p:nvSpPr>
        <p:spPr>
          <a:xfrm>
            <a:off x="548640" y="44988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9" name="hallazgo"/>
          <p:cNvSpPr txBox="1"/>
          <p:nvPr/>
        </p:nvSpPr>
        <p:spPr>
          <a:xfrm>
            <a:off x="932688" y="4511040"/>
            <a:ext cx="6473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importador necesita un FSVP; sin él, la FDA puede rechazar la mercancía.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[12]</a:t>
            </a:r>
            <a:endParaRPr lang="en-US" sz="1400" dirty="0"/>
          </a:p>
        </p:txBody>
      </p:sp>
      <p:sp>
        <p:nvSpPr>
          <p:cNvPr id="20" name="tipo-P"/>
          <p:cNvSpPr txBox="1"/>
          <p:nvPr/>
        </p:nvSpPr>
        <p:spPr>
          <a:xfrm>
            <a:off x="548640" y="4876800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21" name="hallazgo"/>
          <p:cNvSpPr txBox="1"/>
          <p:nvPr/>
        </p:nvSpPr>
        <p:spPr>
          <a:xfrm>
            <a:off x="932688" y="4888992"/>
            <a:ext cx="64739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Tabla Nutrition Facts y declaración de alérgenos: verificar en 21 CFR 101.9 y 101.91.</a:t>
            </a:r>
            <a:endParaRPr lang="en-US" sz="1400" dirty="0"/>
          </a:p>
        </p:txBody>
      </p:sp>
      <p:sp>
        <p:nvSpPr>
          <p:cNvPr id="22" name="prueba-clave"/>
          <p:cNvSpPr/>
          <p:nvPr/>
        </p:nvSpPr>
        <p:spPr>
          <a:xfrm>
            <a:off x="7863840" y="1554480"/>
            <a:ext cx="3776472" cy="4251960"/>
          </a:xfrm>
          <a:prstGeom prst="roundRect">
            <a:avLst>
              <a:gd name="adj" fmla="val 2906"/>
            </a:avLst>
          </a:prstGeom>
          <a:solidFill>
            <a:srgbClr val="2B2226"/>
          </a:solidFill>
          <a:ln w="12700">
            <a:solidFill>
              <a:srgbClr val="2B2226"/>
            </a:solidFill>
            <a:prstDash val="solid"/>
          </a:ln>
        </p:spPr>
      </p:sp>
      <p:sp>
        <p:nvSpPr>
          <p:cNvPr id="23" name="icono-fondo"/>
          <p:cNvSpPr/>
          <p:nvPr/>
        </p:nvSpPr>
        <p:spPr>
          <a:xfrm>
            <a:off x="809244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745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7782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Prueba clave de laboratorio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809244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pH ≤ 4.6</a:t>
            </a:r>
            <a:endParaRPr lang="en-US" sz="3600" dirty="0"/>
          </a:p>
        </p:txBody>
      </p:sp>
      <p:sp>
        <p:nvSpPr>
          <p:cNvPr id="27" name="Text 23"/>
          <p:cNvSpPr txBox="1"/>
          <p:nvPr/>
        </p:nvSpPr>
        <p:spPr>
          <a:xfrm>
            <a:off x="809244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aw &gt; 0.85</a:t>
            </a:r>
            <a:endParaRPr lang="en-US" sz="3600" dirty="0"/>
          </a:p>
        </p:txBody>
      </p:sp>
      <p:sp>
        <p:nvSpPr>
          <p:cNvPr id="28" name="tipo-E"/>
          <p:cNvSpPr txBox="1"/>
          <p:nvPr/>
        </p:nvSpPr>
        <p:spPr>
          <a:xfrm>
            <a:off x="8092440" y="38740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9" name="hallazgo"/>
          <p:cNvSpPr txBox="1"/>
          <p:nvPr/>
        </p:nvSpPr>
        <p:spPr>
          <a:xfrm>
            <a:off x="8476488" y="3886200"/>
            <a:ext cx="299923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esos valores, la FDA trata la salsa como alimento acidificado.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[8]</a:t>
            </a:r>
            <a:endParaRPr lang="en-US" sz="1400" dirty="0"/>
          </a:p>
        </p:txBody>
      </p:sp>
      <p:sp>
        <p:nvSpPr>
          <p:cNvPr id="30" name="tipo-P"/>
          <p:cNvSpPr txBox="1"/>
          <p:nvPr/>
        </p:nvSpPr>
        <p:spPr>
          <a:xfrm>
            <a:off x="8092440" y="4465320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31" name="hallazgo"/>
          <p:cNvSpPr txBox="1"/>
          <p:nvPr/>
        </p:nvSpPr>
        <p:spPr>
          <a:xfrm>
            <a:off x="8476488" y="4477512"/>
            <a:ext cx="299923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pH y actividad de agua del producto real en un laboratorio acreditado.</a:t>
            </a:r>
            <a:endParaRPr lang="en-US" sz="1400" dirty="0"/>
          </a:p>
        </p:txBody>
      </p:sp>
      <p:sp>
        <p:nvSpPr>
          <p:cNvPr id="32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[8] Oregon Dept. of Agriculture / FDA, 24-oct · [9] FDA, 24-oct · [10] FDA, Prior Notice, 25-oct · [11] Registrar Corp, 25-oct · [12] FDA, cartas FSVP,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1 · PRODUCTO Y CUMPLIMIENTO · REQUISITOS NORMATIVOS EN LA UE Y CANADÁ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UE y Canadá: etiqueta, aditivos y licencia</a:t>
            </a:r>
            <a:endParaRPr lang="en-US" sz="3200" dirty="0"/>
          </a:p>
        </p:txBody>
      </p:sp>
      <p:sp>
        <p:nvSpPr>
          <p:cNvPr id="4" name="apartado-1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ue"/>
          <p:cNvSpPr/>
          <p:nvPr/>
        </p:nvSpPr>
        <p:spPr>
          <a:xfrm>
            <a:off x="548640" y="1554480"/>
            <a:ext cx="635508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o-fondo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91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ipo-E"/>
          <p:cNvSpPr txBox="1"/>
          <p:nvPr/>
        </p:nvSpPr>
        <p:spPr>
          <a:xfrm>
            <a:off x="731520" y="2365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0" name="hallazgo"/>
          <p:cNvSpPr txBox="1"/>
          <p:nvPr/>
        </p:nvSpPr>
        <p:spPr>
          <a:xfrm>
            <a:off x="1115568" y="2377440"/>
            <a:ext cx="56052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Etiquetado conforme al Reglamento (UE) 1169/2011; los aditivos se declaran por categoría y número E.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[13]</a:t>
            </a:r>
            <a:endParaRPr lang="en-US" sz="1400" dirty="0"/>
          </a:p>
        </p:txBody>
      </p:sp>
      <p:sp>
        <p:nvSpPr>
          <p:cNvPr id="11" name="tipo-E"/>
          <p:cNvSpPr txBox="1"/>
          <p:nvPr/>
        </p:nvSpPr>
        <p:spPr>
          <a:xfrm>
            <a:off x="731520" y="295656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2" name="hallazgo"/>
          <p:cNvSpPr txBox="1"/>
          <p:nvPr/>
        </p:nvSpPr>
        <p:spPr>
          <a:xfrm>
            <a:off x="1115568" y="2968752"/>
            <a:ext cx="56052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se permiten los aditivos del anexo II del Reglamento (CE) 1333/2008: revisar benzoato y goma xantana.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[13]</a:t>
            </a:r>
            <a:endParaRPr lang="en-US" sz="1400" dirty="0"/>
          </a:p>
        </p:txBody>
      </p:sp>
      <p:sp>
        <p:nvSpPr>
          <p:cNvPr id="13" name="tipo-E"/>
          <p:cNvSpPr txBox="1"/>
          <p:nvPr/>
        </p:nvSpPr>
        <p:spPr>
          <a:xfrm>
            <a:off x="731520" y="354787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4" name="hallazgo"/>
          <p:cNvSpPr txBox="1"/>
          <p:nvPr/>
        </p:nvSpPr>
        <p:spPr>
          <a:xfrm>
            <a:off x="1115568" y="3560064"/>
            <a:ext cx="56052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Reglamento (UE) 2023/915 fija límites de aflatoxinas y ocratoxina A; en especias Capsicum la OTA se limitó a 15 µg/kg desde 2012.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[14]</a:t>
            </a:r>
            <a:endParaRPr lang="en-US" sz="1400" dirty="0"/>
          </a:p>
        </p:txBody>
      </p:sp>
      <p:sp>
        <p:nvSpPr>
          <p:cNvPr id="15" name="tipo-P"/>
          <p:cNvSpPr txBox="1"/>
          <p:nvPr/>
        </p:nvSpPr>
        <p:spPr>
          <a:xfrm>
            <a:off x="731520" y="4139184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16" name="hallazgo"/>
          <p:cNvSpPr txBox="1"/>
          <p:nvPr/>
        </p:nvSpPr>
        <p:spPr>
          <a:xfrm>
            <a:off x="1115568" y="4151376"/>
            <a:ext cx="56052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Límites de plaguicidas en el chile (Reglamento (CE) 396/2005) y límite vigente para la salsa terminada: verificar en EUR-Lex.</a:t>
            </a:r>
            <a:endParaRPr lang="en-US" sz="1400" dirty="0"/>
          </a:p>
        </p:txBody>
      </p:sp>
      <p:sp>
        <p:nvSpPr>
          <p:cNvPr id="17" name="canada"/>
          <p:cNvSpPr/>
          <p:nvPr/>
        </p:nvSpPr>
        <p:spPr>
          <a:xfrm>
            <a:off x="7132320" y="1554480"/>
            <a:ext cx="4507992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o-fondo"/>
          <p:cNvSpPr/>
          <p:nvPr/>
        </p:nvSpPr>
        <p:spPr>
          <a:xfrm>
            <a:off x="731520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930" y="181737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95528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Canadá</a:t>
            </a:r>
            <a:endParaRPr lang="en-US" sz="1700" dirty="0"/>
          </a:p>
        </p:txBody>
      </p:sp>
      <p:sp>
        <p:nvSpPr>
          <p:cNvPr id="21" name="tipo-E"/>
          <p:cNvSpPr txBox="1"/>
          <p:nvPr/>
        </p:nvSpPr>
        <p:spPr>
          <a:xfrm>
            <a:off x="7315200" y="2365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2" name="hallazgo"/>
          <p:cNvSpPr txBox="1"/>
          <p:nvPr/>
        </p:nvSpPr>
        <p:spPr>
          <a:xfrm>
            <a:off x="7699248" y="2377440"/>
            <a:ext cx="37764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importador necesita licencia SFC de la CFIA, en la mayoría de los casos.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[15]</a:t>
            </a:r>
            <a:endParaRPr lang="en-US" sz="1400" dirty="0"/>
          </a:p>
        </p:txBody>
      </p:sp>
      <p:sp>
        <p:nvSpPr>
          <p:cNvPr id="23" name="tipo-E"/>
          <p:cNvSpPr txBox="1"/>
          <p:nvPr/>
        </p:nvSpPr>
        <p:spPr>
          <a:xfrm>
            <a:off x="7315200" y="295656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4" name="hallazgo"/>
          <p:cNvSpPr txBox="1"/>
          <p:nvPr/>
        </p:nvSpPr>
        <p:spPr>
          <a:xfrm>
            <a:off x="7699248" y="2968752"/>
            <a:ext cx="37764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exigen controles preventivos y trazabilidad un paso atrás y un paso adelante.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[15]</a:t>
            </a:r>
            <a:endParaRPr lang="en-US" sz="1400" dirty="0"/>
          </a:p>
        </p:txBody>
      </p:sp>
      <p:sp>
        <p:nvSpPr>
          <p:cNvPr id="25" name="tipo-P"/>
          <p:cNvSpPr txBox="1"/>
          <p:nvPr/>
        </p:nvSpPr>
        <p:spPr>
          <a:xfrm>
            <a:off x="7315200" y="3547872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26" name="hallazgo"/>
          <p:cNvSpPr txBox="1"/>
          <p:nvPr/>
        </p:nvSpPr>
        <p:spPr>
          <a:xfrm>
            <a:off x="7699248" y="3560064"/>
            <a:ext cx="37764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 bilingüe inglés–francés y tabla nutrimental: verificar en la guía de etiquetado de la CFIA.</a:t>
            </a:r>
            <a:endParaRPr lang="en-US" sz="1400" dirty="0"/>
          </a:p>
        </p:txBody>
      </p:sp>
      <p:sp>
        <p:nvSpPr>
          <p:cNvPr id="27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[13] EUR-Lex / WIPO Lex, 24-oct · [14] EUR-Lex / AESAN, 25-oct · [15] CFIA,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2 · CAPACIDAD Y OFERTA · NIVEL 1 · COMERCIAMX Y DIRECTORIOS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Proveedores mexicanos y su oferta exportable</a:t>
            </a:r>
            <a:endParaRPr lang="en-US" sz="3200" dirty="0"/>
          </a:p>
        </p:txBody>
      </p:sp>
      <p:sp>
        <p:nvSpPr>
          <p:cNvPr id="4" name="apartado-2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tipo-E"/>
          <p:cNvSpPr txBox="1"/>
          <p:nvPr/>
        </p:nvSpPr>
        <p:spPr>
          <a:xfrm>
            <a:off x="548640" y="1469136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6" name="hallazgo"/>
          <p:cNvSpPr txBox="1"/>
          <p:nvPr/>
        </p:nvSpPr>
        <p:spPr>
          <a:xfrm>
            <a:off x="932688" y="1481328"/>
            <a:ext cx="1071036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ComerciaMx (Secretaría de Economía y BID) reúne un directorio de más de 400 mil empresas para localizar proveedores.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[16]</a:t>
            </a:r>
            <a:endParaRPr lang="en-US" sz="1400" dirty="0"/>
          </a:p>
        </p:txBody>
      </p:sp>
      <p:graphicFrame>
        <p:nvGraphicFramePr>
          <p:cNvPr id="9" name="proveed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920240"/>
                <a:gridCol w="5376672"/>
                <a:gridCol w="640080"/>
                <a:gridCol w="914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Proveedor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Ubicación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Evidencia de oferta y capacidad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Fuente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Grupo Herdez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plantas en México y 1 en EE. UU.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Ventas de exportación de MX$3,027 M en 2025; inversión 2025 para ampliar la línea de salsas de exportación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[17]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El Yucateco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Mérida, Yucatán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Campos propios de habanero; ~300 empleados fijos y 500 eventuales (2023); vende en Norteamérica, Europa, Asia y Oceanía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[18]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Salsa Tamazula (Valentina)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Guadalajara, Jalisco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Planta de ~30,000 m²; presentaciones de 125 ml, 370 ml, 1 L y 4 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[19]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Alimentos y Salsas de México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Tecate, Baja California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Registrada como exportadora de salsas picantes y purés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[20]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La Aztecana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Querétaro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Salsas de varios chiles sin aditivos químicos; no se encontró registro de exportación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[21]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Pymes de la delegación SIAL 2026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Querétaro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 empresas familiares y pequeñas con «salsas» entre sus productos; nombres no publicados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[1, 2]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</a:tbl>
          </a:graphicData>
        </a:graphic>
      </p:graphicFrame>
      <p:sp>
        <p:nvSpPr>
          <p:cNvPr id="8" name="tipo-P"/>
          <p:cNvSpPr txBox="1"/>
          <p:nvPr/>
        </p:nvSpPr>
        <p:spPr>
          <a:xfrm>
            <a:off x="548640" y="5565648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9" name="hallazgo"/>
          <p:cNvSpPr txBox="1"/>
          <p:nvPr/>
        </p:nvSpPr>
        <p:spPr>
          <a:xfrm>
            <a:off x="932688" y="5577840"/>
            <a:ext cx="1071036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Buscar «salsa picante» en ComerciaMx y pedir a 3 proveedores su capacidad mensual y ficha técnica.</a:t>
            </a:r>
            <a:endParaRPr lang="en-US" sz="1400" dirty="0"/>
          </a:p>
        </p:txBody>
      </p:sp>
      <p:sp>
        <p:nvSpPr>
          <p:cNvPr id="10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[1] Yahoo Noticias, 24-oct · [2] Mexico Now, 25-oct · [16] ConnectAmericas, 24-oct · [17] Grupo Herdez, 25-oct · [18] Wikipedia, El Yucateco, 25-oct · [19] Salsa Tamazula, 25-oct · [20] DIEX México, 24-oct · [21] Lo Hecho en México,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2 · CAPACIDAD Y OFERTA · NIVEL 2 · INEGI Y CAPACIDAD PRODUCTIVA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Base productiva amplia; falta el dato local</a:t>
            </a:r>
            <a:endParaRPr lang="en-US" sz="3200" dirty="0"/>
          </a:p>
        </p:txBody>
      </p:sp>
      <p:sp>
        <p:nvSpPr>
          <p:cNvPr id="4" name="apartado-2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tipo-E"/>
          <p:cNvSpPr txBox="1"/>
          <p:nvPr/>
        </p:nvSpPr>
        <p:spPr>
          <a:xfrm>
            <a:off x="548640" y="169164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554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2,602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económicas en la rama de conservación de frutas, verduras, guisos y alimentos preparados (DENUE 2025); eran 2,020 en el Censo 2019.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[24]</a:t>
            </a:r>
            <a:endParaRPr lang="en-US" sz="1400" dirty="0"/>
          </a:p>
        </p:txBody>
      </p:sp>
      <p:sp>
        <p:nvSpPr>
          <p:cNvPr id="8" name="tipo-E"/>
          <p:cNvSpPr txBox="1"/>
          <p:nvPr/>
        </p:nvSpPr>
        <p:spPr>
          <a:xfrm>
            <a:off x="548640" y="299008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529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2.4–3.0 Mt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3558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chile verde en 2025: el insumo principal está asegurado (las cifras del SIAP difieren entre fuentes).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[26]</a:t>
            </a:r>
            <a:endParaRPr lang="en-US" sz="1400" dirty="0"/>
          </a:p>
        </p:txBody>
      </p:sp>
      <p:sp>
        <p:nvSpPr>
          <p:cNvPr id="11" name="tipo-E"/>
          <p:cNvSpPr txBox="1"/>
          <p:nvPr/>
        </p:nvSpPr>
        <p:spPr>
          <a:xfrm>
            <a:off x="548640" y="4288536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1513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311423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6542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clase SCIAN que incluye las salsas picantes; la EMIM mide su producción en toneladas.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[23]</a:t>
            </a:r>
            <a:endParaRPr lang="en-US" sz="1400" dirty="0"/>
          </a:p>
        </p:txBody>
      </p:sp>
      <p:graphicFrame>
        <p:nvGraphicFramePr>
          <p:cNvPr id="14" name="grafica-entidades" descr=""/>
          <p:cNvGraphicFramePr/>
          <p:nvPr/>
        </p:nvGraphicFramePr>
        <p:xfrm>
          <a:off x="6355080" y="1508760"/>
          <a:ext cx="528523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ipo-E"/>
          <p:cNvSpPr txBox="1"/>
          <p:nvPr/>
        </p:nvSpPr>
        <p:spPr>
          <a:xfrm>
            <a:off x="6355080" y="37368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6" name="hallazgo"/>
          <p:cNvSpPr txBox="1"/>
          <p:nvPr/>
        </p:nvSpPr>
        <p:spPr>
          <a:xfrm>
            <a:off x="6739128" y="3749040"/>
            <a:ext cx="49011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Gráfica: exportaciones de la subpartida 2103.90 por entidad federativa, 2024.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[25]</a:t>
            </a:r>
            <a:endParaRPr lang="en-US" sz="1400" dirty="0"/>
          </a:p>
        </p:txBody>
      </p:sp>
      <p:sp>
        <p:nvSpPr>
          <p:cNvPr id="17" name="tipo-I"/>
          <p:cNvSpPr txBox="1"/>
          <p:nvPr/>
        </p:nvSpPr>
        <p:spPr>
          <a:xfrm>
            <a:off x="6355080" y="4328160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8" name="hallazgo"/>
          <p:cNvSpPr txBox="1"/>
          <p:nvPr/>
        </p:nvSpPr>
        <p:spPr>
          <a:xfrm>
            <a:off x="6739128" y="4340352"/>
            <a:ext cx="4901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entidades líderes (CDMX, Jalisco y Guanajuato en exportación; Oaxaca y Puebla en unidades) no incluyen a Querétaro: el proveedor local debe demostrar su capacidad.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[24, 25]</a:t>
            </a:r>
            <a:endParaRPr lang="en-US" sz="1400" dirty="0"/>
          </a:p>
        </p:txBody>
      </p:sp>
      <p:sp>
        <p:nvSpPr>
          <p:cNvPr id="19" name="tipo-P"/>
          <p:cNvSpPr txBox="1"/>
          <p:nvPr/>
        </p:nvSpPr>
        <p:spPr>
          <a:xfrm>
            <a:off x="6355080" y="5132832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20" name="hallazgo"/>
          <p:cNvSpPr txBox="1"/>
          <p:nvPr/>
        </p:nvSpPr>
        <p:spPr>
          <a:xfrm>
            <a:off x="6739128" y="5145024"/>
            <a:ext cx="49011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EMIM: toneladas de salsas picantes 2025. DENUE: unidades de la clase 311423 en Querétaro.</a:t>
            </a:r>
            <a:endParaRPr lang="en-US" sz="1400" dirty="0"/>
          </a:p>
        </p:txBody>
      </p:sp>
      <p:sp>
        <p:nvSpPr>
          <p:cNvPr id="21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[23] INEGI, 24-oct · [24] DataMéxico (rama 3114), 25-oct · [25] DataMéxico (partida 2103), 24-oct · [26] El Financiero / Tiempo (SIAP),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3 · VIABILIDAD ARANCELARIA · NIVEL 3 · SIICEX Y TIGIE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Fracción 2103.90.99: se clasifica por composición</a:t>
            </a:r>
            <a:endParaRPr lang="en-US" sz="3200" dirty="0"/>
          </a:p>
        </p:txBody>
      </p:sp>
      <p:sp>
        <p:nvSpPr>
          <p:cNvPr id="4" name="apartado-3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nivel-0"/>
          <p:cNvSpPr txBox="1"/>
          <p:nvPr/>
        </p:nvSpPr>
        <p:spPr>
          <a:xfrm>
            <a:off x="548640" y="1554480"/>
            <a:ext cx="5760720" cy="54864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Sección IV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Productos de las industrias alimentarias</a:t>
            </a:r>
            <a:endParaRPr lang="en-US" sz="1400" dirty="0"/>
          </a:p>
        </p:txBody>
      </p:sp>
      <p:sp>
        <p:nvSpPr>
          <p:cNvPr id="6" name="nivel-1"/>
          <p:cNvSpPr txBox="1"/>
          <p:nvPr/>
        </p:nvSpPr>
        <p:spPr>
          <a:xfrm>
            <a:off x="749808" y="2194560"/>
            <a:ext cx="5559552" cy="54864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Capítulo 21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Preparaciones alimenticias diversas</a:t>
            </a:r>
            <a:endParaRPr lang="en-US" sz="1400" dirty="0"/>
          </a:p>
        </p:txBody>
      </p:sp>
      <p:sp>
        <p:nvSpPr>
          <p:cNvPr id="7" name="nivel-2"/>
          <p:cNvSpPr txBox="1"/>
          <p:nvPr/>
        </p:nvSpPr>
        <p:spPr>
          <a:xfrm>
            <a:off x="950976" y="2834640"/>
            <a:ext cx="5358384" cy="54864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Partida 21.03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Preparaciones para salsas y salsas preparadas; condimentos y sazonadores, compuestos</a:t>
            </a:r>
            <a:endParaRPr lang="en-US" sz="1400" dirty="0"/>
          </a:p>
        </p:txBody>
      </p:sp>
      <p:sp>
        <p:nvSpPr>
          <p:cNvPr id="8" name="nivel-3"/>
          <p:cNvSpPr txBox="1"/>
          <p:nvPr/>
        </p:nvSpPr>
        <p:spPr>
          <a:xfrm>
            <a:off x="1152144" y="3474720"/>
            <a:ext cx="5157216" cy="54864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Subpartida 2103.90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demás</a:t>
            </a:r>
            <a:endParaRPr lang="en-US" sz="1400" dirty="0"/>
          </a:p>
        </p:txBody>
      </p:sp>
      <p:sp>
        <p:nvSpPr>
          <p:cNvPr id="9" name="nivel-4"/>
          <p:cNvSpPr txBox="1"/>
          <p:nvPr/>
        </p:nvSpPr>
        <p:spPr>
          <a:xfrm>
            <a:off x="1353312" y="4114800"/>
            <a:ext cx="4956048" cy="548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Fracción 2103.90.99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Los demás</a:t>
            </a:r>
            <a:endParaRPr lang="en-US" sz="1400" dirty="0"/>
          </a:p>
        </p:txBody>
      </p:sp>
      <p:sp>
        <p:nvSpPr>
          <p:cNvPr id="10" name="nivel-5"/>
          <p:cNvSpPr txBox="1"/>
          <p:nvPr/>
        </p:nvSpPr>
        <p:spPr>
          <a:xfrm>
            <a:off x="1554480" y="4754880"/>
            <a:ext cx="4754880" cy="548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27000" tIns="0" rIns="1270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NICO 00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Los demás → código completo 2103.90.99.00</a:t>
            </a:r>
            <a:endParaRPr lang="en-US" sz="1400" dirty="0"/>
          </a:p>
        </p:txBody>
      </p:sp>
      <p:sp>
        <p:nvSpPr>
          <p:cNvPr id="11" name="tipo-E"/>
          <p:cNvSpPr txBox="1"/>
          <p:nvPr/>
        </p:nvSpPr>
        <p:spPr>
          <a:xfrm>
            <a:off x="548640" y="54742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2" name="hallazgo"/>
          <p:cNvSpPr txBox="1"/>
          <p:nvPr/>
        </p:nvSpPr>
        <p:spPr>
          <a:xfrm>
            <a:off x="932688" y="5486400"/>
            <a:ext cx="53766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Fracción y NICO tomados de la TIGIE (SIICEX) y del acuerdo de NICO de la LIGIE 2022.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[27, 28, 29]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5544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¿Por qué no otra fracción?</a:t>
            </a:r>
            <a:endParaRPr lang="en-US" sz="1800" dirty="0"/>
          </a:p>
        </p:txBody>
      </p:sp>
      <p:graphicFrame>
        <p:nvGraphicFramePr>
          <p:cNvPr id="11" name="alternativ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011680"/>
          <a:ext cx="4919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420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Si el producto es…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Va a…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Salsa con base de tomate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2103.20 Ketchup y demás salsas de tomate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Chile seco molido, sin otros ingredientes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09.04 Frutos del género Capsicum, secos o pulverizados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Chiles enteros o en trozos en vinagre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20.01 Hortalizas preparadas en vinagre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Salsa de soya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2103.10 Salsa de soya (soja)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ipo-E"/>
          <p:cNvSpPr txBox="1"/>
          <p:nvPr/>
        </p:nvSpPr>
        <p:spPr>
          <a:xfrm>
            <a:off x="6720840" y="48798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6" name="hallazgo"/>
          <p:cNvSpPr txBox="1"/>
          <p:nvPr/>
        </p:nvSpPr>
        <p:spPr>
          <a:xfrm>
            <a:off x="7104888" y="4892040"/>
            <a:ext cx="453542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notas explicativas de la partida 21.03 incluyen la salsa picante entre los sazonadores líquidos.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[30]</a:t>
            </a:r>
            <a:endParaRPr lang="en-US" sz="1400" dirty="0"/>
          </a:p>
        </p:txBody>
      </p:sp>
      <p:sp>
        <p:nvSpPr>
          <p:cNvPr id="17" name="tipo-I"/>
          <p:cNvSpPr txBox="1"/>
          <p:nvPr/>
        </p:nvSpPr>
        <p:spPr>
          <a:xfrm>
            <a:off x="6720840" y="5471160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8" name="hallazgo"/>
          <p:cNvSpPr txBox="1"/>
          <p:nvPr/>
        </p:nvSpPr>
        <p:spPr>
          <a:xfrm>
            <a:off x="7104888" y="5483352"/>
            <a:ext cx="453542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Reglas generales 1 y 6: deciden los textos de partida y subpartida, no el nombre comercial.</a:t>
            </a:r>
            <a:endParaRPr lang="en-US" sz="1400" dirty="0"/>
          </a:p>
        </p:txBody>
      </p:sp>
      <p:sp>
        <p:nvSpPr>
          <p:cNvPr id="19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[27] SIICEX-CAAAREM, 24-oct · [28] LIGIE 2022, Acuerdo 2, 25-oct · [29] PromPerú, 24-oct · [30] E-Aduana,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3 · VIABILIDAD ARANCELARIA · ARANCEL Y RRNA EN MÉXICO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Salida de México: sin arancel ni permisos previos</a:t>
            </a:r>
            <a:endParaRPr lang="en-US" sz="3200" dirty="0"/>
          </a:p>
        </p:txBody>
      </p:sp>
      <p:sp>
        <p:nvSpPr>
          <p:cNvPr id="4" name="apartado-3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sp>
        <p:nvSpPr>
          <p:cNvPr id="5" name="tarjeta"/>
          <p:cNvSpPr/>
          <p:nvPr/>
        </p:nvSpPr>
        <p:spPr>
          <a:xfrm>
            <a:off x="548640" y="155448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o-fondo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Arancel de exportación</a:t>
            </a:r>
            <a:endParaRPr lang="en-US" sz="1700" dirty="0"/>
          </a:p>
        </p:txBody>
      </p:sp>
      <p:sp>
        <p:nvSpPr>
          <p:cNvPr id="9" name="tipo-I"/>
          <p:cNvSpPr txBox="1"/>
          <p:nvPr/>
        </p:nvSpPr>
        <p:spPr>
          <a:xfrm>
            <a:off x="731520" y="236524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0" name="hallazgo"/>
          <p:cNvSpPr txBox="1"/>
          <p:nvPr/>
        </p:nvSpPr>
        <p:spPr>
          <a:xfrm>
            <a:off x="1115568" y="2377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Impuesto general de exportación: Ex. (exento), régimen general de la TIGIE para alimentos.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[27]</a:t>
            </a:r>
            <a:endParaRPr lang="en-US" sz="1400" dirty="0"/>
          </a:p>
        </p:txBody>
      </p:sp>
      <p:sp>
        <p:nvSpPr>
          <p:cNvPr id="11" name="tipo-P"/>
          <p:cNvSpPr txBox="1"/>
          <p:nvPr/>
        </p:nvSpPr>
        <p:spPr>
          <a:xfrm>
            <a:off x="731520" y="3169920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12" name="hallazgo"/>
          <p:cNvSpPr txBox="1"/>
          <p:nvPr/>
        </p:nvSpPr>
        <p:spPr>
          <a:xfrm>
            <a:off x="1115568" y="3182112"/>
            <a:ext cx="28163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Confirmar el IGE vigente en SIICEX.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4343400" y="155448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o-fondo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181737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6636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RRNA a la exportación</a:t>
            </a:r>
            <a:endParaRPr lang="en-US" sz="1700" dirty="0"/>
          </a:p>
        </p:txBody>
      </p:sp>
      <p:sp>
        <p:nvSpPr>
          <p:cNvPr id="17" name="tipo-I"/>
          <p:cNvSpPr txBox="1"/>
          <p:nvPr/>
        </p:nvSpPr>
        <p:spPr>
          <a:xfrm>
            <a:off x="4526280" y="236524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8" name="hallazgo"/>
          <p:cNvSpPr txBox="1"/>
          <p:nvPr/>
        </p:nvSpPr>
        <p:spPr>
          <a:xfrm>
            <a:off x="4910328" y="2377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 identificaron permiso previo, cupo ni padrón sectorial para la fracción 2103.90.99.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[27]</a:t>
            </a:r>
            <a:endParaRPr lang="en-US" sz="1400" dirty="0"/>
          </a:p>
        </p:txBody>
      </p:sp>
      <p:sp>
        <p:nvSpPr>
          <p:cNvPr id="19" name="tipo-P"/>
          <p:cNvSpPr txBox="1"/>
          <p:nvPr/>
        </p:nvSpPr>
        <p:spPr>
          <a:xfrm>
            <a:off x="4526280" y="3169920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20" name="hallazgo"/>
          <p:cNvSpPr txBox="1"/>
          <p:nvPr/>
        </p:nvSpPr>
        <p:spPr>
          <a:xfrm>
            <a:off x="4910328" y="3182112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Confirmar en SIICEX, sección de regulaciones y restricciones no arancelarias.</a:t>
            </a:r>
            <a:endParaRPr lang="en-US" sz="1400" dirty="0"/>
          </a:p>
        </p:txBody>
      </p:sp>
      <p:sp>
        <p:nvSpPr>
          <p:cNvPr id="21" name="tarjeta"/>
          <p:cNvSpPr/>
          <p:nvPr/>
        </p:nvSpPr>
        <p:spPr>
          <a:xfrm>
            <a:off x="8138160" y="155448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o-fondo"/>
          <p:cNvSpPr/>
          <p:nvPr/>
        </p:nvSpPr>
        <p:spPr>
          <a:xfrm>
            <a:off x="83210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9611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Documentos del embarque</a:t>
            </a:r>
            <a:endParaRPr lang="en-US" sz="1700" dirty="0"/>
          </a:p>
        </p:txBody>
      </p:sp>
      <p:sp>
        <p:nvSpPr>
          <p:cNvPr id="25" name="tipo-E"/>
          <p:cNvSpPr txBox="1"/>
          <p:nvPr/>
        </p:nvSpPr>
        <p:spPr>
          <a:xfrm>
            <a:off x="8321040" y="2365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6" name="hallazgo"/>
          <p:cNvSpPr txBox="1"/>
          <p:nvPr/>
        </p:nvSpPr>
        <p:spPr>
          <a:xfrm>
            <a:off x="8705088" y="2377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CFDI con complemento de comercio exterior en la exportación definitiva con venta.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[32]</a:t>
            </a:r>
            <a:endParaRPr lang="en-US" sz="1400" dirty="0"/>
          </a:p>
        </p:txBody>
      </p:sp>
      <p:sp>
        <p:nvSpPr>
          <p:cNvPr id="27" name="tipo-E"/>
          <p:cNvSpPr txBox="1"/>
          <p:nvPr/>
        </p:nvSpPr>
        <p:spPr>
          <a:xfrm>
            <a:off x="8321040" y="316992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28" name="hallazgo"/>
          <p:cNvSpPr txBox="1"/>
          <p:nvPr/>
        </p:nvSpPr>
        <p:spPr>
          <a:xfrm>
            <a:off x="8705088" y="31821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Origen T-MEC: autocertificación del exportador o productor, sin formato oficial, válida 4 años.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[33]</a:t>
            </a:r>
            <a:endParaRPr lang="en-US" sz="1400" dirty="0"/>
          </a:p>
        </p:txBody>
      </p:sp>
      <p:sp>
        <p:nvSpPr>
          <p:cNvPr id="29" name="tipo-E"/>
          <p:cNvSpPr txBox="1"/>
          <p:nvPr/>
        </p:nvSpPr>
        <p:spPr>
          <a:xfrm>
            <a:off x="8321040" y="397459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30" name="hallazgo"/>
          <p:cNvSpPr txBox="1"/>
          <p:nvPr/>
        </p:nvSpPr>
        <p:spPr>
          <a:xfrm>
            <a:off x="8705088" y="3986784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la UE: certificado EUR.1 o declaración de origen.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[34]</a:t>
            </a:r>
            <a:endParaRPr lang="en-US" sz="1400" dirty="0"/>
          </a:p>
        </p:txBody>
      </p:sp>
      <p:sp>
        <p:nvSpPr>
          <p:cNvPr id="31" name="nota-decreto"/>
          <p:cNvSpPr/>
          <p:nvPr/>
        </p:nvSpPr>
        <p:spPr>
          <a:xfrm>
            <a:off x="548640" y="521208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2B2226"/>
          </a:solidFill>
          <a:ln w="12700">
            <a:solidFill>
              <a:srgbClr val="2B2226"/>
            </a:solidFill>
            <a:prstDash val="solid"/>
          </a:ln>
        </p:spPr>
      </p:sp>
      <p:sp>
        <p:nvSpPr>
          <p:cNvPr id="32" name="tipo-I"/>
          <p:cNvSpPr txBox="1"/>
          <p:nvPr/>
        </p:nvSpPr>
        <p:spPr>
          <a:xfrm>
            <a:off x="731520" y="5346192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33" name="hallazgo"/>
          <p:cNvSpPr txBox="1"/>
          <p:nvPr/>
        </p:nvSpPr>
        <p:spPr>
          <a:xfrm>
            <a:off x="1115568" y="5358384"/>
            <a:ext cx="10344607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decreto del DOF del 29-dic-2025 subió el IGI a países sin tratado: puede encarecer insumos importados (tapas, envases), no la exportación.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[31]</a:t>
            </a:r>
            <a:endParaRPr lang="en-US" sz="1400" dirty="0"/>
          </a:p>
        </p:txBody>
      </p:sp>
      <p:sp>
        <p:nvSpPr>
          <p:cNvPr id="34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[27] SIICEX-CAAAREM, 24-oct · [31] DOF vía arancelmx, 24-oct · [32] Facturama, 25-oct · [33] IDC Online, 25-oct · [34] Access2Markets,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3 · VIABILIDAD ARANCELARIA · NIVEL 4 · OMC: ARANCEL EN DESTINO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 destino, el T-MEC deja el arancel en 0%</a:t>
            </a:r>
            <a:endParaRPr lang="en-US" sz="3200" dirty="0"/>
          </a:p>
        </p:txBody>
      </p:sp>
      <p:sp>
        <p:nvSpPr>
          <p:cNvPr id="4" name="apartado-3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graphicFrame>
        <p:nvGraphicFramePr>
          <p:cNvPr id="13" name="aranceles-destin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188720"/>
                <a:gridCol w="4919472"/>
                <a:gridCol w="64008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Mercado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Código en destino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Arancel NMF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Arancel para México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Fuente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Estados Unidos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HTS 2103.90.90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0% con T-MEC. Sin T-MEC: 6.4% + 10% de la Sección 301 (desde el 24-jul-2026)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[35, 36]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Canadá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2103.90.90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0% (tratamiento MXT del T-MEC)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[40]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Unión Europea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NC 2103 90 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Preferencia del TLCUEM con prueba de origen; tasa exacta pendiente (Access2Markets)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[34, 41]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rjeta"/>
          <p:cNvSpPr/>
          <p:nvPr/>
        </p:nvSpPr>
        <p:spPr>
          <a:xfrm>
            <a:off x="548640" y="397764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o-fondo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419481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T-MEC en revisión anual</a:t>
            </a:r>
            <a:endParaRPr lang="en-US" sz="1700" dirty="0"/>
          </a:p>
        </p:txBody>
      </p:sp>
      <p:sp>
        <p:nvSpPr>
          <p:cNvPr id="10" name="tipo-E"/>
          <p:cNvSpPr txBox="1"/>
          <p:nvPr/>
        </p:nvSpPr>
        <p:spPr>
          <a:xfrm>
            <a:off x="731520" y="4651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1115568" y="4663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EE. UU. no lo renovó en la revisión del 1 de julio de 2026: sigue vigente, con revisiones cada año.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[37]</a:t>
            </a:r>
            <a:endParaRPr lang="en-US" sz="1400" dirty="0"/>
          </a:p>
        </p:txBody>
      </p:sp>
      <p:sp>
        <p:nvSpPr>
          <p:cNvPr id="12" name="tarjeta"/>
          <p:cNvSpPr/>
          <p:nvPr/>
        </p:nvSpPr>
        <p:spPr>
          <a:xfrm>
            <a:off x="4343400" y="397764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o-fondo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419481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636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Acuerdo México–UE</a:t>
            </a:r>
            <a:endParaRPr lang="en-US" sz="1700" dirty="0"/>
          </a:p>
        </p:txBody>
      </p:sp>
      <p:sp>
        <p:nvSpPr>
          <p:cNvPr id="16" name="tipo-E"/>
          <p:cNvSpPr txBox="1"/>
          <p:nvPr/>
        </p:nvSpPr>
        <p:spPr>
          <a:xfrm>
            <a:off x="4526280" y="46512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7" name="hallazgo"/>
          <p:cNvSpPr txBox="1"/>
          <p:nvPr/>
        </p:nvSpPr>
        <p:spPr>
          <a:xfrm>
            <a:off x="4910328" y="4663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Firmado el 22 de mayo y aprobado por el Parlamento Europeo el 8 de julio de 2026; falta el Senado mexicano.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[38]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8138160" y="397764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o-fondo"/>
          <p:cNvSpPr/>
          <p:nvPr/>
        </p:nvSpPr>
        <p:spPr>
          <a:xfrm>
            <a:off x="832104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41948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6112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Regla de origen</a:t>
            </a:r>
            <a:endParaRPr lang="en-US" sz="1700" dirty="0"/>
          </a:p>
        </p:txBody>
      </p:sp>
      <p:sp>
        <p:nvSpPr>
          <p:cNvPr id="22" name="tipo-I"/>
          <p:cNvSpPr txBox="1"/>
          <p:nvPr/>
        </p:nvSpPr>
        <p:spPr>
          <a:xfrm>
            <a:off x="8321040" y="465124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23" name="hallazgo"/>
          <p:cNvSpPr txBox="1"/>
          <p:nvPr/>
        </p:nvSpPr>
        <p:spPr>
          <a:xfrm>
            <a:off x="8705088" y="466344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2103.90 el T-MEC pide cambio de subpartida; con chile, vinagre y sal mexicanos, la salsa califica.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[39]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23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Las RRNA del país destino (registros, etiquetado y límites sanitarios) se detallan en las diapositivas 6 y 7.</a:t>
            </a:r>
            <a:endParaRPr lang="en-US" sz="1200" dirty="0"/>
          </a:p>
        </p:txBody>
      </p:sp>
      <p:sp>
        <p:nvSpPr>
          <p:cNvPr id="25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[34] Access2Markets, 24-oct · [35] htslookup / Drip Capital, 24-oct · [36] Mexico Business News, 24-oct · [37] El Financiero / Infobae, 24-oct · [38] La Jornada / El Financiero, 24-oct · [39] USDEC, 24-oct · [40] CBSA, 25-oct · [41] GOV.UK (arancel UE),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4 · MERCADOS Y COMPETENCIA · NIVEL 4 · TRADE MAP: ¿QUIÉN COMPRA?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EE. UU. importa el doble que el segundo comprador</a:t>
            </a:r>
            <a:endParaRPr lang="en-US" sz="3200" dirty="0"/>
          </a:p>
        </p:txBody>
      </p:sp>
      <p:sp>
        <p:nvSpPr>
          <p:cNvPr id="4" name="apartado-4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graphicFrame>
        <p:nvGraphicFramePr>
          <p:cNvPr id="5" name="grafica-importadores" descr=""/>
          <p:cNvGraphicFramePr/>
          <p:nvPr/>
        </p:nvGraphicFramePr>
        <p:xfrm>
          <a:off x="548640" y="1508760"/>
          <a:ext cx="65836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ipo-E"/>
          <p:cNvSpPr txBox="1"/>
          <p:nvPr/>
        </p:nvSpPr>
        <p:spPr>
          <a:xfrm>
            <a:off x="7452360" y="15880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7" name="hallazgo"/>
          <p:cNvSpPr txBox="1"/>
          <p:nvPr/>
        </p:nvSpPr>
        <p:spPr>
          <a:xfrm>
            <a:off x="7836408" y="1600200"/>
            <a:ext cx="38039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EE. UU. importó US$2,070 M en 2024, el doble que el Reino Unido (US$1,050 M).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[42]</a:t>
            </a:r>
            <a:endParaRPr lang="en-US" sz="1400" dirty="0"/>
          </a:p>
        </p:txBody>
      </p:sp>
      <p:sp>
        <p:nvSpPr>
          <p:cNvPr id="8" name="tipo-E"/>
          <p:cNvSpPr txBox="1"/>
          <p:nvPr/>
        </p:nvSpPr>
        <p:spPr>
          <a:xfrm>
            <a:off x="7452360" y="217932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9" name="hallazgo"/>
          <p:cNvSpPr txBox="1"/>
          <p:nvPr/>
        </p:nvSpPr>
        <p:spPr>
          <a:xfrm>
            <a:off x="7836408" y="2191512"/>
            <a:ext cx="38039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segunda fuente coincide: EE. UU. ≈ US$1,900–2,000 M y Reino Unido ≈ US$1,000 M.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[43]</a:t>
            </a:r>
            <a:endParaRPr lang="en-US" sz="1400" dirty="0"/>
          </a:p>
        </p:txBody>
      </p:sp>
      <p:sp>
        <p:nvSpPr>
          <p:cNvPr id="10" name="tipo-E"/>
          <p:cNvSpPr txBox="1"/>
          <p:nvPr/>
        </p:nvSpPr>
        <p:spPr>
          <a:xfrm>
            <a:off x="7452360" y="277063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7836408" y="2782824"/>
            <a:ext cx="38039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EE. UU. ya recibe ≈73% de lo que México exporta en la partida 2103: US$558 M de US$767 M (2024).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[25]</a:t>
            </a:r>
            <a:endParaRPr lang="en-US" sz="1400" dirty="0"/>
          </a:p>
        </p:txBody>
      </p:sp>
      <p:sp>
        <p:nvSpPr>
          <p:cNvPr id="12" name="tipo-I"/>
          <p:cNvSpPr txBox="1"/>
          <p:nvPr/>
        </p:nvSpPr>
        <p:spPr>
          <a:xfrm>
            <a:off x="7452360" y="3361944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3" name="hallazgo"/>
          <p:cNvSpPr txBox="1"/>
          <p:nvPr/>
        </p:nvSpPr>
        <p:spPr>
          <a:xfrm>
            <a:off x="7836408" y="3374136"/>
            <a:ext cx="38039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Canadá y Alemania tienen demanda parecida (~US$780 M), pero Canadá da acceso a 0%.</a:t>
            </a:r>
            <a:endParaRPr lang="en-US" sz="1400" dirty="0"/>
          </a:p>
        </p:txBody>
      </p:sp>
      <p:sp>
        <p:nvSpPr>
          <p:cNvPr id="14" name="tipo-P"/>
          <p:cNvSpPr txBox="1"/>
          <p:nvPr/>
        </p:nvSpPr>
        <p:spPr>
          <a:xfrm>
            <a:off x="7452360" y="3953256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7836408" y="3965448"/>
            <a:ext cx="38039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Confirmar los valores 2025 en Trade Map con el mismo código (210390).</a:t>
            </a:r>
            <a:endParaRPr lang="en-US" sz="1400" dirty="0"/>
          </a:p>
        </p:txBody>
      </p:sp>
      <p:sp>
        <p:nvSpPr>
          <p:cNvPr id="16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[25] DataMéxico (partida 2103), 24-oct · [42] Tridge (ITC Trade Map), 24-oct · [43] IndexBox,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4 · MERCADOS Y COMPETENCIA · NIVEL 4 · TRADE MAP: ¿QUIÉN ABASTECE?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México exporta, pero compite con potencias</a:t>
            </a:r>
            <a:endParaRPr lang="en-US" sz="3200" dirty="0"/>
          </a:p>
        </p:txBody>
      </p:sp>
      <p:sp>
        <p:nvSpPr>
          <p:cNvPr id="4" name="apartado-4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graphicFrame>
        <p:nvGraphicFramePr>
          <p:cNvPr id="5" name="grafica-exportadores" descr=""/>
          <p:cNvGraphicFramePr/>
          <p:nvPr/>
        </p:nvGraphicFramePr>
        <p:xfrm>
          <a:off x="548640" y="1508760"/>
          <a:ext cx="6675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ipo-E"/>
          <p:cNvSpPr txBox="1"/>
          <p:nvPr/>
        </p:nvSpPr>
        <p:spPr>
          <a:xfrm>
            <a:off x="7543800" y="15880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7" name="hallazgo"/>
          <p:cNvSpPr txBox="1"/>
          <p:nvPr/>
        </p:nvSpPr>
        <p:spPr>
          <a:xfrm>
            <a:off x="7927848" y="1600200"/>
            <a:ext cx="37124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Mundo: lideran EE. UU. e Italia (~US$1,700 M cada uno); México es 7.º con US$730 M.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[44]</a:t>
            </a:r>
            <a:endParaRPr lang="en-US" sz="1400" dirty="0"/>
          </a:p>
        </p:txBody>
      </p:sp>
      <p:sp>
        <p:nvSpPr>
          <p:cNvPr id="8" name="tipo-E"/>
          <p:cNvSpPr txBox="1"/>
          <p:nvPr/>
        </p:nvSpPr>
        <p:spPr>
          <a:xfrm>
            <a:off x="7543800" y="2179320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9" name="hallazgo"/>
          <p:cNvSpPr txBox="1"/>
          <p:nvPr/>
        </p:nvSpPr>
        <p:spPr>
          <a:xfrm>
            <a:off x="7927848" y="2191512"/>
            <a:ext cx="3712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EE. UU. compiten Cholula (de McCormick) y marcas mexicanas como El Yucateco, Herdez y La Costeña.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[22]</a:t>
            </a:r>
            <a:endParaRPr lang="en-US" sz="1400" dirty="0"/>
          </a:p>
        </p:txBody>
      </p:sp>
      <p:sp>
        <p:nvSpPr>
          <p:cNvPr id="10" name="tipo-E"/>
          <p:cNvSpPr txBox="1"/>
          <p:nvPr/>
        </p:nvSpPr>
        <p:spPr>
          <a:xfrm>
            <a:off x="7543800" y="2983992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7927848" y="2996184"/>
            <a:ext cx="3712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Canadá, EE. UU. abastece 76% de las importaciones de salsas y sazonadores; Italia 4.9% y China 3.2%.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[45]</a:t>
            </a:r>
            <a:endParaRPr lang="en-US" sz="1400" dirty="0"/>
          </a:p>
        </p:txBody>
      </p:sp>
      <p:sp>
        <p:nvSpPr>
          <p:cNvPr id="12" name="tipo-I"/>
          <p:cNvSpPr txBox="1"/>
          <p:nvPr/>
        </p:nvSpPr>
        <p:spPr>
          <a:xfrm>
            <a:off x="7543800" y="3788664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3" name="hallazgo"/>
          <p:cNvSpPr txBox="1"/>
          <p:nvPr/>
        </p:nvSpPr>
        <p:spPr>
          <a:xfrm>
            <a:off x="7927848" y="3800856"/>
            <a:ext cx="37124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picante, la ventaja mexicana es la autenticidad frente a aderezos europeos y asiáticos.</a:t>
            </a:r>
            <a:endParaRPr lang="en-US" sz="1400" dirty="0"/>
          </a:p>
        </p:txBody>
      </p:sp>
      <p:sp>
        <p:nvSpPr>
          <p:cNvPr id="14" name="tipo-P"/>
          <p:cNvSpPr txBox="1"/>
          <p:nvPr/>
        </p:nvSpPr>
        <p:spPr>
          <a:xfrm>
            <a:off x="7543800" y="4379976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7927848" y="4392168"/>
            <a:ext cx="371246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Proveedores de EE. UU. y Alemania por país de origen, 2025 (Trade Map).</a:t>
            </a:r>
            <a:endParaRPr lang="en-US" sz="1400" dirty="0"/>
          </a:p>
        </p:txBody>
      </p:sp>
      <p:sp>
        <p:nvSpPr>
          <p:cNvPr id="16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[22] Global Market Insights, 24-oct · [44] WITS / UN Comtrade, 24-oct · [45] IndexBox (Canadá),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APARTADO 4 · MERCADOS Y COMPETENCIA · COMPARACIÓN DE MERCADOS Y DESTINO ELEGIDO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Destino elegido: EE. UU., luego Canadá</a:t>
            </a:r>
            <a:endParaRPr lang="en-US" sz="3200" dirty="0"/>
          </a:p>
        </p:txBody>
      </p:sp>
      <p:sp>
        <p:nvSpPr>
          <p:cNvPr id="4" name="apartado-4"/>
          <p:cNvSpPr txBox="1"/>
          <p:nvPr/>
        </p:nvSpPr>
        <p:spPr>
          <a:xfrm>
            <a:off x="10058400" y="164592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2E33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pPr algn="r" indent="0" marL="0">
              <a:buNone/>
            </a:pPr>
            <a:r>
              <a:rPr lang="en-US" sz="1600" b="1" dirty="0">
                <a:solidFill>
                  <a:srgbClr val="5A627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/04</a:t>
            </a:r>
            <a:endParaRPr lang="en-US" sz="5400" dirty="0"/>
          </a:p>
        </p:txBody>
      </p:sp>
      <p:graphicFrame>
        <p:nvGraphicFramePr>
          <p:cNvPr id="16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22376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508760"/>
                <a:gridCol w="1508760"/>
                <a:gridCol w="1508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Criterio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EE. UU.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Canadá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Alemania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Demanda (importaciones 2024)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171C"/>
                          </a:solidFill>
                        </a:rPr>
                        <a:t>5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71C"/>
                          </a:solidFill>
                        </a:rPr>
                        <a:t>US$2,070 M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3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US$782 M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3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US$773 M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Acceso arancelario para México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171C"/>
                          </a:solidFill>
                        </a:rPr>
                        <a:t>5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71C"/>
                          </a:solidFill>
                        </a:rPr>
                        <a:t>0% T-MEC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171C"/>
                          </a:solidFill>
                        </a:rPr>
                        <a:t>5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71C"/>
                          </a:solidFill>
                        </a:rPr>
                        <a:t>0% MXT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3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7.7% NMF; pref. pendiente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Requisitos (5 = más sencillo)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3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FCE y SID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3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Licencia SFC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2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Aditivos y micotoxinas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Logística desde Querétaro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171C"/>
                          </a:solidFill>
                        </a:rPr>
                        <a:t>5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71C"/>
                          </a:solidFill>
                        </a:rPr>
                        <a:t>Terrestre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Terrestre, más lejos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2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Marítima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Competencia (5 = menos intensa)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2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Marcas grandes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2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EE. UU. abastece 76%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E8EB"/>
                          </a:solidFill>
                        </a:rPr>
                        <a:t>3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8EB"/>
                          </a:solidFill>
                        </a:rPr>
                        <a:t>Italia y P. Bajos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Total (máximo 25)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20</a:t>
                      </a:r>
                      <a:endParaRPr lang="en-US" sz="18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17</a:t>
                      </a:r>
                      <a:endParaRPr lang="en-US" sz="18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13</a:t>
                      </a:r>
                      <a:endParaRPr lang="en-US" sz="18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Puntaje de 1 a 5 (5 = más favorable) asignado por el autor con los datos de las diapositivas 6, 7 y 12–14; mismo peso por criterio.</a:t>
            </a:r>
            <a:endParaRPr lang="en-US" sz="1200" dirty="0"/>
          </a:p>
        </p:txBody>
      </p:sp>
      <p:sp>
        <p:nvSpPr>
          <p:cNvPr id="7" name="justificacion-destino"/>
          <p:cNvSpPr/>
          <p:nvPr/>
        </p:nvSpPr>
        <p:spPr>
          <a:xfrm>
            <a:off x="8092440" y="1554480"/>
            <a:ext cx="3547872" cy="4251960"/>
          </a:xfrm>
          <a:prstGeom prst="roundRect">
            <a:avLst>
              <a:gd name="adj" fmla="val 3093"/>
            </a:avLst>
          </a:prstGeom>
          <a:solidFill>
            <a:srgbClr val="262B33"/>
          </a:solidFill>
          <a:ln w="15875">
            <a:solidFill>
              <a:srgbClr val="3A404B"/>
            </a:solidFill>
            <a:prstDash val="solid"/>
          </a:ln>
        </p:spPr>
      </p:sp>
      <p:sp>
        <p:nvSpPr>
          <p:cNvPr id="8" name="etiqueta-I"/>
          <p:cNvSpPr txBox="1"/>
          <p:nvPr/>
        </p:nvSpPr>
        <p:spPr>
          <a:xfrm>
            <a:off x="8321040" y="1737360"/>
            <a:ext cx="1371600" cy="246888"/>
          </a:xfrm>
          <a:prstGeom prst="roundRect">
            <a:avLst>
              <a:gd name="adj" fmla="val 4814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bg1"/>
                </a:solidFill>
              </a:rPr>
              <a:t>INTERPRETACIÓN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qué Estados Unidos</a:t>
            </a:r>
            <a:endParaRPr lang="en-US" sz="1900" dirty="0"/>
          </a:p>
        </p:txBody>
      </p:sp>
      <p:sp>
        <p:nvSpPr>
          <p:cNvPr id="10" name="tipo-E"/>
          <p:cNvSpPr txBox="1"/>
          <p:nvPr/>
        </p:nvSpPr>
        <p:spPr>
          <a:xfrm>
            <a:off x="8321040" y="25938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8705088" y="2606040"/>
            <a:ext cx="277063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Mayor demanda: US$2,070 M.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 [42]</a:t>
            </a:r>
            <a:endParaRPr lang="en-US" sz="1400" dirty="0"/>
          </a:p>
        </p:txBody>
      </p:sp>
      <p:sp>
        <p:nvSpPr>
          <p:cNvPr id="12" name="tipo-E"/>
          <p:cNvSpPr txBox="1"/>
          <p:nvPr/>
        </p:nvSpPr>
        <p:spPr>
          <a:xfrm>
            <a:off x="8321040" y="294436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3" name="hallazgo"/>
          <p:cNvSpPr txBox="1"/>
          <p:nvPr/>
        </p:nvSpPr>
        <p:spPr>
          <a:xfrm>
            <a:off x="8705088" y="2956560"/>
            <a:ext cx="277063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Arancel 0% con T-MEC.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 [35]</a:t>
            </a:r>
            <a:endParaRPr lang="en-US" sz="1400" dirty="0"/>
          </a:p>
        </p:txBody>
      </p:sp>
      <p:sp>
        <p:nvSpPr>
          <p:cNvPr id="14" name="tipo-E"/>
          <p:cNvSpPr txBox="1"/>
          <p:nvPr/>
        </p:nvSpPr>
        <p:spPr>
          <a:xfrm>
            <a:off x="8321040" y="329488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8705088" y="3307080"/>
            <a:ext cx="277063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Ya compra 73% de lo que México exporta.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 [25]</a:t>
            </a:r>
            <a:endParaRPr lang="en-US" sz="1400" dirty="0"/>
          </a:p>
        </p:txBody>
      </p:sp>
      <p:sp>
        <p:nvSpPr>
          <p:cNvPr id="16" name="tipo-I"/>
          <p:cNvSpPr txBox="1"/>
          <p:nvPr/>
        </p:nvSpPr>
        <p:spPr>
          <a:xfrm>
            <a:off x="8321040" y="385876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17" name="hallazgo"/>
          <p:cNvSpPr txBox="1"/>
          <p:nvPr/>
        </p:nvSpPr>
        <p:spPr>
          <a:xfrm>
            <a:off x="8705088" y="387096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Canadá, segundo: mismo trámite de origen. Alemania, cuando entre en vigor el acuerdo interino con la UE.</a:t>
            </a:r>
            <a:endParaRPr lang="en-US" sz="1400" dirty="0"/>
          </a:p>
        </p:txBody>
      </p:sp>
      <p:sp>
        <p:nvSpPr>
          <p:cNvPr id="18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[25] DataMéxico (partida 2103), 24-oct · [35] htslookup / Drip Capital, 24-oct · [40] CBSA, 25-oct · [42] Tridge (ITC Trade Map), 24-oct · [45] IndexBox (Canadá), 25-oct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FUENTES PLUS · MACROECONOMÍA Y TENDENCIAS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Demanda estable, consumidor que cuida el precio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548640" y="1554480"/>
            <a:ext cx="2615184" cy="31546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FMI · WEO oct-2026</a:t>
            </a:r>
            <a:endParaRPr lang="en-US" sz="1700" dirty="0"/>
          </a:p>
        </p:txBody>
      </p:sp>
      <p:sp>
        <p:nvSpPr>
          <p:cNvPr id="6" name="tipo-E"/>
          <p:cNvSpPr txBox="1"/>
          <p:nvPr/>
        </p:nvSpPr>
        <p:spPr>
          <a:xfrm>
            <a:off x="731520" y="22890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7" name="hallazgo"/>
          <p:cNvSpPr txBox="1"/>
          <p:nvPr/>
        </p:nvSpPr>
        <p:spPr>
          <a:xfrm>
            <a:off x="1115568" y="2286000"/>
            <a:ext cx="1901952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Mundo: 3.1% en 2026 y 3.4% en 2027. EE. UU.: 2.3% ambos años. Zona euro: 1.1% y 1.2%.</a:t>
            </a:r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 [46]</a:t>
            </a:r>
            <a:endParaRPr lang="en-US" sz="1600" dirty="0"/>
          </a:p>
        </p:txBody>
      </p:sp>
      <p:sp>
        <p:nvSpPr>
          <p:cNvPr id="8" name="tarjeta"/>
          <p:cNvSpPr/>
          <p:nvPr/>
        </p:nvSpPr>
        <p:spPr>
          <a:xfrm>
            <a:off x="3374136" y="1554480"/>
            <a:ext cx="2615184" cy="31546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7016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Deloitte · Outlook 2026</a:t>
            </a:r>
            <a:endParaRPr lang="en-US" sz="1700" dirty="0"/>
          </a:p>
        </p:txBody>
      </p:sp>
      <p:sp>
        <p:nvSpPr>
          <p:cNvPr id="10" name="tipo-E"/>
          <p:cNvSpPr txBox="1"/>
          <p:nvPr/>
        </p:nvSpPr>
        <p:spPr>
          <a:xfrm>
            <a:off x="3557016" y="22890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3941064" y="2286000"/>
            <a:ext cx="1901952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47% de los consumidores busca valor y cede comodidad para controlar su gasto.</a:t>
            </a:r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 [47]</a:t>
            </a:r>
            <a:endParaRPr lang="en-US" sz="1600" dirty="0"/>
          </a:p>
        </p:txBody>
      </p:sp>
      <p:sp>
        <p:nvSpPr>
          <p:cNvPr id="12" name="tarjeta"/>
          <p:cNvSpPr/>
          <p:nvPr/>
        </p:nvSpPr>
        <p:spPr>
          <a:xfrm>
            <a:off x="6199632" y="1554480"/>
            <a:ext cx="2615184" cy="31546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Bancomext</a:t>
            </a:r>
            <a:endParaRPr lang="en-US" sz="1700" dirty="0"/>
          </a:p>
        </p:txBody>
      </p:sp>
      <p:sp>
        <p:nvSpPr>
          <p:cNvPr id="14" name="tipo-E"/>
          <p:cNvSpPr txBox="1"/>
          <p:nvPr/>
        </p:nvSpPr>
        <p:spPr>
          <a:xfrm>
            <a:off x="6382512" y="228904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6766560" y="2286000"/>
            <a:ext cx="1901952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Prevé colocar 190,000 mdp en nuevos créditos en 2026, alineados con el Plan México.</a:t>
            </a:r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 [48]</a:t>
            </a:r>
            <a:endParaRPr lang="en-US" sz="1600" dirty="0"/>
          </a:p>
        </p:txBody>
      </p:sp>
      <p:sp>
        <p:nvSpPr>
          <p:cNvPr id="16" name="tarjeta"/>
          <p:cNvSpPr/>
          <p:nvPr/>
        </p:nvSpPr>
        <p:spPr>
          <a:xfrm>
            <a:off x="9025128" y="1554480"/>
            <a:ext cx="2615184" cy="3154680"/>
          </a:xfrm>
          <a:prstGeom prst="roundRect">
            <a:avLst>
              <a:gd name="adj" fmla="val 4196"/>
            </a:avLst>
          </a:prstGeom>
          <a:solidFill>
            <a:srgbClr val="2B2226"/>
          </a:solidFill>
          <a:ln w="12700">
            <a:solidFill>
              <a:srgbClr val="2B22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8008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KPMG</a:t>
            </a:r>
            <a:endParaRPr lang="en-US" sz="1700" dirty="0"/>
          </a:p>
        </p:txBody>
      </p:sp>
      <p:sp>
        <p:nvSpPr>
          <p:cNvPr id="18" name="tipo-P"/>
          <p:cNvSpPr txBox="1"/>
          <p:nvPr/>
        </p:nvSpPr>
        <p:spPr>
          <a:xfrm>
            <a:off x="9208008" y="2289048"/>
            <a:ext cx="256032" cy="25603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</a:t>
            </a:r>
            <a:endParaRPr lang="en-US" sz="1100" dirty="0"/>
          </a:p>
        </p:txBody>
      </p:sp>
      <p:sp>
        <p:nvSpPr>
          <p:cNvPr id="19" name="hallazgo"/>
          <p:cNvSpPr txBox="1"/>
          <p:nvPr/>
        </p:nvSpPr>
        <p:spPr>
          <a:xfrm>
            <a:off x="9592056" y="2286000"/>
            <a:ext cx="1901952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se localizó un estudio 2026 aplicable a salsas o alimentos procesados para exportar.</a:t>
            </a:r>
            <a:endParaRPr lang="en-US" sz="1600" dirty="0"/>
          </a:p>
        </p:txBody>
      </p:sp>
      <p:sp>
        <p:nvSpPr>
          <p:cNvPr id="20" name="lectura-cruzada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262B33"/>
          </a:solidFill>
          <a:ln w="15875">
            <a:solidFill>
              <a:srgbClr val="3A404B"/>
            </a:solidFill>
            <a:prstDash val="solid"/>
          </a:ln>
        </p:spPr>
      </p:sp>
      <p:sp>
        <p:nvSpPr>
          <p:cNvPr id="21" name="tipo-I"/>
          <p:cNvSpPr txBox="1"/>
          <p:nvPr/>
        </p:nvSpPr>
        <p:spPr>
          <a:xfrm>
            <a:off x="777240" y="506272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22" name="hallazgo"/>
          <p:cNvSpPr txBox="1"/>
          <p:nvPr/>
        </p:nvSpPr>
        <p:spPr>
          <a:xfrm>
            <a:off x="1161288" y="5074920"/>
            <a:ext cx="10253167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Lectura cruzada: EE. UU. crecerá el doble que la zona euro (2.3% vs 1.1%) y el consumidor busca valor; conviene entrar con precio competitivo y formato de 150 ml.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 [46, 47]</a:t>
            </a:r>
            <a:endParaRPr lang="en-US" sz="1400" dirty="0"/>
          </a:p>
        </p:txBody>
      </p:sp>
      <p:sp>
        <p:nvSpPr>
          <p:cNvPr id="23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[46] FMI (vía CNBC), 24-oct · [47] Deloitte, 24-oct · [48] Expansión,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JUSTIFICACIÓN FUNDAMENTADA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Por qué la exportación es viable</a:t>
            </a:r>
            <a:endParaRPr lang="en-US" sz="3200" dirty="0"/>
          </a:p>
        </p:txBody>
      </p:sp>
      <p:sp>
        <p:nvSpPr>
          <p:cNvPr id="4" name="tarjeta"/>
          <p:cNvSpPr/>
          <p:nvPr/>
        </p:nvSpPr>
        <p:spPr>
          <a:xfrm>
            <a:off x="548640" y="1554480"/>
            <a:ext cx="261518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· Hay demanda</a:t>
            </a:r>
            <a:endParaRPr lang="en-US" sz="1700" dirty="0"/>
          </a:p>
        </p:txBody>
      </p:sp>
      <p:sp>
        <p:nvSpPr>
          <p:cNvPr id="6" name="tipo-E"/>
          <p:cNvSpPr txBox="1"/>
          <p:nvPr/>
        </p:nvSpPr>
        <p:spPr>
          <a:xfrm>
            <a:off x="731520" y="22738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7" name="hallazgo"/>
          <p:cNvSpPr txBox="1"/>
          <p:nvPr/>
        </p:nvSpPr>
        <p:spPr>
          <a:xfrm>
            <a:off x="1115568" y="2286000"/>
            <a:ext cx="1901952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EE. UU. importa US$2,070 M y ya compra 73% de las salsas que exporta México.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[25, 42]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3374136" y="1554480"/>
            <a:ext cx="261518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7016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· Hay acceso</a:t>
            </a:r>
            <a:endParaRPr lang="en-US" sz="1700" dirty="0"/>
          </a:p>
        </p:txBody>
      </p:sp>
      <p:sp>
        <p:nvSpPr>
          <p:cNvPr id="10" name="tipo-E"/>
          <p:cNvSpPr txBox="1"/>
          <p:nvPr/>
        </p:nvSpPr>
        <p:spPr>
          <a:xfrm>
            <a:off x="3557016" y="22738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" name="hallazgo"/>
          <p:cNvSpPr txBox="1"/>
          <p:nvPr/>
        </p:nvSpPr>
        <p:spPr>
          <a:xfrm>
            <a:off x="3941064" y="228600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0% con T-MEC frente a 6.4% NMF; el tratado sigue vigente.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[35, 37]</a:t>
            </a:r>
            <a:endParaRPr lang="en-US" sz="1400" dirty="0"/>
          </a:p>
        </p:txBody>
      </p:sp>
      <p:sp>
        <p:nvSpPr>
          <p:cNvPr id="12" name="tarjeta"/>
          <p:cNvSpPr/>
          <p:nvPr/>
        </p:nvSpPr>
        <p:spPr>
          <a:xfrm>
            <a:off x="6199632" y="1554480"/>
            <a:ext cx="261518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· Hay oferta</a:t>
            </a:r>
            <a:endParaRPr lang="en-US" sz="1700" dirty="0"/>
          </a:p>
        </p:txBody>
      </p:sp>
      <p:sp>
        <p:nvSpPr>
          <p:cNvPr id="14" name="tipo-E"/>
          <p:cNvSpPr txBox="1"/>
          <p:nvPr/>
        </p:nvSpPr>
        <p:spPr>
          <a:xfrm>
            <a:off x="6382512" y="22738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5" name="hallazgo"/>
          <p:cNvSpPr txBox="1"/>
          <p:nvPr/>
        </p:nvSpPr>
        <p:spPr>
          <a:xfrm>
            <a:off x="6766560" y="2286000"/>
            <a:ext cx="1901952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México exporta US$730 M; 2,602 unidades productivas y 2.4–3.0 Mt de chile.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[24, 26, 44]</a:t>
            </a:r>
            <a:endParaRPr lang="en-US" sz="1400" dirty="0"/>
          </a:p>
        </p:txBody>
      </p:sp>
      <p:sp>
        <p:nvSpPr>
          <p:cNvPr id="16" name="tarjeta"/>
          <p:cNvSpPr/>
          <p:nvPr/>
        </p:nvSpPr>
        <p:spPr>
          <a:xfrm>
            <a:off x="9025128" y="1554480"/>
            <a:ext cx="261518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8008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· El cumplimiento es alcanzable</a:t>
            </a:r>
            <a:endParaRPr lang="en-US" sz="1700" dirty="0"/>
          </a:p>
        </p:txBody>
      </p:sp>
      <p:sp>
        <p:nvSpPr>
          <p:cNvPr id="18" name="tipo-E"/>
          <p:cNvSpPr txBox="1"/>
          <p:nvPr/>
        </p:nvSpPr>
        <p:spPr>
          <a:xfrm>
            <a:off x="9208008" y="2273808"/>
            <a:ext cx="256032" cy="25603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9" name="hallazgo"/>
          <p:cNvSpPr txBox="1"/>
          <p:nvPr/>
        </p:nvSpPr>
        <p:spPr>
          <a:xfrm>
            <a:off x="9592056" y="228600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trámites FDA son estándar: registro, FCE, SID y capacitación BPCS.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[8, 9]</a:t>
            </a:r>
            <a:endParaRPr lang="en-US" sz="1400" dirty="0"/>
          </a:p>
        </p:txBody>
      </p:sp>
      <p:sp>
        <p:nvSpPr>
          <p:cNvPr id="20" name="condiciones"/>
          <p:cNvSpPr/>
          <p:nvPr/>
        </p:nvSpPr>
        <p:spPr>
          <a:xfrm>
            <a:off x="548640" y="40690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2B2226"/>
          </a:solidFill>
          <a:ln w="12700">
            <a:solidFill>
              <a:srgbClr val="2B22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Condiciones</a:t>
            </a:r>
            <a:endParaRPr lang="en-US" sz="1700" dirty="0"/>
          </a:p>
        </p:txBody>
      </p:sp>
      <p:sp>
        <p:nvSpPr>
          <p:cNvPr id="22" name="tipo-I"/>
          <p:cNvSpPr txBox="1"/>
          <p:nvPr/>
        </p:nvSpPr>
        <p:spPr>
          <a:xfrm>
            <a:off x="731520" y="455980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23" name="hallazgo"/>
          <p:cNvSpPr txBox="1"/>
          <p:nvPr/>
        </p:nvSpPr>
        <p:spPr>
          <a:xfrm>
            <a:off x="1115568" y="4572000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Certificar el origen T-MEC para evitar el 10% de la Sección 301, validar pH ≤ 4.6 y ofrecer precio competitivo a un consumidor que busca valor.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[36, 47]</a:t>
            </a:r>
            <a:endParaRPr lang="en-US" sz="1400" dirty="0"/>
          </a:p>
        </p:txBody>
      </p:sp>
      <p:sp>
        <p:nvSpPr>
          <p:cNvPr id="24" name="riesgos"/>
          <p:cNvSpPr/>
          <p:nvPr/>
        </p:nvSpPr>
        <p:spPr>
          <a:xfrm>
            <a:off x="6199632" y="40690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2B2226"/>
          </a:solidFill>
          <a:ln w="12700">
            <a:solidFill>
              <a:srgbClr val="2B22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82512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Riesgos</a:t>
            </a:r>
            <a:endParaRPr lang="en-US" sz="1700" dirty="0"/>
          </a:p>
        </p:txBody>
      </p:sp>
      <p:sp>
        <p:nvSpPr>
          <p:cNvPr id="26" name="tipo-I"/>
          <p:cNvSpPr txBox="1"/>
          <p:nvPr/>
        </p:nvSpPr>
        <p:spPr>
          <a:xfrm>
            <a:off x="6382512" y="4559808"/>
            <a:ext cx="256032" cy="25603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  <a:endParaRPr lang="en-US" sz="1100" dirty="0"/>
          </a:p>
        </p:txBody>
      </p:sp>
      <p:sp>
        <p:nvSpPr>
          <p:cNvPr id="27" name="hallazgo"/>
          <p:cNvSpPr txBox="1"/>
          <p:nvPr/>
        </p:nvSpPr>
        <p:spPr>
          <a:xfrm>
            <a:off x="6766560" y="4572000"/>
            <a:ext cx="469087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Revisión anual del T-MEC, competencia de marcas grandes y costo de cumplimiento FDA para una pyme.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[22, 37]</a:t>
            </a:r>
            <a:endParaRPr lang="en-US" sz="1400" dirty="0"/>
          </a:p>
        </p:txBody>
      </p:sp>
      <p:sp>
        <p:nvSpPr>
          <p:cNvPr id="28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 y fecha de consulta (2026): [8] Oregon Dept. of Agriculture / FDA, 24-oct · [9] FDA, 24-oct · [22] Global Market Insights, 24-oct · [24] DataMéxico (rama 3114), 25-oct · [25] DataMéxico (partida 2103), 24-oct · [26] El Financiero / Tiempo (SIAP), 25-oct · [35] htslookup / Drip Capital, 24-oct · [36] Mexico Business News, 24-oct · [37] El Financiero / Infobae, 24-oct · [42] Tridge (ITC Trade Map), 24-oct · [44] WITS / UN Comtrade, 24-oct · [47] Deloitte, 24-oct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Conclusión · De la observación al argumento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Una exportación defendible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Sí es viable exportar la salsa picante a Estados Unidos: hay demanda (US$2,070 M en 2024)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[42]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acceso a 0% con T-MEC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[35]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y oferta mexicana probada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[17, 44]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La condición es cumplir el régimen de alimentos acidificados de la FDA y documentar el origen.</a:t>
            </a:r>
            <a:endParaRPr lang="en-US" sz="1800" dirty="0"/>
          </a:p>
        </p:txBody>
      </p:sp>
      <p:sp>
        <p:nvSpPr>
          <p:cNvPr id="5" name="paso-1"/>
          <p:cNvSpPr txBox="1"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Laboratorio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pH, actividad de agua y estabilidad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Semanas 1–3</a:t>
            </a:r>
            <a:endParaRPr lang="en-US" sz="1700" dirty="0"/>
          </a:p>
        </p:txBody>
      </p:sp>
      <p:sp>
        <p:nvSpPr>
          <p:cNvPr id="7" name="paso-2"/>
          <p:cNvSpPr txBox="1"/>
          <p:nvPr/>
        </p:nvSpPr>
        <p:spPr>
          <a:xfrm>
            <a:off x="3374136" y="3794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74136" y="44805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planta, FCE y proceso SID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Semanas 2–8</a:t>
            </a:r>
            <a:endParaRPr lang="en-US" sz="1700" dirty="0"/>
          </a:p>
        </p:txBody>
      </p:sp>
      <p:sp>
        <p:nvSpPr>
          <p:cNvPr id="9" name="paso-3"/>
          <p:cNvSpPr txBox="1"/>
          <p:nvPr/>
        </p:nvSpPr>
        <p:spPr>
          <a:xfrm>
            <a:off x="6199632" y="3794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4805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Etiqueta y origen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 en inglés y prueba de origen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Semanas 4–8</a:t>
            </a:r>
            <a:endParaRPr lang="en-US" sz="1700" dirty="0"/>
          </a:p>
        </p:txBody>
      </p:sp>
      <p:sp>
        <p:nvSpPr>
          <p:cNvPr id="11" name="paso-4"/>
          <p:cNvSpPr txBox="1"/>
          <p:nvPr/>
        </p:nvSpPr>
        <p:spPr>
          <a:xfrm>
            <a:off x="9025128" y="3794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25128" y="44805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Primer cliente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Muestras a importadores del canal hispano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Semanas 8–12</a:t>
            </a:r>
            <a:endParaRPr lang="en-US" sz="1700" dirty="0"/>
          </a:p>
        </p:txBody>
      </p:sp>
      <p:sp>
        <p:nvSpPr>
          <p:cNvPr id="13" name="circulo-cierre"/>
          <p:cNvSpPr/>
          <p:nvPr/>
        </p:nvSpPr>
        <p:spPr>
          <a:xfrm>
            <a:off x="8732520" y="91440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botell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600200"/>
            <a:ext cx="1371600" cy="1371600"/>
          </a:xfrm>
          <a:prstGeom prst="rect">
            <a:avLst/>
          </a:prstGeom>
        </p:spPr>
      </p:pic>
      <p:sp>
        <p:nvSpPr>
          <p:cNvPr id="15" name="etiqueta-I"/>
          <p:cNvSpPr txBox="1"/>
          <p:nvPr/>
        </p:nvSpPr>
        <p:spPr>
          <a:xfrm>
            <a:off x="548640" y="5897880"/>
            <a:ext cx="1371600" cy="246888"/>
          </a:xfrm>
          <a:prstGeom prst="roundRect">
            <a:avLst>
              <a:gd name="adj" fmla="val 4814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chemeClr val="bg1"/>
                </a:solidFill>
              </a:rPr>
              <a:t>INTERPRETACIÓN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5852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Plazos estimados por el autor. Fuentes y fecha de consulta (2026): [17] Grupo Herdez, 25-oct · [35] htslookup / Drip Capital, 24-oct · [42] Tridge (ITC Trade Map), 24-oct · [44] WITS / UN Comtrade, 24-oct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ANEXO A · DATOS PENDIENTES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Ocho datos por confirmar antes de decidir</a:t>
            </a:r>
            <a:endParaRPr lang="en-US" sz="3200" dirty="0"/>
          </a:p>
        </p:txBody>
      </p:sp>
      <p:graphicFrame>
        <p:nvGraphicFramePr>
          <p:cNvPr id="20" name="pendi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206240"/>
                <a:gridCol w="3291840"/>
                <a:gridCol w="30906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Dato pendiente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Dónde verificar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Por qué importa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Arancel de la UE para origen México (NC 2103 90 90)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Access2Markets · My Trade Assistant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Define si Alemania compite en precio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Valores 2025 de importadores de 210390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Trade Map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Hoy vienen de fuentes que citan Trade Map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Importaciones de EE. UU. y Alemania por origen, 2025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Trade Map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Mide la participación de México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Toneladas de salsas picantes y unidades 311423 en Querétaro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INEGI: EMIM y DENUE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Confirma la base productiva local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IGE y RRNA vigentes de la fracción 2103.90.99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SIICEX · regulaciones y restricciones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Confirma que la salida no tiene trabas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Límites UE de plaguicidas y contaminantes para la salsa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EUR-Lex: 396/2005 y 2023/915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Define análisis para el mercado europeo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pH, actividad de agua y vida de anaquel del producto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Laboratorio acreditado ante la ema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Decide el trámite FDA (FCE y SID)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Marca, composición y capacidad del proveedor observado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Etiqueta del producto y ficha técnica del proveedor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Separa capacidad de promesa comercial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</a:tbl>
          </a:graphicData>
        </a:graphic>
      </p:graphicFrame>
      <p:sp>
        <p:nvSpPr>
          <p:cNvPr id="5" name="fuentes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Cada dato de esta tabla aparece en la ficha con la letra P. Al confirmarlo, anotar la fuente oficial y la fecha de consulta.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ANEXO B · REGISTRO DE HALLAZGOS (1 DE 3)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hallazgo, con su fuente y fecha</a:t>
            </a:r>
            <a:endParaRPr lang="en-US" sz="3200" dirty="0"/>
          </a:p>
        </p:txBody>
      </p:sp>
      <p:graphicFrame>
        <p:nvGraphicFramePr>
          <p:cNvPr id="21" name="regist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94360"/>
                <a:gridCol w="5257800"/>
                <a:gridCol w="548640"/>
                <a:gridCol w="2926080"/>
                <a:gridCol w="1353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Apdo.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Hallazgo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Fuente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Consulta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 delegación de Querétaro llevó salsas a SIAL París 2026 (17–21 oct.)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[1] Yahoo Noticias; [2] Mexico Now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 y 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SIAL 2026: la intensidad de sabor impulsa la innovación (775 productos elegidos)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[3] Empresa Exterior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Salsa de estilo mexicano: 40.1% del mercado europeo de salsa picante (estimación)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[4] Market Data Forecast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 pH ≤ 4.6 y aw &gt; 0.85, la FDA la trata como alimento acidificado (FCE y SID)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[8] Oregon Dept. of Agriculture / FDA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Registro de planta ante la FDA; renovación del 1-oct al 31-dic-2026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[9] FDA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Aviso previo por embarque, al menos 2 h antes por carretera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[10] FDA, Prior Notice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Etiqueta en inglés para EE. UU.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[11] Registrar Corp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UE: etiquetado 1169/2011 y solo aditivos del anexo II del 1333/2008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[13] EUR-Lex / WIPO Lex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Canadá: el importador requiere licencia SFC de la CFIA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[15] CFIA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 etiqueta de exportación sigue la norma del destino, no la NOM-051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[7] NOM-051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ANEXO B · REGISTRO DE HALLAZGOS (2 DE 3)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hallazgo, con su fuente y fecha</a:t>
            </a:r>
            <a:endParaRPr lang="en-US" sz="3200" dirty="0"/>
          </a:p>
        </p:txBody>
      </p:sp>
      <p:graphicFrame>
        <p:nvGraphicFramePr>
          <p:cNvPr id="22" name="regist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94360"/>
                <a:gridCol w="5257800"/>
                <a:gridCol w="548640"/>
                <a:gridCol w="2926080"/>
                <a:gridCol w="1353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Apdo.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Hallazgo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Fuente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Consulta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Grupo Herdez: 21 plantas; exportaciones por MX$3,027 M en 2025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[17] Grupo Herdez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 Yucateco: campos propios de habanero; ~800 empleados (2023)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[18] Wikipedia, El Yucateco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2,602 unidades económicas en la rama de conservas y alimentos preparados (DENUE 2025)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[24] DataMéxico (rama 3114)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2.4–3.0 Mt de chile verde producidas en 2025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[26] El Financiero / Tiempo (SIAP)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Exportaciones 2103.90 en 2024: CDMX 218, Jalisco 184, Guanajuato 103 (US$ M)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[25] DataMéxico (partida 2103)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Querétaro no figura entre las entidades líderes: hay que validar al proveedor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[25] DataMéxico (partida 2103); [24] DataMéxico (rama 3114)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 y 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Fracción 2103.90.99, NICO 00 (código 2103.90.99.00)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[27] SIICEX-CAAAREM; [28] LIGIE 2022, Acuerdo 2; [29] PromPerú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 y 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Una salsa con base de tomate iría a la subpartida 2103.20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[30] E-Aduana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Exportación exenta de IGE y sin RRNA identificadas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[27] SIICEX-CAAAREM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EE. UU.: 6.4% NMF; 0% con T-MEC; +10% de la Sección 301 sin T-MEC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[35] htslookup / Drip Capital; [36] Mexico Business News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ANEXO B · REGISTRO DE HALLAZGOS (3 DE 3)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hallazgo, con su fuente y fecha</a:t>
            </a:r>
            <a:endParaRPr lang="en-US" sz="3200" dirty="0"/>
          </a:p>
        </p:txBody>
      </p:sp>
      <p:graphicFrame>
        <p:nvGraphicFramePr>
          <p:cNvPr id="23" name="regist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94360"/>
                <a:gridCol w="5257800"/>
                <a:gridCol w="548640"/>
                <a:gridCol w="2926080"/>
                <a:gridCol w="1353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Apdo.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Hallazgo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Fuente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Consulta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Canadá: 9.5% NMF; 0% para México (MXT)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[40] CBSA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UE: 7.7% NMF para la NC 2103 90 90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[41] GOV.UK (arancel UE)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AGM México–UE firmado y aprobado por el Parlamento Europeo; falta el Senado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[38] La Jornada / El Financiero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EE. UU. importó US$2,070 M en 2024, el doble que el Reino Unido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[42] Tridge (ITC Trade Map); [43] IndexBox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 y 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EE. UU. recibe ≈73% de las exportaciones mexicanas de la partida 2103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[25] DataMéxico (partida 2103)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México es el 7.º exportador mundial de la subpartida 210390 (US$730 M)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[44] WITS / UN Comtrade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Canadá: EE. UU. abastece 76% de sus importaciones de salsas y sazonadores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[45] IndexBox (Canadá)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28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Prioridad de mercados: EE. UU. (20/25), Canadá (17), Alemania (13)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[42] Tridge (ITC Trade Map); [35] htslookup / Drip Capital; [40] CBSA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 y 25-oct-2026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+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FMI: EE. UU. crecerá 2.3% y la zona euro 1.1% en 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[46] FMI (vía CNBC)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+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47% de los consumidores busca valor en precio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[47] Deloitte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24-oct-2026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7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ANEXO C · FUENTES CONSULTADAS (1 DE 2)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Fuentes y fecha de consulta</a:t>
            </a:r>
            <a:endParaRPr lang="en-US" sz="3200" dirty="0"/>
          </a:p>
        </p:txBody>
      </p:sp>
      <p:sp>
        <p:nvSpPr>
          <p:cNvPr id="4" name="referencias"/>
          <p:cNvSpPr txBox="1"/>
          <p:nvPr/>
        </p:nvSpPr>
        <p:spPr>
          <a:xfrm>
            <a:off x="548640" y="146304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Yahoo Noticias / La Región (7-oct-2026). «Empresas de Querétaro expondrán en la feria agroalimentaria de París».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Mexico Now (oct-2026). «Querétaro companies at SIAL Paris». mexico-now.com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Empresa Exterior (oct-2026). «SIAL Paris 2026 celebra 30 años de innovación… y desvela las tendencias clave». empresaexterior.com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Market Data Forecast (2025). Europe Hot Sauce Market. marketdataforecast.com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[5]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Kalsec (2024). «Beyond the Burn», encuesta a ~6,000 consumidores. info.kalsec.com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[6]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FoodIngredientsFirst (2026). «Tastepoint by IFF: 2026 flavor trends». foodingredientsfirst.com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[7]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NOM-051-SCFI/SSA1-2010, campo de aplicación (Georgetown Global Food Laws; mexicanlaws.com).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[8]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Oregon Dept. of Agriculture. «Acidified Foods Step by Step» (21 CFR 108.25 y 114); Univ. of Nebraska, Better Process Control School.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[9]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FDA (29-sep-2026). «FDA Reminds Food Facilities of Biennial Renewal Requirements». fda.gov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[10]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FDA. «What You Need to Know About Prior Notice of Imported Food Shipments» (21 CFR 1.278–1.285). fda.gov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[11]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Registrar Corp. «FDA Top Labeling Violations» (21 CFR 101.15(c): etiqueta en inglés).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[12]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FDA. Cartas de advertencia por FSVP a importadores de alimentos de México (2024–2026). fda.gov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</p:txBody>
      </p:sp>
      <p:sp>
        <p:nvSpPr>
          <p:cNvPr id="5" name="referencias"/>
          <p:cNvSpPr txBox="1"/>
          <p:nvPr/>
        </p:nvSpPr>
        <p:spPr>
          <a:xfrm>
            <a:off x="6199632" y="146304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[13]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Reglamento (UE) 1169/2011 (WIPO Lex) y Reglamento (UE) 1129/2011, anexo II del 1333/2008 (BOE/DOUE).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[14]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EUR-Lex, síntesis del Reglamento (UE) 2023/915; AESAN, «Ocratoxina A» (especias Capsicum).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[15]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CFIA. Safe Food for Canadians Regulations: importing food (licencia, controles preventivos, trazabilidad). inspection.canada.ca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[16]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ConnectAmericas. ComerciaMx, plataforma de la Secretaría de Economía y el BID. connectamericas.com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[17]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Grupo Herdez. Resultados del 4T y anual 2025; informe de sostenibilidad 2026. grupoherdez.com.mx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[18]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Wikipedia. «El Yucateco» (fuente secundaria). en.wikipedia.org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[19]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Salsa Tamazula, S.A. de C.V. salsavalentina-gdl.com; salsavalentina.mx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[20]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DIEX México. «Alimentos y Salsas de México, S.A. de C.V.». diexmexico.com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[21]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Lo Hecho en México. «La Aztecana». lohechoenmexico.mx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[22]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Global Market Insights (2026). Hot Sauce Market 2026–2035. gminsights.com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[23]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INEGI. SCIAN 2023, síntesis metodológica; EMIM, tabulados por producto. inegi.org.mx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[24]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DataMéxico (SE). «Conservación de frutas, verduras, guisos y otros alimentos preparados» (DENUE 2025; Censo 2019).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ANEXO C · FUENTES CONSULTADAS (2 DE 2)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Fuentes y fecha de consulta</a:t>
            </a:r>
            <a:endParaRPr lang="en-US" sz="3200" dirty="0"/>
          </a:p>
        </p:txBody>
      </p:sp>
      <p:sp>
        <p:nvSpPr>
          <p:cNvPr id="4" name="referencias"/>
          <p:cNvSpPr txBox="1"/>
          <p:nvPr/>
        </p:nvSpPr>
        <p:spPr>
          <a:xfrm>
            <a:off x="548640" y="146304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[25]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DataMéxico (SE). «Preparaciones para salsas…», partida 2103 y subpartida 2103.90, 2024–2026.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[26]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El Financiero (14-sep-2026), con datos del SIAP; Tiempo, cierre agrícola SIAP 2025 (chile verde).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[27]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SIICEX-CAAAREM. Tarifa, fracción 2103.90.99. siicex-caaarem.org.mx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[28]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Cámara de Diputados. LIGIE 2022, Acuerdo 2 (22-ago-2022): NICO de la fracción 2103.90.99. diputados.gob.mx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[29]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PromPerú (2022). Ficha de mercado México: preparaciones para salsas (fracción 21039099).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[30]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E-Aduana. Notas explicativas del Sistema Armonizado, partida 21.03. eaduana.com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[31]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DOF (29-dic-2025). Decreto que modifica la TIGIE (vía arancelmx.com).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[32]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Facturama. «Facturas de exportación con complemento de comercio exterior». facturama.mx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[33]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IDC Online (2020). «Certificación de origen T-MEC». idconline.mx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[34]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Comisión Europea. Access2Markets, «EU-Mexico Global Agreement». trade.ec.europa.eu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[35]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htslookup.com y Drip Capital: HTSUS 2103.90.90 (base USITC 2026).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[36]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Mexico Business News; Brownstein (jul-2026). Aranceles de la Sección 301 por trabajo forzoso y exención T-MEC.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</p:txBody>
      </p:sp>
      <p:sp>
        <p:nvSpPr>
          <p:cNvPr id="5" name="referencias"/>
          <p:cNvSpPr txBox="1"/>
          <p:nvPr/>
        </p:nvSpPr>
        <p:spPr>
          <a:xfrm>
            <a:off x="6199632" y="146304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[37]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El Financiero (24-jul-2026), «El T-MEC y su blindaje arancelario»; Infobae y La Jornada (3-jun-2026).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[38]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El Financiero (22-may-2026) y La Jornada (8-jul-2026): firma y aprobación del Acuerdo Global Modernizado.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[39]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U.S. Dairy Export Council. Lista de reglas de origen del T-MEC (2103.90). usdec.org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[40]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CBSA. Customs Tariff 2026, capítulo 21 (2103.90.90); Customs Tariff 2022 (columna MXT). cbsa-asfc.gc.ca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[41]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GOV.UK. Northern Ireland Online Tariff (aplica el arancel de la UE), partida 2103. trade-tariff.service.gov.uk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[42]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Tridge (2026). Hot Sauce Market Overview, con datos de ITC Trade Map, 2024. tridge.com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[43]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IndexBox (2024–2025). World Mixed Condiments, Sauces and Seasonings Market. indexbox.io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[44]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Banco Mundial, WITS / UN Comtrade. Exportaciones SA 210390, 2024. wits.worldbank.org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[45]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IndexBox (2026). Canada's Sauce and Seasoning Market Report (fuente comercial). indexbox.io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25-oct-2026.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[46]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FMI (13-oct-2026). World Economic Outlook (vía CNBC y EACCNY).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[47]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Deloitte (2026). Global Consumer Products Industry Outlook. deloitte.com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[48]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Expansión (2-feb-2026). «Bancomext prevé colocar 190,000 mdp en nuevos créditos en 2026». </a:t>
            </a:r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Consulta: 24-oct-2026.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huac Salsa">
  <a:themeElements>
    <a:clrScheme name="Anahuac Salsa">
      <a:dk1>
        <a:srgbClr val="E6E8EB"/>
      </a:dk1>
      <a:lt1>
        <a:srgbClr val="15171C"/>
      </a:lt1>
      <a:dk2>
        <a:srgbClr val="FFFFFF"/>
      </a:dk2>
      <a:lt2>
        <a:srgbClr val="1F232A"/>
      </a:lt2>
      <a:accent1>
        <a:srgbClr val="F2555A"/>
      </a:accent1>
      <a:accent2>
        <a:srgbClr val="C084FC"/>
      </a:accent2>
      <a:accent3>
        <a:srgbClr val="34D399"/>
      </a:accent3>
      <a:accent4>
        <a:srgbClr val="60A5FA"/>
      </a:accent4>
      <a:accent5>
        <a:srgbClr val="FFB547"/>
      </a:accent5>
      <a:accent6>
        <a:srgbClr val="8B93A1"/>
      </a:accent6>
      <a:hlink>
        <a:srgbClr val="60A5FA"/>
      </a:hlink>
      <a:folHlink>
        <a:srgbClr val="8B93A1"/>
      </a:folHlink>
    </a:clrScheme>
    <a:fontScheme name="Anahuac Sals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Técnica de Viabilidad Arancelaria y de Mercado — Salsa picante</dc:title>
  <dc:subject>Prospección comercial / Definición del producto y mercado</dc:subject>
  <dc:creator>PptxGenJS</dc:creator>
  <cp:lastModifiedBy>PptxGenJS</cp:lastModifiedBy>
  <cp:revision>1</cp:revision>
  <dcterms:created xsi:type="dcterms:W3CDTF">2026-10-25T01:45:05Z</dcterms:created>
  <dcterms:modified xsi:type="dcterms:W3CDTF">2026-10-25T01:45:05Z</dcterms:modified>
</cp:coreProperties>
</file>